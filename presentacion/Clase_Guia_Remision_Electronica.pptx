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nuevo: la guía de remisión electrónica. A diferencia de la factura (que sustenta la VENTA), la guía sustenta el TRASLADO de los bienes. Aclarar desde el inicio que técnicamente la GRE va por un camino distinto al de la factura (API REST con OAuth2), y eso lo veremos en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más importante de toda la clase: factura = venta; guía = traslado. Ejemplo: vendes mercadería con factura, pero para llevarla en un camión necesitas la guía de remisión que dice qué bienes son, de dónde a dónde van y en qué vehículo. Son documentos distintos con propósitos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Siempre que se MUEVEN bienes físicamente se necesita una guía. Recalcar que ya es obligatoria y electrónica (la guía de papel quedó atrás). Sin guía válida, en un control de SUNAT en carretera pueden retener la mercadería.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tipos. La 09 (remitente) la hace el dueño de los bienes: es la que un negocio normal emite. La 31 (transportista) la hace la empresa de transporte cuando el servicio es de un tercero (transporte público). Para la clase nos enfocaremos en la 09, que es la que implementaría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GRE es más rica en datos que una factura, porque describe un movimiento físico: de dónde a dónde, en qué vehículo, con qué conductor, qué bienes y cuánto pesan. Estos 6 bloques son los que pediremos en el formulario y guardaremos en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modalidad cambia qué datos pedimos. Público (01): contratas a un tercero → datos del transportista. Privado (02): usas tu propio camión → placa y conductor. En el formulario, según la modalidad mostramos unos campos u 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que entiendan el código que viene: la GRE NO usa el mismo mecanismo que la factura. Usa una API REST moderna con OAuth2 (un token tipo 'Bearer'). Por eso el primer paso del envío será PEDIR UN TOKEN. El XML firmado con certificado sigue existiendo; lo que cambia es cómo se autentica y se envía.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Tranquilizar a los alumnos: la GRE encaja en el MISMO patrón que ya dominan (validar → guardar → enviar). Lo único nuevo es el paso del token OAuth2 y que la firma del XML la hace una librería como Greenter o el OSE. No reinventamos nada del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tabla para la cabecera de la guía (con todos los bloques de datos: partida, llegada, transporte) y otra para el detalle de los bienes (igual que venta/venta_detalle). Notar los campos de catálogo: tipo_guia, motivo_traslado, modalidad_transporte; y los campos SUNAT (ticket/estado) iguales a los de la factura.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clase GuiaRemision sigue el patrón idéntico a NotaComprobante: validar, calcular serie/correlativo, guardar en transacción y enviar. Lo único distinto vive en EmisorGre-&gt;enviar(), que maneja el OAuth2. Insistir en que reconocer el patrón les permite implementar cualquier comprobante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LO NUEVO frente a la factura. Antes de enviar la guía, pedimos un token con nuestras credenciales de API (client_id y client_secret, que se sacan del portal SOL) más el usuario y clave SOL. SUNAT devuelve un access_token que luego mandamos en cada envío como 'Bearer'. http_build_query arma el cuerpo en formato formulario (no JSON) que pide este endpoint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envío real: con el token ya en mano, generamos el XML de la guía (DespatchAdvice), lo firmamos con el certificado, lo comprimimos en zip y lo mandamos al endpoint de GRE con la cabecera Authorization: Bearer + token. SUNAT responde un numTicket (otra vez asíncrono: luego se consulta). generarUBL() y firmar() son los pasos que conviene delegar a Greenter o al OSE para no escribir la criptografía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Igual que en la factura: la guía también es asíncrona. Enviamos y nos dan un numTicket; después consultamos ese ticket para saber si fue aceptada o rechazada (el CDR). codRespuesta = 0 significa aceptada. Conectar con lo que ya enseñamos en 'consultar estado': es exactamente el mismo patrón.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interfaz, la modalidad de transporte cambia qué se pide. Con un addEventListener al &lt;select&gt; de modalidad, mostramos el bloque del transportista (público) o el de placa+conductor (privado). Es el mismo tipo de interacción que usamos en notas.js. La idea: pedir solo lo que aplica.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honesto de lo que hace falta para emitir GRE real: certificado para firmar, credenciales de API (client_id/secret) que se generan en el portal SOL, usuario SOL, una forma de generar y firmar el UBL (Greenter o el OSE), los catálogos de SUNAT y los endpoints (beta para practicar, producción para real). Recomendar SIEMPRE probar primero en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Repetir las 4 ideas: la guía es del TRASLADO; hay dos tipos (09/31); técnicamente usa API REST con OAuth2 (distinto a la factura); pero encaja en el mismo patrón del sistema y la firma se delega. Si dominaron la nota y la consulta de estado, la GRE es 'lo mismo con un paso de token al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43B"/>
        </a:solidFill>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2563EB">
              <a:alpha val="28000"/>
            </a:srgbClr>
          </a:solidFill>
          <a:ln/>
        </p:spPr>
      </p:sp>
      <p:sp>
        <p:nvSpPr>
          <p:cNvPr id="3" name="Shape 1"/>
          <p:cNvSpPr/>
          <p:nvPr/>
        </p:nvSpPr>
        <p:spPr>
          <a:xfrm>
            <a:off x="10607040" y="4297680"/>
            <a:ext cx="3017520" cy="3017520"/>
          </a:xfrm>
          <a:prstGeom prst="ellipse">
            <a:avLst/>
          </a:prstGeom>
          <a:solidFill>
            <a:srgbClr val="6366F1">
              <a:alpha val="20000"/>
            </a:srgbClr>
          </a:solidFill>
          <a:ln/>
        </p:spPr>
      </p:sp>
      <p:sp>
        <p:nvSpPr>
          <p:cNvPr id="4" name="Text 2"/>
          <p:cNvSpPr/>
          <p:nvPr/>
        </p:nvSpPr>
        <p:spPr>
          <a:xfrm>
            <a:off x="502920" y="1463040"/>
            <a:ext cx="10058400" cy="365760"/>
          </a:xfrm>
          <a:prstGeom prst="rect">
            <a:avLst/>
          </a:prstGeom>
          <a:noFill/>
          <a:ln/>
        </p:spPr>
        <p:txBody>
          <a:bodyPr wrap="square" lIns="0" tIns="0" rIns="0" bIns="0" rtlCol="0" anchor="ctr"/>
          <a:lstStyle/>
          <a:p>
            <a:pPr indent="0" marL="0">
              <a:buNone/>
            </a:pPr>
            <a:r>
              <a:rPr lang="en-US" sz="1500" b="1" spc="200" kern="0" dirty="0">
                <a:solidFill>
                  <a:srgbClr val="60A5FA"/>
                </a:solidFill>
                <a:latin typeface="Courier New" pitchFamily="34" charset="0"/>
                <a:ea typeface="Courier New" pitchFamily="34" charset="-122"/>
                <a:cs typeface="Courier New" pitchFamily="34" charset="-120"/>
              </a:rPr>
              <a:t>FACTURACIÓN ELECTRÓNICA · CETI</a:t>
            </a:r>
            <a:endParaRPr lang="en-US" sz="1500" dirty="0"/>
          </a:p>
        </p:txBody>
      </p:sp>
      <p:sp>
        <p:nvSpPr>
          <p:cNvPr id="5" name="Text 3"/>
          <p:cNvSpPr/>
          <p:nvPr/>
        </p:nvSpPr>
        <p:spPr>
          <a:xfrm>
            <a:off x="502920" y="1920240"/>
            <a:ext cx="109728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Guía de Remisión Electrónica (GRE)</a:t>
            </a:r>
            <a:endParaRPr lang="en-US" sz="4600" dirty="0"/>
          </a:p>
        </p:txBody>
      </p:sp>
      <p:sp>
        <p:nvSpPr>
          <p:cNvPr id="6" name="Text 4"/>
          <p:cNvSpPr/>
          <p:nvPr/>
        </p:nvSpPr>
        <p:spPr>
          <a:xfrm>
            <a:off x="502920" y="3246120"/>
            <a:ext cx="10789920" cy="731520"/>
          </a:xfrm>
          <a:prstGeom prst="rect">
            <a:avLst/>
          </a:prstGeom>
          <a:noFill/>
          <a:ln/>
        </p:spPr>
        <p:txBody>
          <a:bodyPr wrap="square" lIns="0" tIns="0" rIns="0" bIns="0" rtlCol="0" anchor="ctr"/>
          <a:lstStyle/>
          <a:p>
            <a:pPr indent="0" marL="0">
              <a:buNone/>
            </a:pPr>
            <a:r>
              <a:rPr lang="en-US" sz="2000" dirty="0">
                <a:solidFill>
                  <a:srgbClr val="60A5FA"/>
                </a:solidFill>
                <a:latin typeface="Calibri" pitchFamily="34" charset="0"/>
                <a:ea typeface="Calibri" pitchFamily="34" charset="-122"/>
                <a:cs typeface="Calibri" pitchFamily="34" charset="-120"/>
              </a:rPr>
              <a:t>Qué es, para qué sirve y cómo implementarla en PHP — con código</a:t>
            </a:r>
            <a:endParaRPr lang="en-US" sz="2000" dirty="0"/>
          </a:p>
        </p:txBody>
      </p:sp>
      <p:sp>
        <p:nvSpPr>
          <p:cNvPr id="7" name="Text 5"/>
          <p:cNvSpPr/>
          <p:nvPr/>
        </p:nvSpPr>
        <p:spPr>
          <a:xfrm>
            <a:off x="502920" y="5852160"/>
            <a:ext cx="10058400" cy="365760"/>
          </a:xfrm>
          <a:prstGeom prst="rect">
            <a:avLst/>
          </a:prstGeom>
          <a:noFill/>
          <a:ln/>
        </p:spPr>
        <p:txBody>
          <a:bodyPr wrap="square" lIns="0" tIns="0" rIns="0" bIns="0" rtlCol="0" anchor="ctr"/>
          <a:lstStyle/>
          <a:p>
            <a:pPr indent="0" marL="0">
              <a:buNone/>
            </a:pPr>
            <a:r>
              <a:rPr lang="en-US" sz="1400" i="1" dirty="0">
                <a:solidFill>
                  <a:srgbClr val="9DB4D6"/>
                </a:solidFill>
                <a:latin typeface="Calibri" pitchFamily="34" charset="0"/>
                <a:ea typeface="Calibri" pitchFamily="34" charset="-122"/>
                <a:cs typeface="Calibri" pitchFamily="34" charset="-120"/>
              </a:rPr>
              <a:t>El documento que sustenta el TRASLADO de bienes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CONCEPTO</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¿Qué es la Guía de Remisión Electrónica?</a:t>
            </a:r>
            <a:endParaRPr lang="en-US" sz="2600" dirty="0"/>
          </a:p>
        </p:txBody>
      </p:sp>
      <p:sp>
        <p:nvSpPr>
          <p:cNvPr id="4" name="Shape 2"/>
          <p:cNvSpPr/>
          <p:nvPr/>
        </p:nvSpPr>
        <p:spPr>
          <a:xfrm>
            <a:off x="502920" y="1691640"/>
            <a:ext cx="11155680" cy="1371600"/>
          </a:xfrm>
          <a:prstGeom prst="roundRect">
            <a:avLst>
              <a:gd name="adj" fmla="val 5333"/>
            </a:avLst>
          </a:prstGeom>
          <a:solidFill>
            <a:srgbClr val="EEF4FF"/>
          </a:solidFill>
          <a:ln/>
          <a:effectLst>
            <a:outerShdw sx="100000" sy="100000" kx="0" ky="0" algn="bl" rotWithShape="0" blurRad="101600" dist="38100" dir="5400000">
              <a:srgbClr val="000000">
                <a:alpha val="12000"/>
              </a:srgbClr>
            </a:outerShdw>
          </a:effectLst>
        </p:spPr>
      </p:sp>
      <p:sp>
        <p:nvSpPr>
          <p:cNvPr id="5" name="Text 3"/>
          <p:cNvSpPr/>
          <p:nvPr/>
        </p:nvSpPr>
        <p:spPr>
          <a:xfrm>
            <a:off x="777240" y="1920240"/>
            <a:ext cx="10607040" cy="9144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Es el documento electrónico que </a:t>
            </a:r>
            <a:pPr indent="0" marL="0">
              <a:buNone/>
            </a:pPr>
            <a:r>
              <a:rPr lang="en-US" sz="1700" b="1" dirty="0">
                <a:solidFill>
                  <a:srgbClr val="2563EB"/>
                </a:solidFill>
                <a:latin typeface="Calibri" pitchFamily="34" charset="0"/>
                <a:ea typeface="Calibri" pitchFamily="34" charset="-122"/>
                <a:cs typeface="Calibri" pitchFamily="34" charset="-120"/>
              </a:rPr>
              <a:t>sustenta el traslado de bienes</a:t>
            </a:r>
            <a:pPr indent="0" marL="0">
              <a:buNone/>
            </a:pPr>
            <a:r>
              <a:rPr lang="en-US" sz="1700" dirty="0">
                <a:solidFill>
                  <a:srgbClr val="1E293B"/>
                </a:solidFill>
                <a:latin typeface="Calibri" pitchFamily="34" charset="0"/>
                <a:ea typeface="Calibri" pitchFamily="34" charset="-122"/>
                <a:cs typeface="Calibri" pitchFamily="34" charset="-120"/>
              </a:rPr>
              <a:t> de un punto de partida a un punto de llegada. Reemplaza a la guía de remisión en papel.</a:t>
            </a:r>
            <a:endParaRPr lang="en-US" sz="1700" dirty="0"/>
          </a:p>
        </p:txBody>
      </p:sp>
      <p:sp>
        <p:nvSpPr>
          <p:cNvPr id="6" name="Shape 4"/>
          <p:cNvSpPr/>
          <p:nvPr/>
        </p:nvSpPr>
        <p:spPr>
          <a:xfrm>
            <a:off x="502920" y="3383280"/>
            <a:ext cx="5440680" cy="2377440"/>
          </a:xfrm>
          <a:prstGeom prst="roundRect">
            <a:avLst>
              <a:gd name="adj" fmla="val 3077"/>
            </a:avLst>
          </a:prstGeom>
          <a:solidFill>
            <a:srgbClr val="F0FDFA"/>
          </a:solidFill>
          <a:ln/>
          <a:effectLst>
            <a:outerShdw sx="100000" sy="100000" kx="0" ky="0" algn="bl" rotWithShape="0" blurRad="101600" dist="38100" dir="5400000">
              <a:srgbClr val="000000">
                <a:alpha val="12000"/>
              </a:srgbClr>
            </a:outerShdw>
          </a:effectLst>
        </p:spPr>
      </p:sp>
      <p:sp>
        <p:nvSpPr>
          <p:cNvPr id="7" name="Text 5"/>
          <p:cNvSpPr/>
          <p:nvPr/>
        </p:nvSpPr>
        <p:spPr>
          <a:xfrm>
            <a:off x="777240" y="3611880"/>
            <a:ext cx="4937760" cy="54864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Factura / Boleta</a:t>
            </a:r>
            <a:endParaRPr lang="en-US" sz="1900" dirty="0"/>
          </a:p>
        </p:txBody>
      </p:sp>
      <p:sp>
        <p:nvSpPr>
          <p:cNvPr id="8" name="Text 6"/>
          <p:cNvSpPr/>
          <p:nvPr/>
        </p:nvSpPr>
        <p:spPr>
          <a:xfrm>
            <a:off x="777240" y="4251960"/>
            <a:ext cx="4937760" cy="12801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Sustenta la VENTA (cuánto se cobró)</a:t>
            </a:r>
            <a:endParaRPr lang="en-US" sz="1500" dirty="0"/>
          </a:p>
        </p:txBody>
      </p:sp>
      <p:sp>
        <p:nvSpPr>
          <p:cNvPr id="9" name="Shape 7"/>
          <p:cNvSpPr/>
          <p:nvPr/>
        </p:nvSpPr>
        <p:spPr>
          <a:xfrm>
            <a:off x="6172200" y="3383280"/>
            <a:ext cx="5440680" cy="2377440"/>
          </a:xfrm>
          <a:prstGeom prst="roundRect">
            <a:avLst>
              <a:gd name="adj" fmla="val 3077"/>
            </a:avLst>
          </a:prstGeom>
          <a:solidFill>
            <a:srgbClr val="12243B"/>
          </a:solidFill>
          <a:ln/>
          <a:effectLst>
            <a:outerShdw sx="100000" sy="100000" kx="0" ky="0" algn="bl" rotWithShape="0" blurRad="101600" dist="38100" dir="5400000">
              <a:srgbClr val="000000">
                <a:alpha val="12000"/>
              </a:srgbClr>
            </a:outerShdw>
          </a:effectLst>
        </p:spPr>
      </p:sp>
      <p:sp>
        <p:nvSpPr>
          <p:cNvPr id="10" name="Text 8"/>
          <p:cNvSpPr/>
          <p:nvPr/>
        </p:nvSpPr>
        <p:spPr>
          <a:xfrm>
            <a:off x="6446520" y="3611880"/>
            <a:ext cx="493776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Guía de Remisión</a:t>
            </a:r>
            <a:endParaRPr lang="en-US" sz="1900" dirty="0"/>
          </a:p>
        </p:txBody>
      </p:sp>
      <p:sp>
        <p:nvSpPr>
          <p:cNvPr id="11" name="Text 9"/>
          <p:cNvSpPr/>
          <p:nvPr/>
        </p:nvSpPr>
        <p:spPr>
          <a:xfrm>
            <a:off x="6446520" y="4251960"/>
            <a:ext cx="4937760" cy="1280160"/>
          </a:xfrm>
          <a:prstGeom prst="rect">
            <a:avLst/>
          </a:prstGeom>
          <a:noFill/>
          <a:ln/>
        </p:spPr>
        <p:txBody>
          <a:bodyPr wrap="square" lIns="0" tIns="0" rIns="0" bIns="0" rtlCol="0" anchor="t"/>
          <a:lstStyle/>
          <a:p>
            <a:pPr indent="0" marL="0">
              <a:buNone/>
            </a:pPr>
            <a:r>
              <a:rPr lang="en-US" sz="1500" dirty="0">
                <a:solidFill>
                  <a:srgbClr val="60A5FA"/>
                </a:solidFill>
                <a:latin typeface="Calibri" pitchFamily="34" charset="0"/>
                <a:ea typeface="Calibri" pitchFamily="34" charset="-122"/>
                <a:cs typeface="Calibri" pitchFamily="34" charset="-120"/>
              </a:rPr>
              <a:t>Sustenta el TRASLADO (qué se mueve y a dónde)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¿CUÁNDO SE USA?</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Por qué importa la GRE</a:t>
            </a:r>
            <a:endParaRPr lang="en-US" sz="2600" dirty="0"/>
          </a:p>
        </p:txBody>
      </p:sp>
      <p:sp>
        <p:nvSpPr>
          <p:cNvPr id="4" name="Shape 2"/>
          <p:cNvSpPr/>
          <p:nvPr/>
        </p:nvSpPr>
        <p:spPr>
          <a:xfrm>
            <a:off x="502920" y="1691640"/>
            <a:ext cx="5440680" cy="1783080"/>
          </a:xfrm>
          <a:prstGeom prst="roundRect">
            <a:avLst>
              <a:gd name="adj" fmla="val 4103"/>
            </a:avLst>
          </a:prstGeom>
          <a:solidFill>
            <a:srgbClr val="EEF4FF"/>
          </a:solidFill>
          <a:ln/>
          <a:effectLst>
            <a:outerShdw sx="100000" sy="100000" kx="0" ky="0" algn="bl" rotWithShape="0" blurRad="101600" dist="38100" dir="5400000">
              <a:srgbClr val="000000">
                <a:alpha val="12000"/>
              </a:srgbClr>
            </a:outerShdw>
          </a:effectLst>
        </p:spPr>
      </p:sp>
      <p:sp>
        <p:nvSpPr>
          <p:cNvPr id="5" name="Shape 3"/>
          <p:cNvSpPr/>
          <p:nvPr/>
        </p:nvSpPr>
        <p:spPr>
          <a:xfrm>
            <a:off x="777240" y="1984248"/>
            <a:ext cx="502920" cy="502920"/>
          </a:xfrm>
          <a:prstGeom prst="ellipse">
            <a:avLst/>
          </a:prstGeom>
          <a:solidFill>
            <a:srgbClr val="2563EB"/>
          </a:solidFill>
          <a:ln/>
        </p:spPr>
      </p:sp>
      <p:sp>
        <p:nvSpPr>
          <p:cNvPr id="6" name="Text 4"/>
          <p:cNvSpPr/>
          <p:nvPr/>
        </p:nvSpPr>
        <p:spPr>
          <a:xfrm>
            <a:off x="777240" y="198424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63040" y="198424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Venta con traslado</a:t>
            </a:r>
            <a:endParaRPr lang="en-US" sz="1650" dirty="0"/>
          </a:p>
        </p:txBody>
      </p:sp>
      <p:sp>
        <p:nvSpPr>
          <p:cNvPr id="8" name="Text 6"/>
          <p:cNvSpPr/>
          <p:nvPr/>
        </p:nvSpPr>
        <p:spPr>
          <a:xfrm>
            <a:off x="795528" y="260604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Cuando entregas la mercadería al cliente</a:t>
            </a:r>
            <a:endParaRPr lang="en-US" sz="1350" dirty="0"/>
          </a:p>
        </p:txBody>
      </p:sp>
      <p:sp>
        <p:nvSpPr>
          <p:cNvPr id="9" name="Shape 7"/>
          <p:cNvSpPr/>
          <p:nvPr/>
        </p:nvSpPr>
        <p:spPr>
          <a:xfrm>
            <a:off x="6172200" y="1691640"/>
            <a:ext cx="5440680" cy="1783080"/>
          </a:xfrm>
          <a:prstGeom prst="roundRect">
            <a:avLst>
              <a:gd name="adj" fmla="val 4103"/>
            </a:avLst>
          </a:prstGeom>
          <a:solidFill>
            <a:srgbClr val="EEF4FF"/>
          </a:solidFill>
          <a:ln/>
          <a:effectLst>
            <a:outerShdw sx="100000" sy="100000" kx="0" ky="0" algn="bl" rotWithShape="0" blurRad="101600" dist="38100" dir="5400000">
              <a:srgbClr val="000000">
                <a:alpha val="12000"/>
              </a:srgbClr>
            </a:outerShdw>
          </a:effectLst>
        </p:spPr>
      </p:sp>
      <p:sp>
        <p:nvSpPr>
          <p:cNvPr id="10" name="Shape 8"/>
          <p:cNvSpPr/>
          <p:nvPr/>
        </p:nvSpPr>
        <p:spPr>
          <a:xfrm>
            <a:off x="6446520" y="1984248"/>
            <a:ext cx="502920" cy="502920"/>
          </a:xfrm>
          <a:prstGeom prst="ellipse">
            <a:avLst/>
          </a:prstGeom>
          <a:solidFill>
            <a:srgbClr val="2563EB"/>
          </a:solidFill>
          <a:ln/>
        </p:spPr>
      </p:sp>
      <p:sp>
        <p:nvSpPr>
          <p:cNvPr id="11" name="Text 9"/>
          <p:cNvSpPr/>
          <p:nvPr/>
        </p:nvSpPr>
        <p:spPr>
          <a:xfrm>
            <a:off x="6446520" y="198424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132320" y="198424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Compra</a:t>
            </a:r>
            <a:endParaRPr lang="en-US" sz="1650" dirty="0"/>
          </a:p>
        </p:txBody>
      </p:sp>
      <p:sp>
        <p:nvSpPr>
          <p:cNvPr id="13" name="Text 11"/>
          <p:cNvSpPr/>
          <p:nvPr/>
        </p:nvSpPr>
        <p:spPr>
          <a:xfrm>
            <a:off x="6464808" y="260604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Cuando recoges bienes de un proveedor</a:t>
            </a:r>
            <a:endParaRPr lang="en-US" sz="1350" dirty="0"/>
          </a:p>
        </p:txBody>
      </p:sp>
      <p:sp>
        <p:nvSpPr>
          <p:cNvPr id="14" name="Shape 12"/>
          <p:cNvSpPr/>
          <p:nvPr/>
        </p:nvSpPr>
        <p:spPr>
          <a:xfrm>
            <a:off x="502920" y="3657600"/>
            <a:ext cx="5440680" cy="1783080"/>
          </a:xfrm>
          <a:prstGeom prst="roundRect">
            <a:avLst>
              <a:gd name="adj" fmla="val 4103"/>
            </a:avLst>
          </a:prstGeom>
          <a:solidFill>
            <a:srgbClr val="EEF4FF"/>
          </a:solidFill>
          <a:ln/>
          <a:effectLst>
            <a:outerShdw sx="100000" sy="100000" kx="0" ky="0" algn="bl" rotWithShape="0" blurRad="101600" dist="38100" dir="5400000">
              <a:srgbClr val="000000">
                <a:alpha val="12000"/>
              </a:srgbClr>
            </a:outerShdw>
          </a:effectLst>
        </p:spPr>
      </p:sp>
      <p:sp>
        <p:nvSpPr>
          <p:cNvPr id="15" name="Shape 13"/>
          <p:cNvSpPr/>
          <p:nvPr/>
        </p:nvSpPr>
        <p:spPr>
          <a:xfrm>
            <a:off x="777240" y="3950208"/>
            <a:ext cx="502920" cy="502920"/>
          </a:xfrm>
          <a:prstGeom prst="ellipse">
            <a:avLst/>
          </a:prstGeom>
          <a:solidFill>
            <a:srgbClr val="2563EB"/>
          </a:solidFill>
          <a:ln/>
        </p:spPr>
      </p:sp>
      <p:sp>
        <p:nvSpPr>
          <p:cNvPr id="16" name="Text 14"/>
          <p:cNvSpPr/>
          <p:nvPr/>
        </p:nvSpPr>
        <p:spPr>
          <a:xfrm>
            <a:off x="777240" y="39502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395020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Traslado entre locales</a:t>
            </a:r>
            <a:endParaRPr lang="en-US" sz="1650" dirty="0"/>
          </a:p>
        </p:txBody>
      </p:sp>
      <p:sp>
        <p:nvSpPr>
          <p:cNvPr id="18" name="Text 16"/>
          <p:cNvSpPr/>
          <p:nvPr/>
        </p:nvSpPr>
        <p:spPr>
          <a:xfrm>
            <a:off x="795528" y="457200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Mover stock de un almacén a otro</a:t>
            </a:r>
            <a:endParaRPr lang="en-US" sz="1350" dirty="0"/>
          </a:p>
        </p:txBody>
      </p:sp>
      <p:sp>
        <p:nvSpPr>
          <p:cNvPr id="19" name="Shape 17"/>
          <p:cNvSpPr/>
          <p:nvPr/>
        </p:nvSpPr>
        <p:spPr>
          <a:xfrm>
            <a:off x="6172200" y="3657600"/>
            <a:ext cx="5440680" cy="1783080"/>
          </a:xfrm>
          <a:prstGeom prst="roundRect">
            <a:avLst>
              <a:gd name="adj" fmla="val 4103"/>
            </a:avLst>
          </a:prstGeom>
          <a:solidFill>
            <a:srgbClr val="EEF4FF"/>
          </a:solidFill>
          <a:ln/>
          <a:effectLst>
            <a:outerShdw sx="100000" sy="100000" kx="0" ky="0" algn="bl" rotWithShape="0" blurRad="101600" dist="38100" dir="5400000">
              <a:srgbClr val="000000">
                <a:alpha val="12000"/>
              </a:srgbClr>
            </a:outerShdw>
          </a:effectLst>
        </p:spPr>
      </p:sp>
      <p:sp>
        <p:nvSpPr>
          <p:cNvPr id="20" name="Shape 18"/>
          <p:cNvSpPr/>
          <p:nvPr/>
        </p:nvSpPr>
        <p:spPr>
          <a:xfrm>
            <a:off x="6446520" y="3950208"/>
            <a:ext cx="502920" cy="502920"/>
          </a:xfrm>
          <a:prstGeom prst="ellipse">
            <a:avLst/>
          </a:prstGeom>
          <a:solidFill>
            <a:srgbClr val="2563EB"/>
          </a:solidFill>
          <a:ln/>
        </p:spPr>
      </p:sp>
      <p:sp>
        <p:nvSpPr>
          <p:cNvPr id="21" name="Text 19"/>
          <p:cNvSpPr/>
          <p:nvPr/>
        </p:nvSpPr>
        <p:spPr>
          <a:xfrm>
            <a:off x="6446520" y="39502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132320" y="395020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Devoluciones</a:t>
            </a:r>
            <a:endParaRPr lang="en-US" sz="1650" dirty="0"/>
          </a:p>
        </p:txBody>
      </p:sp>
      <p:sp>
        <p:nvSpPr>
          <p:cNvPr id="23" name="Text 21"/>
          <p:cNvSpPr/>
          <p:nvPr/>
        </p:nvSpPr>
        <p:spPr>
          <a:xfrm>
            <a:off x="6464808" y="457200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Bienes que regresan</a:t>
            </a:r>
            <a:endParaRPr lang="en-US" sz="1350" dirty="0"/>
          </a:p>
        </p:txBody>
      </p:sp>
      <p:sp>
        <p:nvSpPr>
          <p:cNvPr id="24" name="Text 22"/>
          <p:cNvSpPr/>
          <p:nvPr/>
        </p:nvSpPr>
        <p:spPr>
          <a:xfrm>
            <a:off x="502920" y="5897880"/>
            <a:ext cx="11155680" cy="54864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Hoy la GRE es OBLIGATORIA y electrónica: sin ella, el traslado de bienes puede ser observado o multado por SUNAT.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CATÁLOGO 01 SUNAT</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Dos tipos de guía: remitente y transportista</a:t>
            </a:r>
            <a:endParaRPr lang="en-US" sz="2600" dirty="0"/>
          </a:p>
        </p:txBody>
      </p:sp>
      <p:sp>
        <p:nvSpPr>
          <p:cNvPr id="4" name="Shape 2"/>
          <p:cNvSpPr/>
          <p:nvPr/>
        </p:nvSpPr>
        <p:spPr>
          <a:xfrm>
            <a:off x="502920" y="1737360"/>
            <a:ext cx="5440680" cy="4114800"/>
          </a:xfrm>
          <a:prstGeom prst="roundRect">
            <a:avLst>
              <a:gd name="adj" fmla="val 1778"/>
            </a:avLst>
          </a:prstGeom>
          <a:solidFill>
            <a:srgbClr val="EEF4FF"/>
          </a:solidFill>
          <a:ln/>
          <a:effectLst>
            <a:outerShdw sx="100000" sy="100000" kx="0" ky="0" algn="bl" rotWithShape="0" blurRad="101600" dist="38100" dir="5400000">
              <a:srgbClr val="000000">
                <a:alpha val="12000"/>
              </a:srgbClr>
            </a:outerShdw>
          </a:effectLst>
        </p:spPr>
      </p:sp>
      <p:sp>
        <p:nvSpPr>
          <p:cNvPr id="5" name="Shape 3"/>
          <p:cNvSpPr/>
          <p:nvPr/>
        </p:nvSpPr>
        <p:spPr>
          <a:xfrm>
            <a:off x="795528" y="1993392"/>
            <a:ext cx="640080" cy="640080"/>
          </a:xfrm>
          <a:prstGeom prst="ellipse">
            <a:avLst/>
          </a:prstGeom>
          <a:solidFill>
            <a:srgbClr val="2563EB"/>
          </a:solidFill>
          <a:ln/>
        </p:spPr>
      </p:sp>
      <p:sp>
        <p:nvSpPr>
          <p:cNvPr id="6" name="Text 4"/>
          <p:cNvSpPr/>
          <p:nvPr/>
        </p:nvSpPr>
        <p:spPr>
          <a:xfrm>
            <a:off x="795528" y="199339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09</a:t>
            </a:r>
            <a:endParaRPr lang="en-US" sz="1800" dirty="0"/>
          </a:p>
        </p:txBody>
      </p:sp>
      <p:sp>
        <p:nvSpPr>
          <p:cNvPr id="7" name="Text 5"/>
          <p:cNvSpPr/>
          <p:nvPr/>
        </p:nvSpPr>
        <p:spPr>
          <a:xfrm>
            <a:off x="1600200" y="2011680"/>
            <a:ext cx="4114800" cy="54864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GRE Remitente</a:t>
            </a:r>
            <a:endParaRPr lang="en-US" sz="1900" dirty="0"/>
          </a:p>
        </p:txBody>
      </p:sp>
      <p:sp>
        <p:nvSpPr>
          <p:cNvPr id="8" name="Text 6"/>
          <p:cNvSpPr/>
          <p:nvPr/>
        </p:nvSpPr>
        <p:spPr>
          <a:xfrm>
            <a:off x="795528" y="2834640"/>
            <a:ext cx="4937760" cy="28346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La emite quien ENVÍA los bienes</a:t>
            </a:r>
            <a:endParaRPr lang="en-US" sz="1450" dirty="0"/>
          </a:p>
          <a:p>
            <a:pPr indent="0" marL="0">
              <a:spcAft>
                <a:spcPts val="600"/>
              </a:spcAft>
              <a:buNone/>
            </a:pPr>
            <a:r>
              <a:rPr lang="en-US" sz="1450" dirty="0">
                <a:solidFill>
                  <a:srgbClr val="64748B"/>
                </a:solidFill>
                <a:latin typeface="Calibri" pitchFamily="34" charset="0"/>
                <a:ea typeface="Calibri" pitchFamily="34" charset="-122"/>
                <a:cs typeface="Calibri" pitchFamily="34" charset="-120"/>
              </a:rPr>
              <a:t>(el vendedor, el dueño de la mercadería)</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Tipo de documento: 09</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Es la más común en un negocio</a:t>
            </a:r>
            <a:endParaRPr lang="en-US" sz="1450" dirty="0"/>
          </a:p>
        </p:txBody>
      </p:sp>
      <p:sp>
        <p:nvSpPr>
          <p:cNvPr id="9" name="Shape 7"/>
          <p:cNvSpPr/>
          <p:nvPr/>
        </p:nvSpPr>
        <p:spPr>
          <a:xfrm>
            <a:off x="6355080" y="1737360"/>
            <a:ext cx="5257800" cy="4114800"/>
          </a:xfrm>
          <a:prstGeom prst="roundRect">
            <a:avLst>
              <a:gd name="adj" fmla="val 1778"/>
            </a:avLst>
          </a:prstGeom>
          <a:solidFill>
            <a:srgbClr val="12243B"/>
          </a:solidFill>
          <a:ln/>
          <a:effectLst>
            <a:outerShdw sx="100000" sy="100000" kx="0" ky="0" algn="bl" rotWithShape="0" blurRad="101600" dist="38100" dir="5400000">
              <a:srgbClr val="000000">
                <a:alpha val="12000"/>
              </a:srgbClr>
            </a:outerShdw>
          </a:effectLst>
        </p:spPr>
      </p:sp>
      <p:sp>
        <p:nvSpPr>
          <p:cNvPr id="10" name="Shape 8"/>
          <p:cNvSpPr/>
          <p:nvPr/>
        </p:nvSpPr>
        <p:spPr>
          <a:xfrm>
            <a:off x="6647688" y="1993392"/>
            <a:ext cx="640080" cy="640080"/>
          </a:xfrm>
          <a:prstGeom prst="ellipse">
            <a:avLst/>
          </a:prstGeom>
          <a:solidFill>
            <a:srgbClr val="6366F1"/>
          </a:solidFill>
          <a:ln/>
        </p:spPr>
      </p:sp>
      <p:sp>
        <p:nvSpPr>
          <p:cNvPr id="11" name="Text 9"/>
          <p:cNvSpPr/>
          <p:nvPr/>
        </p:nvSpPr>
        <p:spPr>
          <a:xfrm>
            <a:off x="6647688" y="199339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31</a:t>
            </a:r>
            <a:endParaRPr lang="en-US" sz="1800" dirty="0"/>
          </a:p>
        </p:txBody>
      </p:sp>
      <p:sp>
        <p:nvSpPr>
          <p:cNvPr id="12" name="Text 10"/>
          <p:cNvSpPr/>
          <p:nvPr/>
        </p:nvSpPr>
        <p:spPr>
          <a:xfrm>
            <a:off x="7452360" y="2011680"/>
            <a:ext cx="402336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GRE Transportista</a:t>
            </a:r>
            <a:endParaRPr lang="en-US" sz="1900" dirty="0"/>
          </a:p>
        </p:txBody>
      </p:sp>
      <p:sp>
        <p:nvSpPr>
          <p:cNvPr id="13" name="Text 11"/>
          <p:cNvSpPr/>
          <p:nvPr/>
        </p:nvSpPr>
        <p:spPr>
          <a:xfrm>
            <a:off x="6647688" y="2834640"/>
            <a:ext cx="4709160" cy="28346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La emite la empresa de TRANSPORTE</a:t>
            </a:r>
            <a:endParaRPr lang="en-US" sz="1450" dirty="0"/>
          </a:p>
          <a:p>
            <a:pPr indent="0" marL="0">
              <a:spcAft>
                <a:spcPts val="600"/>
              </a:spcAft>
              <a:buNone/>
            </a:pPr>
            <a:r>
              <a:rPr lang="en-US" sz="1450" dirty="0">
                <a:solidFill>
                  <a:srgbClr val="60A5FA"/>
                </a:solidFill>
                <a:latin typeface="Calibri" pitchFamily="34" charset="0"/>
                <a:ea typeface="Calibri" pitchFamily="34" charset="-122"/>
                <a:cs typeface="Calibri" pitchFamily="34" charset="-120"/>
              </a:rPr>
              <a:t>(cuando el traslado es público)</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Tipo de documento: 31</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Complementa a la del remitente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ESTRUCTURA</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¿Qué datos lleva una GRE?</a:t>
            </a:r>
            <a:endParaRPr lang="en-US" sz="2600" dirty="0"/>
          </a:p>
        </p:txBody>
      </p:sp>
      <p:sp>
        <p:nvSpPr>
          <p:cNvPr id="4" name="Shape 2"/>
          <p:cNvSpPr/>
          <p:nvPr/>
        </p:nvSpPr>
        <p:spPr>
          <a:xfrm>
            <a:off x="502920" y="164592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5" name="Shape 3"/>
          <p:cNvSpPr/>
          <p:nvPr/>
        </p:nvSpPr>
        <p:spPr>
          <a:xfrm>
            <a:off x="758952" y="1901952"/>
            <a:ext cx="475488" cy="475488"/>
          </a:xfrm>
          <a:prstGeom prst="ellipse">
            <a:avLst/>
          </a:prstGeom>
          <a:solidFill>
            <a:srgbClr val="2563EB"/>
          </a:solidFill>
          <a:ln/>
        </p:spPr>
      </p:sp>
      <p:sp>
        <p:nvSpPr>
          <p:cNvPr id="6" name="Text 4"/>
          <p:cNvSpPr/>
          <p:nvPr/>
        </p:nvSpPr>
        <p:spPr>
          <a:xfrm>
            <a:off x="758952"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44168"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Remitente y destinatario</a:t>
            </a:r>
            <a:endParaRPr lang="en-US" sz="1450" dirty="0"/>
          </a:p>
        </p:txBody>
      </p:sp>
      <p:sp>
        <p:nvSpPr>
          <p:cNvPr id="8" name="Text 6"/>
          <p:cNvSpPr/>
          <p:nvPr/>
        </p:nvSpPr>
        <p:spPr>
          <a:xfrm>
            <a:off x="777240"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Quién envía y quién recibe (RUC/DNI, nombre)</a:t>
            </a:r>
            <a:endParaRPr lang="en-US" sz="1250" dirty="0"/>
          </a:p>
        </p:txBody>
      </p:sp>
      <p:sp>
        <p:nvSpPr>
          <p:cNvPr id="9" name="Shape 7"/>
          <p:cNvSpPr/>
          <p:nvPr/>
        </p:nvSpPr>
        <p:spPr>
          <a:xfrm>
            <a:off x="4233672" y="164592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10" name="Shape 8"/>
          <p:cNvSpPr/>
          <p:nvPr/>
        </p:nvSpPr>
        <p:spPr>
          <a:xfrm>
            <a:off x="4489704" y="1901952"/>
            <a:ext cx="475488" cy="475488"/>
          </a:xfrm>
          <a:prstGeom prst="ellipse">
            <a:avLst/>
          </a:prstGeom>
          <a:solidFill>
            <a:srgbClr val="2563EB"/>
          </a:solidFill>
          <a:ln/>
        </p:spPr>
      </p:sp>
      <p:sp>
        <p:nvSpPr>
          <p:cNvPr id="11" name="Text 9"/>
          <p:cNvSpPr/>
          <p:nvPr/>
        </p:nvSpPr>
        <p:spPr>
          <a:xfrm>
            <a:off x="4489704"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074920"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Punto de partida y llegada</a:t>
            </a:r>
            <a:endParaRPr lang="en-US" sz="1450" dirty="0"/>
          </a:p>
        </p:txBody>
      </p:sp>
      <p:sp>
        <p:nvSpPr>
          <p:cNvPr id="13" name="Text 11"/>
          <p:cNvSpPr/>
          <p:nvPr/>
        </p:nvSpPr>
        <p:spPr>
          <a:xfrm>
            <a:off x="4507992"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Direcciones y ubigeo de origen y destino</a:t>
            </a:r>
            <a:endParaRPr lang="en-US" sz="1250" dirty="0"/>
          </a:p>
        </p:txBody>
      </p:sp>
      <p:sp>
        <p:nvSpPr>
          <p:cNvPr id="14" name="Shape 12"/>
          <p:cNvSpPr/>
          <p:nvPr/>
        </p:nvSpPr>
        <p:spPr>
          <a:xfrm>
            <a:off x="7918704" y="164592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15" name="Shape 13"/>
          <p:cNvSpPr/>
          <p:nvPr/>
        </p:nvSpPr>
        <p:spPr>
          <a:xfrm>
            <a:off x="8174736" y="1901952"/>
            <a:ext cx="475488" cy="475488"/>
          </a:xfrm>
          <a:prstGeom prst="ellipse">
            <a:avLst/>
          </a:prstGeom>
          <a:solidFill>
            <a:srgbClr val="2563EB"/>
          </a:solidFill>
          <a:ln/>
        </p:spPr>
      </p:sp>
      <p:sp>
        <p:nvSpPr>
          <p:cNvPr id="16" name="Text 14"/>
          <p:cNvSpPr/>
          <p:nvPr/>
        </p:nvSpPr>
        <p:spPr>
          <a:xfrm>
            <a:off x="8174736"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759952"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Motivo del traslado</a:t>
            </a:r>
            <a:endParaRPr lang="en-US" sz="1450" dirty="0"/>
          </a:p>
        </p:txBody>
      </p:sp>
      <p:sp>
        <p:nvSpPr>
          <p:cNvPr id="18" name="Text 16"/>
          <p:cNvSpPr/>
          <p:nvPr/>
        </p:nvSpPr>
        <p:spPr>
          <a:xfrm>
            <a:off x="8193024"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Venta, compra, traslado entre locales... (catálogo)</a:t>
            </a:r>
            <a:endParaRPr lang="en-US" sz="1250" dirty="0"/>
          </a:p>
        </p:txBody>
      </p:sp>
      <p:sp>
        <p:nvSpPr>
          <p:cNvPr id="19" name="Shape 17"/>
          <p:cNvSpPr/>
          <p:nvPr/>
        </p:nvSpPr>
        <p:spPr>
          <a:xfrm>
            <a:off x="502920" y="379476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20" name="Shape 18"/>
          <p:cNvSpPr/>
          <p:nvPr/>
        </p:nvSpPr>
        <p:spPr>
          <a:xfrm>
            <a:off x="758952" y="4050792"/>
            <a:ext cx="475488" cy="475488"/>
          </a:xfrm>
          <a:prstGeom prst="ellipse">
            <a:avLst/>
          </a:prstGeom>
          <a:solidFill>
            <a:srgbClr val="2563EB"/>
          </a:solidFill>
          <a:ln/>
        </p:spPr>
      </p:sp>
      <p:sp>
        <p:nvSpPr>
          <p:cNvPr id="21" name="Text 19"/>
          <p:cNvSpPr/>
          <p:nvPr/>
        </p:nvSpPr>
        <p:spPr>
          <a:xfrm>
            <a:off x="758952"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44168"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Datos del transporte</a:t>
            </a:r>
            <a:endParaRPr lang="en-US" sz="1450" dirty="0"/>
          </a:p>
        </p:txBody>
      </p:sp>
      <p:sp>
        <p:nvSpPr>
          <p:cNvPr id="23" name="Text 21"/>
          <p:cNvSpPr/>
          <p:nvPr/>
        </p:nvSpPr>
        <p:spPr>
          <a:xfrm>
            <a:off x="777240"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Modalidad, transportista, placa, conductor</a:t>
            </a:r>
            <a:endParaRPr lang="en-US" sz="1250" dirty="0"/>
          </a:p>
        </p:txBody>
      </p:sp>
      <p:sp>
        <p:nvSpPr>
          <p:cNvPr id="24" name="Shape 22"/>
          <p:cNvSpPr/>
          <p:nvPr/>
        </p:nvSpPr>
        <p:spPr>
          <a:xfrm>
            <a:off x="4233672" y="379476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25" name="Shape 23"/>
          <p:cNvSpPr/>
          <p:nvPr/>
        </p:nvSpPr>
        <p:spPr>
          <a:xfrm>
            <a:off x="4489704" y="4050792"/>
            <a:ext cx="475488" cy="475488"/>
          </a:xfrm>
          <a:prstGeom prst="ellipse">
            <a:avLst/>
          </a:prstGeom>
          <a:solidFill>
            <a:srgbClr val="2563EB"/>
          </a:solidFill>
          <a:ln/>
        </p:spPr>
      </p:sp>
      <p:sp>
        <p:nvSpPr>
          <p:cNvPr id="26" name="Text 24"/>
          <p:cNvSpPr/>
          <p:nvPr/>
        </p:nvSpPr>
        <p:spPr>
          <a:xfrm>
            <a:off x="4489704"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5074920"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Bienes trasladados</a:t>
            </a:r>
            <a:endParaRPr lang="en-US" sz="1450" dirty="0"/>
          </a:p>
        </p:txBody>
      </p:sp>
      <p:sp>
        <p:nvSpPr>
          <p:cNvPr id="28" name="Text 26"/>
          <p:cNvSpPr/>
          <p:nvPr/>
        </p:nvSpPr>
        <p:spPr>
          <a:xfrm>
            <a:off x="4507992"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Productos, cantidad, unidad de medida, peso</a:t>
            </a:r>
            <a:endParaRPr lang="en-US" sz="1250" dirty="0"/>
          </a:p>
        </p:txBody>
      </p:sp>
      <p:sp>
        <p:nvSpPr>
          <p:cNvPr id="29" name="Shape 27"/>
          <p:cNvSpPr/>
          <p:nvPr/>
        </p:nvSpPr>
        <p:spPr>
          <a:xfrm>
            <a:off x="7918704" y="379476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30" name="Shape 28"/>
          <p:cNvSpPr/>
          <p:nvPr/>
        </p:nvSpPr>
        <p:spPr>
          <a:xfrm>
            <a:off x="8174736" y="4050792"/>
            <a:ext cx="475488" cy="475488"/>
          </a:xfrm>
          <a:prstGeom prst="ellipse">
            <a:avLst/>
          </a:prstGeom>
          <a:solidFill>
            <a:srgbClr val="2563EB"/>
          </a:solidFill>
          <a:ln/>
        </p:spPr>
      </p:sp>
      <p:sp>
        <p:nvSpPr>
          <p:cNvPr id="31" name="Text 29"/>
          <p:cNvSpPr/>
          <p:nvPr/>
        </p:nvSpPr>
        <p:spPr>
          <a:xfrm>
            <a:off x="8174736"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8759952"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Fechas</a:t>
            </a:r>
            <a:endParaRPr lang="en-US" sz="1450" dirty="0"/>
          </a:p>
        </p:txBody>
      </p:sp>
      <p:sp>
        <p:nvSpPr>
          <p:cNvPr id="33" name="Text 31"/>
          <p:cNvSpPr/>
          <p:nvPr/>
        </p:nvSpPr>
        <p:spPr>
          <a:xfrm>
            <a:off x="8193024"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Emisión y fecha de inicio del traslado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CATÁLOGO 18 SUNAT</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Modalidad de transporte: ¿quién mueve los bienes?</a:t>
            </a:r>
            <a:endParaRPr lang="en-US" sz="2600" dirty="0"/>
          </a:p>
        </p:txBody>
      </p:sp>
      <p:sp>
        <p:nvSpPr>
          <p:cNvPr id="4" name="Shape 2"/>
          <p:cNvSpPr/>
          <p:nvPr/>
        </p:nvSpPr>
        <p:spPr>
          <a:xfrm>
            <a:off x="502920" y="1783080"/>
            <a:ext cx="5440680" cy="3931920"/>
          </a:xfrm>
          <a:prstGeom prst="roundRect">
            <a:avLst>
              <a:gd name="adj" fmla="val 1860"/>
            </a:avLst>
          </a:prstGeom>
          <a:solidFill>
            <a:srgbClr val="EEF4FF"/>
          </a:solidFill>
          <a:ln/>
          <a:effectLst>
            <a:outerShdw sx="100000" sy="100000" kx="0" ky="0" algn="bl" rotWithShape="0" blurRad="101600" dist="38100" dir="5400000">
              <a:srgbClr val="000000">
                <a:alpha val="12000"/>
              </a:srgbClr>
            </a:outerShdw>
          </a:effectLst>
        </p:spPr>
      </p:sp>
      <p:sp>
        <p:nvSpPr>
          <p:cNvPr id="5" name="Shape 3"/>
          <p:cNvSpPr/>
          <p:nvPr/>
        </p:nvSpPr>
        <p:spPr>
          <a:xfrm>
            <a:off x="795528" y="2029968"/>
            <a:ext cx="640080" cy="640080"/>
          </a:xfrm>
          <a:prstGeom prst="ellipse">
            <a:avLst/>
          </a:prstGeom>
          <a:solidFill>
            <a:srgbClr val="0D9488"/>
          </a:solidFill>
          <a:ln/>
        </p:spPr>
      </p:sp>
      <p:sp>
        <p:nvSpPr>
          <p:cNvPr id="6" name="Text 4"/>
          <p:cNvSpPr/>
          <p:nvPr/>
        </p:nvSpPr>
        <p:spPr>
          <a:xfrm>
            <a:off x="795528" y="202996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1600200" y="2048256"/>
            <a:ext cx="4114800" cy="54864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Transporte público</a:t>
            </a:r>
            <a:endParaRPr lang="en-US" sz="1900" dirty="0"/>
          </a:p>
        </p:txBody>
      </p:sp>
      <p:sp>
        <p:nvSpPr>
          <p:cNvPr id="8" name="Text 6"/>
          <p:cNvSpPr/>
          <p:nvPr/>
        </p:nvSpPr>
        <p:spPr>
          <a:xfrm>
            <a:off x="795528" y="2834640"/>
            <a:ext cx="4937760" cy="26517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Contratas a una empresa de transporte</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Se necesitan los datos del transportista</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Suele acompañarse con la GRE 31</a:t>
            </a:r>
            <a:endParaRPr lang="en-US" sz="1450" dirty="0"/>
          </a:p>
        </p:txBody>
      </p:sp>
      <p:sp>
        <p:nvSpPr>
          <p:cNvPr id="9" name="Shape 7"/>
          <p:cNvSpPr/>
          <p:nvPr/>
        </p:nvSpPr>
        <p:spPr>
          <a:xfrm>
            <a:off x="6355080" y="1783080"/>
            <a:ext cx="5257800" cy="3931920"/>
          </a:xfrm>
          <a:prstGeom prst="roundRect">
            <a:avLst>
              <a:gd name="adj" fmla="val 1860"/>
            </a:avLst>
          </a:prstGeom>
          <a:solidFill>
            <a:srgbClr val="F0FDFA"/>
          </a:solidFill>
          <a:ln/>
          <a:effectLst>
            <a:outerShdw sx="100000" sy="100000" kx="0" ky="0" algn="bl" rotWithShape="0" blurRad="101600" dist="38100" dir="5400000">
              <a:srgbClr val="000000">
                <a:alpha val="12000"/>
              </a:srgbClr>
            </a:outerShdw>
          </a:effectLst>
        </p:spPr>
      </p:sp>
      <p:sp>
        <p:nvSpPr>
          <p:cNvPr id="10" name="Shape 8"/>
          <p:cNvSpPr/>
          <p:nvPr/>
        </p:nvSpPr>
        <p:spPr>
          <a:xfrm>
            <a:off x="6647688" y="2029968"/>
            <a:ext cx="640080" cy="640080"/>
          </a:xfrm>
          <a:prstGeom prst="ellipse">
            <a:avLst/>
          </a:prstGeom>
          <a:solidFill>
            <a:srgbClr val="6366F1"/>
          </a:solidFill>
          <a:ln/>
        </p:spPr>
      </p:sp>
      <p:sp>
        <p:nvSpPr>
          <p:cNvPr id="11" name="Text 9"/>
          <p:cNvSpPr/>
          <p:nvPr/>
        </p:nvSpPr>
        <p:spPr>
          <a:xfrm>
            <a:off x="6647688" y="202996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7452360" y="2048256"/>
            <a:ext cx="4023360" cy="54864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Transporte privado</a:t>
            </a:r>
            <a:endParaRPr lang="en-US" sz="1900" dirty="0"/>
          </a:p>
        </p:txBody>
      </p:sp>
      <p:sp>
        <p:nvSpPr>
          <p:cNvPr id="13" name="Text 11"/>
          <p:cNvSpPr/>
          <p:nvPr/>
        </p:nvSpPr>
        <p:spPr>
          <a:xfrm>
            <a:off x="6647688" y="2834640"/>
            <a:ext cx="4709160" cy="26517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Trasladas con TU propio vehículo</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Se necesitan placa y conductor</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Solo la GRE 09 del remitente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LO TÉCNICO (IMPORTANTE)</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La GRE va por un camino DISTINTO al de la factura</a:t>
            </a:r>
            <a:endParaRPr lang="en-US" sz="2600" dirty="0"/>
          </a:p>
        </p:txBody>
      </p:sp>
      <p:sp>
        <p:nvSpPr>
          <p:cNvPr id="4" name="Shape 2"/>
          <p:cNvSpPr/>
          <p:nvPr/>
        </p:nvSpPr>
        <p:spPr>
          <a:xfrm>
            <a:off x="502920" y="1691640"/>
            <a:ext cx="5440680" cy="4206240"/>
          </a:xfrm>
          <a:prstGeom prst="roundRect">
            <a:avLst>
              <a:gd name="adj" fmla="val 1739"/>
            </a:avLst>
          </a:prstGeom>
          <a:solidFill>
            <a:srgbClr val="EEF4FF"/>
          </a:solidFill>
          <a:ln/>
          <a:effectLst>
            <a:outerShdw sx="100000" sy="100000" kx="0" ky="0" algn="bl" rotWithShape="0" blurRad="101600" dist="38100" dir="5400000">
              <a:srgbClr val="000000">
                <a:alpha val="12000"/>
              </a:srgbClr>
            </a:outerShdw>
          </a:effectLst>
        </p:spPr>
      </p:sp>
      <p:sp>
        <p:nvSpPr>
          <p:cNvPr id="5" name="Text 3"/>
          <p:cNvSpPr/>
          <p:nvPr/>
        </p:nvSpPr>
        <p:spPr>
          <a:xfrm>
            <a:off x="777240" y="1874520"/>
            <a:ext cx="4937760" cy="45720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Factura / Boleta / Nota</a:t>
            </a:r>
            <a:endParaRPr lang="en-US" sz="1700" dirty="0"/>
          </a:p>
        </p:txBody>
      </p:sp>
      <p:sp>
        <p:nvSpPr>
          <p:cNvPr id="6" name="Text 4"/>
          <p:cNvSpPr/>
          <p:nvPr/>
        </p:nvSpPr>
        <p:spPr>
          <a:xfrm>
            <a:off x="777240" y="237744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Web Service SOAP de SUNAT</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Autenticación con usuario SOL</a:t>
            </a:r>
            <a:endParaRPr lang="en-US" sz="1450" dirty="0"/>
          </a:p>
          <a:p>
            <a:pPr indent="0" marL="0">
              <a:spcAft>
                <a:spcPts val="600"/>
              </a:spcAft>
              <a:buNone/>
            </a:pPr>
            <a:r>
              <a:rPr lang="en-US" sz="1450" dirty="0">
                <a:solidFill>
                  <a:srgbClr val="64748B"/>
                </a:solidFill>
                <a:latin typeface="Calibri" pitchFamily="34" charset="0"/>
                <a:ea typeface="Calibri" pitchFamily="34" charset="-122"/>
                <a:cs typeface="Calibri" pitchFamily="34" charset="-120"/>
              </a:rPr>
              <a:t>(o vía el OSE/PSE, como hoy)</a:t>
            </a:r>
            <a:endParaRPr lang="en-US" sz="1450" dirty="0"/>
          </a:p>
        </p:txBody>
      </p:sp>
      <p:sp>
        <p:nvSpPr>
          <p:cNvPr id="7" name="Shape 5"/>
          <p:cNvSpPr/>
          <p:nvPr/>
        </p:nvSpPr>
        <p:spPr>
          <a:xfrm>
            <a:off x="6355080" y="1691640"/>
            <a:ext cx="5257800" cy="4206240"/>
          </a:xfrm>
          <a:prstGeom prst="roundRect">
            <a:avLst>
              <a:gd name="adj" fmla="val 1739"/>
            </a:avLst>
          </a:prstGeom>
          <a:solidFill>
            <a:srgbClr val="12243B"/>
          </a:solidFill>
          <a:ln/>
          <a:effectLst>
            <a:outerShdw sx="100000" sy="100000" kx="0" ky="0" algn="bl" rotWithShape="0" blurRad="101600" dist="38100" dir="5400000">
              <a:srgbClr val="000000">
                <a:alpha val="12000"/>
              </a:srgbClr>
            </a:outerShdw>
          </a:effectLst>
        </p:spPr>
      </p:sp>
      <p:sp>
        <p:nvSpPr>
          <p:cNvPr id="8" name="Text 6"/>
          <p:cNvSpPr/>
          <p:nvPr/>
        </p:nvSpPr>
        <p:spPr>
          <a:xfrm>
            <a:off x="6629400" y="1874520"/>
            <a:ext cx="4754880" cy="457200"/>
          </a:xfrm>
          <a:prstGeom prst="rect">
            <a:avLst/>
          </a:prstGeom>
          <a:noFill/>
          <a:ln/>
        </p:spPr>
        <p:txBody>
          <a:bodyPr wrap="square" lIns="0" tIns="0" rIns="0" bIns="0" rtlCol="0" anchor="ctr"/>
          <a:lstStyle/>
          <a:p>
            <a:pPr indent="0" marL="0">
              <a:buNone/>
            </a:pPr>
            <a:r>
              <a:rPr lang="en-US" sz="1700" b="1" dirty="0">
                <a:solidFill>
                  <a:srgbClr val="60A5FA"/>
                </a:solidFill>
                <a:latin typeface="Calibri" pitchFamily="34" charset="0"/>
                <a:ea typeface="Calibri" pitchFamily="34" charset="-122"/>
                <a:cs typeface="Calibri" pitchFamily="34" charset="-120"/>
              </a:rPr>
              <a:t>Guía de Remisión (GRE)</a:t>
            </a:r>
            <a:endParaRPr lang="en-US" sz="1700" dirty="0"/>
          </a:p>
        </p:txBody>
      </p:sp>
      <p:sp>
        <p:nvSpPr>
          <p:cNvPr id="9" name="Text 7"/>
          <p:cNvSpPr/>
          <p:nvPr/>
        </p:nvSpPr>
        <p:spPr>
          <a:xfrm>
            <a:off x="6629400" y="2377440"/>
            <a:ext cx="4709160" cy="27432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API REST de SUNAT (JSON)</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Autenticación con OAuth2 (token)</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Necesita client_id y client_secret</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El XML sigue firmándose con certificado</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ARQUITECTURA</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Cómo encaja en NUESTRO sistema</a:t>
            </a:r>
            <a:endParaRPr lang="en-US" sz="2600" dirty="0"/>
          </a:p>
        </p:txBody>
      </p:sp>
      <p:sp>
        <p:nvSpPr>
          <p:cNvPr id="4" name="Shape 2"/>
          <p:cNvSpPr/>
          <p:nvPr/>
        </p:nvSpPr>
        <p:spPr>
          <a:xfrm>
            <a:off x="502920" y="2011680"/>
            <a:ext cx="2606040" cy="1554480"/>
          </a:xfrm>
          <a:prstGeom prst="roundRect">
            <a:avLst>
              <a:gd name="adj" fmla="val 4706"/>
            </a:avLst>
          </a:prstGeom>
          <a:solidFill>
            <a:srgbClr val="EEF4FF"/>
          </a:solidFill>
          <a:ln/>
          <a:effectLst>
            <a:outerShdw sx="100000" sy="100000" kx="0" ky="0" algn="bl" rotWithShape="0" blurRad="101600" dist="38100" dir="5400000">
              <a:srgbClr val="000000">
                <a:alpha val="12000"/>
              </a:srgbClr>
            </a:outerShdw>
          </a:effectLst>
        </p:spPr>
      </p:sp>
      <p:sp>
        <p:nvSpPr>
          <p:cNvPr id="5" name="Text 3"/>
          <p:cNvSpPr/>
          <p:nvPr/>
        </p:nvSpPr>
        <p:spPr>
          <a:xfrm>
            <a:off x="594360" y="2286000"/>
            <a:ext cx="2423160" cy="1005840"/>
          </a:xfrm>
          <a:prstGeom prst="rect">
            <a:avLst/>
          </a:prstGeom>
          <a:noFill/>
          <a:ln/>
        </p:spPr>
        <p:txBody>
          <a:bodyPr wrap="square" lIns="0" tIns="0" rIns="0" bIns="0"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Formulario</a:t>
            </a:r>
            <a:endParaRPr lang="en-US" sz="1550" dirty="0"/>
          </a:p>
          <a:p>
            <a:pPr algn="ctr" indent="0" marL="0">
              <a:buNone/>
            </a:pPr>
            <a:r>
              <a:rPr lang="en-US" sz="1550" b="1" dirty="0">
                <a:solidFill>
                  <a:srgbClr val="1E293B"/>
                </a:solidFill>
                <a:latin typeface="Calibri" pitchFamily="34" charset="0"/>
                <a:ea typeface="Calibri" pitchFamily="34" charset="-122"/>
                <a:cs typeface="Calibri" pitchFamily="34" charset="-120"/>
              </a:rPr>
              <a:t>Guía</a:t>
            </a:r>
            <a:endParaRPr lang="en-US" sz="1550" dirty="0"/>
          </a:p>
        </p:txBody>
      </p:sp>
      <p:sp>
        <p:nvSpPr>
          <p:cNvPr id="6" name="Text 4"/>
          <p:cNvSpPr/>
          <p:nvPr/>
        </p:nvSpPr>
        <p:spPr>
          <a:xfrm>
            <a:off x="3035808" y="2468880"/>
            <a:ext cx="457200" cy="640080"/>
          </a:xfrm>
          <a:prstGeom prst="rect">
            <a:avLst/>
          </a:prstGeom>
          <a:noFill/>
          <a:ln/>
        </p:spPr>
        <p:txBody>
          <a:bodyPr wrap="square" lIns="0" tIns="0" rIns="0" bIns="0" rtlCol="0" anchor="ctr"/>
          <a:lstStyle/>
          <a:p>
            <a:pPr algn="ctr" indent="0" marL="0">
              <a:buNone/>
            </a:pPr>
            <a:r>
              <a:rPr lang="en-US" sz="2600" b="1" dirty="0">
                <a:solidFill>
                  <a:srgbClr val="2563EB"/>
                </a:solidFill>
                <a:latin typeface="Calibri" pitchFamily="34" charset="0"/>
                <a:ea typeface="Calibri" pitchFamily="34" charset="-122"/>
                <a:cs typeface="Calibri" pitchFamily="34" charset="-120"/>
              </a:rPr>
              <a:t>➜</a:t>
            </a:r>
            <a:endParaRPr lang="en-US" sz="2600" dirty="0"/>
          </a:p>
        </p:txBody>
      </p:sp>
      <p:sp>
        <p:nvSpPr>
          <p:cNvPr id="7" name="Shape 5"/>
          <p:cNvSpPr/>
          <p:nvPr/>
        </p:nvSpPr>
        <p:spPr>
          <a:xfrm>
            <a:off x="3355848" y="2011680"/>
            <a:ext cx="2606040" cy="1554480"/>
          </a:xfrm>
          <a:prstGeom prst="roundRect">
            <a:avLst>
              <a:gd name="adj" fmla="val 4706"/>
            </a:avLst>
          </a:prstGeom>
          <a:solidFill>
            <a:srgbClr val="EEF4FF"/>
          </a:solidFill>
          <a:ln/>
          <a:effectLst>
            <a:outerShdw sx="100000" sy="100000" kx="0" ky="0" algn="bl" rotWithShape="0" blurRad="101600" dist="38100" dir="5400000">
              <a:srgbClr val="000000">
                <a:alpha val="12000"/>
              </a:srgbClr>
            </a:outerShdw>
          </a:effectLst>
        </p:spPr>
      </p:sp>
      <p:sp>
        <p:nvSpPr>
          <p:cNvPr id="8" name="Text 6"/>
          <p:cNvSpPr/>
          <p:nvPr/>
        </p:nvSpPr>
        <p:spPr>
          <a:xfrm>
            <a:off x="3447288" y="2286000"/>
            <a:ext cx="2423160" cy="1005840"/>
          </a:xfrm>
          <a:prstGeom prst="rect">
            <a:avLst/>
          </a:prstGeom>
          <a:noFill/>
          <a:ln/>
        </p:spPr>
        <p:txBody>
          <a:bodyPr wrap="square" lIns="0" tIns="0" rIns="0" bIns="0"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GuiaRemision</a:t>
            </a:r>
            <a:endParaRPr lang="en-US" sz="1550" dirty="0"/>
          </a:p>
          <a:p>
            <a:pPr algn="ctr" indent="0" marL="0">
              <a:buNone/>
            </a:pPr>
            <a:r>
              <a:rPr lang="en-US" sz="1550" b="1" dirty="0">
                <a:solidFill>
                  <a:srgbClr val="1E293B"/>
                </a:solidFill>
                <a:latin typeface="Calibri" pitchFamily="34" charset="0"/>
                <a:ea typeface="Calibri" pitchFamily="34" charset="-122"/>
                <a:cs typeface="Calibri" pitchFamily="34" charset="-120"/>
              </a:rPr>
              <a:t>.php</a:t>
            </a:r>
            <a:endParaRPr lang="en-US" sz="1550" dirty="0"/>
          </a:p>
        </p:txBody>
      </p:sp>
      <p:sp>
        <p:nvSpPr>
          <p:cNvPr id="9" name="Text 7"/>
          <p:cNvSpPr/>
          <p:nvPr/>
        </p:nvSpPr>
        <p:spPr>
          <a:xfrm>
            <a:off x="5888736" y="2468880"/>
            <a:ext cx="457200" cy="640080"/>
          </a:xfrm>
          <a:prstGeom prst="rect">
            <a:avLst/>
          </a:prstGeom>
          <a:noFill/>
          <a:ln/>
        </p:spPr>
        <p:txBody>
          <a:bodyPr wrap="square" lIns="0" tIns="0" rIns="0" bIns="0" rtlCol="0" anchor="ctr"/>
          <a:lstStyle/>
          <a:p>
            <a:pPr algn="ctr" indent="0" marL="0">
              <a:buNone/>
            </a:pPr>
            <a:r>
              <a:rPr lang="en-US" sz="2600" b="1" dirty="0">
                <a:solidFill>
                  <a:srgbClr val="2563EB"/>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6208776" y="2011680"/>
            <a:ext cx="2606040" cy="1554480"/>
          </a:xfrm>
          <a:prstGeom prst="roundRect">
            <a:avLst>
              <a:gd name="adj" fmla="val 4706"/>
            </a:avLst>
          </a:prstGeom>
          <a:solidFill>
            <a:srgbClr val="EEF4FF"/>
          </a:solidFill>
          <a:ln/>
          <a:effectLst>
            <a:outerShdw sx="100000" sy="100000" kx="0" ky="0" algn="bl" rotWithShape="0" blurRad="101600" dist="38100" dir="5400000">
              <a:srgbClr val="000000">
                <a:alpha val="12000"/>
              </a:srgbClr>
            </a:outerShdw>
          </a:effectLst>
        </p:spPr>
      </p:sp>
      <p:sp>
        <p:nvSpPr>
          <p:cNvPr id="11" name="Text 9"/>
          <p:cNvSpPr/>
          <p:nvPr/>
        </p:nvSpPr>
        <p:spPr>
          <a:xfrm>
            <a:off x="6300216" y="2286000"/>
            <a:ext cx="2423160" cy="1005840"/>
          </a:xfrm>
          <a:prstGeom prst="rect">
            <a:avLst/>
          </a:prstGeom>
          <a:noFill/>
          <a:ln/>
        </p:spPr>
        <p:txBody>
          <a:bodyPr wrap="square" lIns="0" tIns="0" rIns="0" bIns="0"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Token OAuth2</a:t>
            </a:r>
            <a:endParaRPr lang="en-US" sz="1550" dirty="0"/>
          </a:p>
          <a:p>
            <a:pPr algn="ctr" indent="0" marL="0">
              <a:buNone/>
            </a:pPr>
            <a:r>
              <a:rPr lang="en-US" sz="1550" b="1" dirty="0">
                <a:solidFill>
                  <a:srgbClr val="1E293B"/>
                </a:solidFill>
                <a:latin typeface="Calibri" pitchFamily="34" charset="0"/>
                <a:ea typeface="Calibri" pitchFamily="34" charset="-122"/>
                <a:cs typeface="Calibri" pitchFamily="34" charset="-120"/>
              </a:rPr>
              <a:t>+ envío</a:t>
            </a:r>
            <a:endParaRPr lang="en-US" sz="1550" dirty="0"/>
          </a:p>
        </p:txBody>
      </p:sp>
      <p:sp>
        <p:nvSpPr>
          <p:cNvPr id="12" name="Text 10"/>
          <p:cNvSpPr/>
          <p:nvPr/>
        </p:nvSpPr>
        <p:spPr>
          <a:xfrm>
            <a:off x="8741664" y="2468880"/>
            <a:ext cx="457200" cy="640080"/>
          </a:xfrm>
          <a:prstGeom prst="rect">
            <a:avLst/>
          </a:prstGeom>
          <a:noFill/>
          <a:ln/>
        </p:spPr>
        <p:txBody>
          <a:bodyPr wrap="square" lIns="0" tIns="0" rIns="0" bIns="0" rtlCol="0" anchor="ctr"/>
          <a:lstStyle/>
          <a:p>
            <a:pPr algn="ctr" indent="0" marL="0">
              <a:buNone/>
            </a:pPr>
            <a:r>
              <a:rPr lang="en-US" sz="2600" b="1" dirty="0">
                <a:solidFill>
                  <a:srgbClr val="2563EB"/>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9061704" y="2011680"/>
            <a:ext cx="2606040" cy="1554480"/>
          </a:xfrm>
          <a:prstGeom prst="roundRect">
            <a:avLst>
              <a:gd name="adj" fmla="val 4706"/>
            </a:avLst>
          </a:prstGeom>
          <a:solidFill>
            <a:srgbClr val="12243B"/>
          </a:solidFill>
          <a:ln/>
          <a:effectLst>
            <a:outerShdw sx="100000" sy="100000" kx="0" ky="0" algn="bl" rotWithShape="0" blurRad="101600" dist="38100" dir="5400000">
              <a:srgbClr val="000000">
                <a:alpha val="12000"/>
              </a:srgbClr>
            </a:outerShdw>
          </a:effectLst>
        </p:spPr>
      </p:sp>
      <p:sp>
        <p:nvSpPr>
          <p:cNvPr id="14" name="Text 12"/>
          <p:cNvSpPr/>
          <p:nvPr/>
        </p:nvSpPr>
        <p:spPr>
          <a:xfrm>
            <a:off x="9153144" y="2286000"/>
            <a:ext cx="2423160" cy="100584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API GRE</a:t>
            </a:r>
            <a:endParaRPr lang="en-US" sz="1550" dirty="0"/>
          </a:p>
          <a:p>
            <a:pPr algn="ctr" indent="0" marL="0">
              <a:buNone/>
            </a:pPr>
            <a:r>
              <a:rPr lang="en-US" sz="1550" b="1" dirty="0">
                <a:solidFill>
                  <a:srgbClr val="FFFFFF"/>
                </a:solidFill>
                <a:latin typeface="Calibri" pitchFamily="34" charset="0"/>
                <a:ea typeface="Calibri" pitchFamily="34" charset="-122"/>
                <a:cs typeface="Calibri" pitchFamily="34" charset="-120"/>
              </a:rPr>
              <a:t>SUNAT</a:t>
            </a:r>
            <a:endParaRPr lang="en-US" sz="1550" dirty="0"/>
          </a:p>
        </p:txBody>
      </p:sp>
      <p:sp>
        <p:nvSpPr>
          <p:cNvPr id="15" name="Text 13"/>
          <p:cNvSpPr/>
          <p:nvPr/>
        </p:nvSpPr>
        <p:spPr>
          <a:xfrm>
            <a:off x="502920" y="4023360"/>
            <a:ext cx="11155680" cy="914400"/>
          </a:xfrm>
          <a:prstGeom prst="rect">
            <a:avLst/>
          </a:prstGeom>
          <a:noFill/>
          <a:ln/>
        </p:spPr>
        <p:txBody>
          <a:bodyPr wrap="square" lIns="0" tIns="0" rIns="0" bIns="0" rtlCol="0" anchor="t"/>
          <a:lstStyle/>
          <a:p>
            <a:pPr indent="0" marL="0">
              <a:buNone/>
            </a:pPr>
            <a:r>
              <a:rPr lang="en-US" sz="1550" b="1" dirty="0">
                <a:solidFill>
                  <a:srgbClr val="1E293B"/>
                </a:solidFill>
                <a:latin typeface="Calibri" pitchFamily="34" charset="0"/>
                <a:ea typeface="Calibri" pitchFamily="34" charset="-122"/>
                <a:cs typeface="Calibri" pitchFamily="34" charset="-120"/>
              </a:rPr>
              <a:t>Mismo patrón de siempre: </a:t>
            </a:r>
            <a:pPr indent="0" marL="0">
              <a:buNone/>
            </a:pPr>
            <a:r>
              <a:rPr lang="en-US" sz="1550" dirty="0">
                <a:solidFill>
                  <a:srgbClr val="1E293B"/>
                </a:solidFill>
                <a:latin typeface="Calibri" pitchFamily="34" charset="0"/>
                <a:ea typeface="Calibri" pitchFamily="34" charset="-122"/>
                <a:cs typeface="Calibri" pitchFamily="34" charset="-120"/>
              </a:rPr>
              <a:t>el formulario manda los datos → una clase los valida y guarda → un emisor obtiene el token y envía a SUNAT → guardamos el ticket y el estado.</a:t>
            </a:r>
            <a:endParaRPr lang="en-US" sz="1550" dirty="0"/>
          </a:p>
        </p:txBody>
      </p:sp>
      <p:sp>
        <p:nvSpPr>
          <p:cNvPr id="16" name="Text 14"/>
          <p:cNvSpPr/>
          <p:nvPr/>
        </p:nvSpPr>
        <p:spPr>
          <a:xfrm>
            <a:off x="502920" y="5120640"/>
            <a:ext cx="11155680" cy="45720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La firma del XML se delega a una librería (Greenter) o al OSE, igual que hoy con la factura.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BASE DE DATOS</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Las tablas de la guía</a:t>
            </a:r>
            <a:endParaRPr lang="en-US" sz="2600" dirty="0"/>
          </a:p>
        </p:txBody>
      </p:sp>
      <p:sp>
        <p:nvSpPr>
          <p:cNvPr id="4" name="Shape 2"/>
          <p:cNvSpPr/>
          <p:nvPr/>
        </p:nvSpPr>
        <p:spPr>
          <a:xfrm>
            <a:off x="502920" y="1463040"/>
            <a:ext cx="11155680" cy="4937760"/>
          </a:xfrm>
          <a:prstGeom prst="roundRect">
            <a:avLst>
              <a:gd name="adj" fmla="val 926"/>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10753344" cy="4645152"/>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CREATE TABLE guia_remision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id INT AUTO_INCREMENT PRIMARY KEY,</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serie VARCHAR(10), correlativo INT,          -- ej. T001-1</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tipo_guia VARCHAR(2),                         -- 09 / 31</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fecha_emision DATETIME, fecha_traslado DATE,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motivo_traslado VARCHAR(2),                   -- catálogo 20</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modalidad_transporte VARCHAR(2),              -- 01 / 02</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peso_total DECIMAL(10,2), unidad_peso VARCHAR(5),</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id_cliente INT,                               -- destinatario</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ubigeo_partida VARCHAR(6), dir_partida VARCHAR(255),</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ubigeo_llegada VARCHAR(6), dir_llegada VARCHAR(255),</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transportista_ruc VARCHAR(11), vehiculo_placa VARCHAR(10),</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conductor_doc VARCHAR(15), conductor_nombres VARCHAR(150),</a:t>
            </a:r>
            <a:endParaRPr lang="en-US" sz="1100" dirty="0"/>
          </a:p>
          <a:p>
            <a:pPr indent="0" marL="0">
              <a:lnSpc>
                <a:spcPct val="105000"/>
              </a:lnSpc>
              <a:buNone/>
            </a:pPr>
            <a:r>
              <a:rPr lang="en-US" sz="1100" dirty="0">
                <a:solidFill>
                  <a:srgbClr val="7DD3FC"/>
                </a:solidFill>
                <a:latin typeface="Courier New" pitchFamily="34" charset="0"/>
                <a:ea typeface="Courier New" pitchFamily="34" charset="-122"/>
                <a:cs typeface="Courier New" pitchFamily="34" charset="-120"/>
              </a:rPr>
              <a:t>  sunat_ticket VARCHAR(100), sunat_estado VARCHAR(30)</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guia_remision_detalle: id_guia, id_producto, cantidad, unidad, descripcion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GUIAREMISION.PHP</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La clase: validar, guardar, enviar</a:t>
            </a:r>
            <a:endParaRPr lang="en-US" sz="2600" dirty="0"/>
          </a:p>
        </p:txBody>
      </p:sp>
      <p:sp>
        <p:nvSpPr>
          <p:cNvPr id="4" name="Shape 2"/>
          <p:cNvSpPr/>
          <p:nvPr/>
        </p:nvSpPr>
        <p:spPr>
          <a:xfrm>
            <a:off x="502920" y="1463040"/>
            <a:ext cx="6858000" cy="4663440"/>
          </a:xfrm>
          <a:prstGeom prst="roundRect">
            <a:avLst>
              <a:gd name="adj" fmla="val 980"/>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6455664" cy="4370832"/>
          </a:xfrm>
          <a:prstGeom prst="rect">
            <a:avLst/>
          </a:prstGeom>
          <a:noFill/>
          <a:ln/>
        </p:spPr>
        <p:txBody>
          <a:bodyPr wrap="square" lIns="0" tIns="0" rIns="0" bIns="0" rtlCol="0" anchor="t"/>
          <a:lstStyle/>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class GuiaRemision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public function addRegistro($data): array {</a:t>
            </a:r>
            <a:endParaRPr lang="en-US" sz="1150" dirty="0"/>
          </a:p>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 1) validar (motivo, modalidad, bienes...)</a:t>
            </a:r>
            <a:endParaRPr lang="en-US" sz="1150" dirty="0"/>
          </a:p>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 2) serie + correlativo (T001-...)</a:t>
            </a:r>
            <a:endParaRPr lang="en-US" sz="1150" dirty="0"/>
          </a:p>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 3) guardar cabecera + detalle (transacción)</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$this-&gt;con-&gt;begin_transaction();</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 ... INSERT guia_remision / _detalle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$this-&gt;con-&gt;commit();</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 4) enviar a SUNAT</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$emisor = new EmisorGre();</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$res = $emisor-&gt;enviar($guia);</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 5) guardar ticket / estado</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return ['status'=&gt;202, 'sunat'=&gt;$res];</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p:txBody>
      </p:sp>
      <p:sp>
        <p:nvSpPr>
          <p:cNvPr id="6" name="Shape 4"/>
          <p:cNvSpPr/>
          <p:nvPr/>
        </p:nvSpPr>
        <p:spPr>
          <a:xfrm>
            <a:off x="7589520" y="1463040"/>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7" name="Text 5"/>
          <p:cNvSpPr/>
          <p:nvPr/>
        </p:nvSpPr>
        <p:spPr>
          <a:xfrm>
            <a:off x="7790688" y="1609344"/>
            <a:ext cx="3666744" cy="36576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¿Qué hace?</a:t>
            </a:r>
            <a:endParaRPr lang="en-US" sz="1450" dirty="0"/>
          </a:p>
        </p:txBody>
      </p:sp>
      <p:sp>
        <p:nvSpPr>
          <p:cNvPr id="8" name="Text 6"/>
          <p:cNvSpPr/>
          <p:nvPr/>
        </p:nvSpPr>
        <p:spPr>
          <a:xfrm>
            <a:off x="7808976" y="2029968"/>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Mismo flujo que la nota o la venta</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Guarda primero, envía después</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Delega el envío a EmisorGre</a:t>
            </a:r>
            <a:endParaRPr lang="en-US" sz="1250" dirty="0"/>
          </a:p>
        </p:txBody>
      </p:sp>
      <p:sp>
        <p:nvSpPr>
          <p:cNvPr id="9" name="Shape 7"/>
          <p:cNvSpPr/>
          <p:nvPr/>
        </p:nvSpPr>
        <p:spPr>
          <a:xfrm>
            <a:off x="7589520" y="4078224"/>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10" name="Text 8"/>
          <p:cNvSpPr/>
          <p:nvPr/>
        </p:nvSpPr>
        <p:spPr>
          <a:xfrm>
            <a:off x="7790688" y="4224528"/>
            <a:ext cx="3666744" cy="365760"/>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¿Por qué así?</a:t>
            </a:r>
            <a:endParaRPr lang="en-US" sz="1450" dirty="0"/>
          </a:p>
        </p:txBody>
      </p:sp>
      <p:sp>
        <p:nvSpPr>
          <p:cNvPr id="11" name="Text 9"/>
          <p:cNvSpPr/>
          <p:nvPr/>
        </p:nvSpPr>
        <p:spPr>
          <a:xfrm>
            <a:off x="7808976" y="4645152"/>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Reutiliza el patrón ya conocido</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Separa 'guardar' de 'enviar a SUNAT'</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Fácil de mantener y enseñar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PASO CLAVE</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Paso 1: obtener el token OAuth2 de SUNAT</a:t>
            </a:r>
            <a:endParaRPr lang="en-US" sz="2600" dirty="0"/>
          </a:p>
        </p:txBody>
      </p:sp>
      <p:sp>
        <p:nvSpPr>
          <p:cNvPr id="4" name="Shape 2"/>
          <p:cNvSpPr/>
          <p:nvPr/>
        </p:nvSpPr>
        <p:spPr>
          <a:xfrm>
            <a:off x="502920" y="1463040"/>
            <a:ext cx="6858000" cy="4663440"/>
          </a:xfrm>
          <a:prstGeom prst="roundRect">
            <a:avLst>
              <a:gd name="adj" fmla="val 980"/>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6455664" cy="4370832"/>
          </a:xfrm>
          <a:prstGeom prst="rect">
            <a:avLst/>
          </a:prstGeom>
          <a:noFill/>
          <a:ln/>
        </p:spPr>
        <p:txBody>
          <a:bodyPr wrap="square" lIns="0" tIns="0" rIns="0" bIns="0" rtlCol="0" anchor="t"/>
          <a:lstStyle/>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private function obtenerToken(): string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$url = 'https://api-seguridad.sunat.gob.pe/v1/'</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 'clientessol/'.$this-&gt;clientId.'/oauth2/token/';</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$ch = curl_init($url);</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curl_setopt_array($ch,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CURLOPT_POST =&gt; true, CURLOPT_RETURNTRANSFER =&gt; true,</a:t>
            </a:r>
            <a:endParaRPr lang="en-US" sz="1150" dirty="0"/>
          </a:p>
          <a:p>
            <a:pPr indent="0" marL="0">
              <a:lnSpc>
                <a:spcPct val="105000"/>
              </a:lnSpc>
              <a:buNone/>
            </a:pPr>
            <a:r>
              <a:rPr lang="en-US" sz="1150" dirty="0">
                <a:solidFill>
                  <a:srgbClr val="7DD3FC"/>
                </a:solidFill>
                <a:latin typeface="Courier New" pitchFamily="34" charset="0"/>
                <a:ea typeface="Courier New" pitchFamily="34" charset="-122"/>
                <a:cs typeface="Courier New" pitchFamily="34" charset="-120"/>
              </a:rPr>
              <a:t>    CURLOPT_POSTFIELDS =&gt; http_build_query([</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'grant_type'    =&gt; 'password',</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'scope'         =&gt; 'https://api-cpe.sunat.gob.pe',</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'client_id'     =&gt; $this-&gt;clientId,</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'client_secret' =&gt; $this-&gt;clientSecret,</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'username' =&gt; $this-&gt;ruc.$this-&gt;usuarioSol,</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'password' =&gt; $this-&gt;claveSol ])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$r = json_decode(curl_exec($ch), true);</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return $r['access_token'] ??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p:txBody>
      </p:sp>
      <p:sp>
        <p:nvSpPr>
          <p:cNvPr id="6" name="Shape 4"/>
          <p:cNvSpPr/>
          <p:nvPr/>
        </p:nvSpPr>
        <p:spPr>
          <a:xfrm>
            <a:off x="7589520" y="1463040"/>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7" name="Text 5"/>
          <p:cNvSpPr/>
          <p:nvPr/>
        </p:nvSpPr>
        <p:spPr>
          <a:xfrm>
            <a:off x="7790688" y="1609344"/>
            <a:ext cx="3666744" cy="36576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¿Qué hace?</a:t>
            </a:r>
            <a:endParaRPr lang="en-US" sz="1450" dirty="0"/>
          </a:p>
        </p:txBody>
      </p:sp>
      <p:sp>
        <p:nvSpPr>
          <p:cNvPr id="8" name="Text 6"/>
          <p:cNvSpPr/>
          <p:nvPr/>
        </p:nvSpPr>
        <p:spPr>
          <a:xfrm>
            <a:off x="7808976" y="2029968"/>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Pide un token a SUNAT</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Manda client_id/secret + usuario SOL</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Devuelve el access_token</a:t>
            </a:r>
            <a:endParaRPr lang="en-US" sz="1250" dirty="0"/>
          </a:p>
        </p:txBody>
      </p:sp>
      <p:sp>
        <p:nvSpPr>
          <p:cNvPr id="9" name="Shape 7"/>
          <p:cNvSpPr/>
          <p:nvPr/>
        </p:nvSpPr>
        <p:spPr>
          <a:xfrm>
            <a:off x="7589520" y="4078224"/>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10" name="Text 8"/>
          <p:cNvSpPr/>
          <p:nvPr/>
        </p:nvSpPr>
        <p:spPr>
          <a:xfrm>
            <a:off x="7790688" y="4224528"/>
            <a:ext cx="3666744" cy="365760"/>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¿Por qué / para qué?</a:t>
            </a:r>
            <a:endParaRPr lang="en-US" sz="1450" dirty="0"/>
          </a:p>
        </p:txBody>
      </p:sp>
      <p:sp>
        <p:nvSpPr>
          <p:cNvPr id="11" name="Text 9"/>
          <p:cNvSpPr/>
          <p:nvPr/>
        </p:nvSpPr>
        <p:spPr>
          <a:xfrm>
            <a:off x="7808976" y="4645152"/>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La API REST exige OAuth2</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El token autoriza los envíos</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Dura un rato; se reutiliza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ENVÍO</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Paso 2 a 5: firmar, comprimir y enviar</a:t>
            </a:r>
            <a:endParaRPr lang="en-US" sz="2600" dirty="0"/>
          </a:p>
        </p:txBody>
      </p:sp>
      <p:sp>
        <p:nvSpPr>
          <p:cNvPr id="4" name="Shape 2"/>
          <p:cNvSpPr/>
          <p:nvPr/>
        </p:nvSpPr>
        <p:spPr>
          <a:xfrm>
            <a:off x="502920" y="1463040"/>
            <a:ext cx="6858000" cy="4663440"/>
          </a:xfrm>
          <a:prstGeom prst="roundRect">
            <a:avLst>
              <a:gd name="adj" fmla="val 980"/>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6455664" cy="4370832"/>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public function enviar($guia): array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$token = $this-&gt;obtenerToken();        // 1) OAuth2</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$xml = $this-&gt;generarUBL($guia);       // 2) XML (UBL)</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$xml = $this-&gt;firmar($xml);            // 3) firma XAdES</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$zip = $this-&gt;comprimir($xml, $nombre);// 4) .zip</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$url = 'https://api-cpe.sunat.gob.pe/v1/'</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 'contribuyente/gem/comprobantes/'.$nombre;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$ch = curl_init($url);</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curl_setopt_array($ch, [ CURLOPT_POST=&gt;true,</a:t>
            </a:r>
            <a:endParaRPr lang="en-US" sz="1100" dirty="0"/>
          </a:p>
          <a:p>
            <a:pPr indent="0" marL="0">
              <a:lnSpc>
                <a:spcPct val="105000"/>
              </a:lnSpc>
              <a:buNone/>
            </a:pPr>
            <a:r>
              <a:rPr lang="en-US" sz="1100" dirty="0">
                <a:solidFill>
                  <a:srgbClr val="7DD3FC"/>
                </a:solidFill>
                <a:latin typeface="Courier New" pitchFamily="34" charset="0"/>
                <a:ea typeface="Courier New" pitchFamily="34" charset="-122"/>
                <a:cs typeface="Courier New" pitchFamily="34" charset="-120"/>
              </a:rPr>
              <a:t>    CURLOPT_HTTPHEADER =&gt; [</a:t>
            </a:r>
            <a:endParaRPr lang="en-US" sz="1100" dirty="0"/>
          </a:p>
          <a:p>
            <a:pPr indent="0" marL="0">
              <a:lnSpc>
                <a:spcPct val="105000"/>
              </a:lnSpc>
              <a:buNone/>
            </a:pPr>
            <a:r>
              <a:rPr lang="en-US" sz="1100" dirty="0">
                <a:solidFill>
                  <a:srgbClr val="7DD3FC"/>
                </a:solidFill>
                <a:latin typeface="Courier New" pitchFamily="34" charset="0"/>
                <a:ea typeface="Courier New" pitchFamily="34" charset="-122"/>
                <a:cs typeface="Courier New" pitchFamily="34" charset="-120"/>
              </a:rPr>
              <a:t>      'Authorization: Bearer '.$token,</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'Content-Type: application/json'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CURLOPT_POSTFIELDS =&gt; json_encode($cuerpo),</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CURLOPT_RETURNTRANSFER =&gt; true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['ticket' =&gt; $resp['numTicket'] ?? null];</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7589520" y="1463040"/>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7" name="Text 5"/>
          <p:cNvSpPr/>
          <p:nvPr/>
        </p:nvSpPr>
        <p:spPr>
          <a:xfrm>
            <a:off x="7790688" y="1609344"/>
            <a:ext cx="3666744" cy="36576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Los 5 pasos</a:t>
            </a:r>
            <a:endParaRPr lang="en-US" sz="1450" dirty="0"/>
          </a:p>
        </p:txBody>
      </p:sp>
      <p:sp>
        <p:nvSpPr>
          <p:cNvPr id="8" name="Text 6"/>
          <p:cNvSpPr/>
          <p:nvPr/>
        </p:nvSpPr>
        <p:spPr>
          <a:xfrm>
            <a:off x="7808976" y="2029968"/>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Token → XML → firma → zip → envío</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Va con 'Authorization: Bearer'</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SUNAT devuelve un numTicket</a:t>
            </a:r>
            <a:endParaRPr lang="en-US" sz="1250" dirty="0"/>
          </a:p>
        </p:txBody>
      </p:sp>
      <p:sp>
        <p:nvSpPr>
          <p:cNvPr id="9" name="Shape 7"/>
          <p:cNvSpPr/>
          <p:nvPr/>
        </p:nvSpPr>
        <p:spPr>
          <a:xfrm>
            <a:off x="7589520" y="4078224"/>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10" name="Text 8"/>
          <p:cNvSpPr/>
          <p:nvPr/>
        </p:nvSpPr>
        <p:spPr>
          <a:xfrm>
            <a:off x="7790688" y="4224528"/>
            <a:ext cx="3666744" cy="365760"/>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Dónde delegar</a:t>
            </a:r>
            <a:endParaRPr lang="en-US" sz="1450" dirty="0"/>
          </a:p>
        </p:txBody>
      </p:sp>
      <p:sp>
        <p:nvSpPr>
          <p:cNvPr id="11" name="Text 9"/>
          <p:cNvSpPr/>
          <p:nvPr/>
        </p:nvSpPr>
        <p:spPr>
          <a:xfrm>
            <a:off x="7808976" y="4645152"/>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generarUBL y firmar: con Greenter</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o con el OSE (como hoy)</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El zip lleva el XML firmado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RESULTADO</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Paso 6: consultar el ticket de la GRE</a:t>
            </a:r>
            <a:endParaRPr lang="en-US" sz="2600" dirty="0"/>
          </a:p>
        </p:txBody>
      </p:sp>
      <p:sp>
        <p:nvSpPr>
          <p:cNvPr id="4" name="Shape 2"/>
          <p:cNvSpPr/>
          <p:nvPr/>
        </p:nvSpPr>
        <p:spPr>
          <a:xfrm>
            <a:off x="502920" y="1463040"/>
            <a:ext cx="6858000" cy="3657600"/>
          </a:xfrm>
          <a:prstGeom prst="roundRect">
            <a:avLst>
              <a:gd name="adj" fmla="val 1250"/>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6455664" cy="3364992"/>
          </a:xfrm>
          <a:prstGeom prst="rect">
            <a:avLst/>
          </a:prstGeom>
          <a:noFill/>
          <a:ln/>
        </p:spPr>
        <p:txBody>
          <a:bodyPr wrap="square" lIns="0" tIns="0" rIns="0" bIns="0" rtlCol="0" anchor="t"/>
          <a:lstStyle/>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La GRE es asíncrona: SUNAT da un ticket</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$url = 'https://api-cpe.sunat.gob.pe/v1/'</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 'contribuyente/gem/comprobantes/envios/'.$ticket;</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$ch = curl_init($url);</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curl_setopt($ch, CURLOPT_HTTPHEADER,</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['Authorization: Bearer '.$token]);</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$cdr = json_decode(curl_exec($ch), true);</a:t>
            </a:r>
            <a:endParaRPr lang="en-US" sz="1150" dirty="0"/>
          </a:p>
          <a:p>
            <a:pPr indent="0" marL="0">
              <a:lnSpc>
                <a:spcPct val="105000"/>
              </a:lnSpc>
              <a:buNone/>
            </a:pPr>
            <a:r>
              <a:rPr lang="en-US" sz="1150" dirty="0">
                <a:solidFill>
                  <a:srgbClr val="7DD3FC"/>
                </a:solidFill>
                <a:latin typeface="Courier New" pitchFamily="34" charset="0"/>
                <a:ea typeface="Courier New" pitchFamily="34" charset="-122"/>
                <a:cs typeface="Courier New" pitchFamily="34" charset="-120"/>
              </a:rPr>
              <a:t>// $cdr['codRespuesta'] =&gt; 0 = aceptado</a:t>
            </a:r>
            <a:endParaRPr lang="en-US" sz="1150" dirty="0"/>
          </a:p>
        </p:txBody>
      </p:sp>
      <p:sp>
        <p:nvSpPr>
          <p:cNvPr id="6" name="Shape 4"/>
          <p:cNvSpPr/>
          <p:nvPr/>
        </p:nvSpPr>
        <p:spPr>
          <a:xfrm>
            <a:off x="7589520" y="1463040"/>
            <a:ext cx="4069080" cy="1819656"/>
          </a:xfrm>
          <a:prstGeom prst="roundRect">
            <a:avLst>
              <a:gd name="adj" fmla="val 4020"/>
            </a:avLst>
          </a:prstGeom>
          <a:solidFill>
            <a:srgbClr val="EEF4FF"/>
          </a:solidFill>
          <a:ln/>
          <a:effectLst>
            <a:outerShdw sx="100000" sy="100000" kx="0" ky="0" algn="bl" rotWithShape="0" blurRad="101600" dist="38100" dir="5400000">
              <a:srgbClr val="000000">
                <a:alpha val="12000"/>
              </a:srgbClr>
            </a:outerShdw>
          </a:effectLst>
        </p:spPr>
      </p:sp>
      <p:sp>
        <p:nvSpPr>
          <p:cNvPr id="7" name="Text 5"/>
          <p:cNvSpPr/>
          <p:nvPr/>
        </p:nvSpPr>
        <p:spPr>
          <a:xfrm>
            <a:off x="7790688" y="1609344"/>
            <a:ext cx="3666744" cy="36576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¿Qué hace?</a:t>
            </a:r>
            <a:endParaRPr lang="en-US" sz="1450" dirty="0"/>
          </a:p>
        </p:txBody>
      </p:sp>
      <p:sp>
        <p:nvSpPr>
          <p:cNvPr id="8" name="Text 6"/>
          <p:cNvSpPr/>
          <p:nvPr/>
        </p:nvSpPr>
        <p:spPr>
          <a:xfrm>
            <a:off x="7808976" y="2029968"/>
            <a:ext cx="3648456" cy="1133856"/>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Consulta el numTicket de la guía</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Obtiene el CDR (aceptado/rechazado)</a:t>
            </a:r>
            <a:endParaRPr lang="en-US" sz="1250" dirty="0"/>
          </a:p>
        </p:txBody>
      </p:sp>
      <p:sp>
        <p:nvSpPr>
          <p:cNvPr id="9" name="Shape 7"/>
          <p:cNvSpPr/>
          <p:nvPr/>
        </p:nvSpPr>
        <p:spPr>
          <a:xfrm>
            <a:off x="7589520" y="3511296"/>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10" name="Text 8"/>
          <p:cNvSpPr/>
          <p:nvPr/>
        </p:nvSpPr>
        <p:spPr>
          <a:xfrm>
            <a:off x="7790688" y="3657600"/>
            <a:ext cx="3666744" cy="365760"/>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¿Te suena?</a:t>
            </a:r>
            <a:endParaRPr lang="en-US" sz="1450" dirty="0"/>
          </a:p>
        </p:txBody>
      </p:sp>
      <p:sp>
        <p:nvSpPr>
          <p:cNvPr id="11" name="Text 9"/>
          <p:cNvSpPr/>
          <p:nvPr/>
        </p:nvSpPr>
        <p:spPr>
          <a:xfrm>
            <a:off x="7808976" y="4078224"/>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Es el MISMO concepto de la factura</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Ticket → consultar → estado real</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Guardamos el resultado en la base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IMPLEMENTACIÓN · INTERFAZ</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El formulario de la guía (campos según modalidad)</a:t>
            </a:r>
            <a:endParaRPr lang="en-US" sz="2600" dirty="0"/>
          </a:p>
        </p:txBody>
      </p:sp>
      <p:sp>
        <p:nvSpPr>
          <p:cNvPr id="4" name="Shape 2"/>
          <p:cNvSpPr/>
          <p:nvPr/>
        </p:nvSpPr>
        <p:spPr>
          <a:xfrm>
            <a:off x="502920" y="1463040"/>
            <a:ext cx="6858000" cy="4206240"/>
          </a:xfrm>
          <a:prstGeom prst="roundRect">
            <a:avLst>
              <a:gd name="adj" fmla="val 1087"/>
            </a:avLst>
          </a:prstGeom>
          <a:solidFill>
            <a:srgbClr val="0F172A"/>
          </a:solidFill>
          <a:ln/>
          <a:effectLst>
            <a:outerShdw sx="100000" sy="100000" kx="0" ky="0" algn="bl" rotWithShape="0" blurRad="101600" dist="38100" dir="5400000">
              <a:srgbClr val="000000">
                <a:alpha val="12000"/>
              </a:srgbClr>
            </a:outerShdw>
          </a:effectLst>
        </p:spPr>
      </p:sp>
      <p:sp>
        <p:nvSpPr>
          <p:cNvPr id="5" name="Text 3"/>
          <p:cNvSpPr/>
          <p:nvPr/>
        </p:nvSpPr>
        <p:spPr>
          <a:xfrm>
            <a:off x="704088" y="1609344"/>
            <a:ext cx="6455664" cy="3913632"/>
          </a:xfrm>
          <a:prstGeom prst="rect">
            <a:avLst/>
          </a:prstGeom>
          <a:noFill/>
          <a:ln/>
        </p:spPr>
        <p:txBody>
          <a:bodyPr wrap="square" lIns="0" tIns="0" rIns="0" bIns="0" rtlCol="0" anchor="t"/>
          <a:lstStyle/>
          <a:p>
            <a:pPr indent="0" marL="0">
              <a:lnSpc>
                <a:spcPct val="105000"/>
              </a:lnSpc>
              <a:buNone/>
            </a:pPr>
            <a:r>
              <a:rPr lang="en-US" sz="1150" dirty="0">
                <a:solidFill>
                  <a:srgbClr val="A7B6CE"/>
                </a:solidFill>
                <a:latin typeface="Courier New" pitchFamily="34" charset="0"/>
                <a:ea typeface="Courier New" pitchFamily="34" charset="-122"/>
                <a:cs typeface="Courier New" pitchFamily="34" charset="-120"/>
              </a:rPr>
              <a:t>// según la modalidad, mostramos unos campos u otros</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document.getElementById('modalidad')</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.addEventListener('change', e =&gt;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const publico = e.target.value === '01';</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bloqueTransportista.style.display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publico ? 'block' : 'none';   // GRE 31</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bloqueVehiculo.style.display =</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publico ? 'none' : 'block';   // placa+conductor</a:t>
            </a:r>
            <a:endParaRPr lang="en-US" sz="1150" dirty="0"/>
          </a:p>
          <a:p>
            <a:pPr indent="0" marL="0">
              <a:lnSpc>
                <a:spcPct val="105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p:txBody>
      </p:sp>
      <p:sp>
        <p:nvSpPr>
          <p:cNvPr id="6" name="Shape 4"/>
          <p:cNvSpPr/>
          <p:nvPr/>
        </p:nvSpPr>
        <p:spPr>
          <a:xfrm>
            <a:off x="7589520" y="1463040"/>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7" name="Text 5"/>
          <p:cNvSpPr/>
          <p:nvPr/>
        </p:nvSpPr>
        <p:spPr>
          <a:xfrm>
            <a:off x="7790688" y="1609344"/>
            <a:ext cx="3666744" cy="36576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¿Qué hace?</a:t>
            </a:r>
            <a:endParaRPr lang="en-US" sz="1450" dirty="0"/>
          </a:p>
        </p:txBody>
      </p:sp>
      <p:sp>
        <p:nvSpPr>
          <p:cNvPr id="8" name="Text 6"/>
          <p:cNvSpPr/>
          <p:nvPr/>
        </p:nvSpPr>
        <p:spPr>
          <a:xfrm>
            <a:off x="7808976" y="2029968"/>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Muestra/oculta campos según modalidad</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Público → datos del transportista</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Privado → placa y conductor</a:t>
            </a:r>
            <a:endParaRPr lang="en-US" sz="1250" dirty="0"/>
          </a:p>
        </p:txBody>
      </p:sp>
      <p:sp>
        <p:nvSpPr>
          <p:cNvPr id="9" name="Shape 7"/>
          <p:cNvSpPr/>
          <p:nvPr/>
        </p:nvSpPr>
        <p:spPr>
          <a:xfrm>
            <a:off x="7589520" y="4078224"/>
            <a:ext cx="4069080" cy="2386584"/>
          </a:xfrm>
          <a:prstGeom prst="roundRect">
            <a:avLst>
              <a:gd name="adj" fmla="val 3065"/>
            </a:avLst>
          </a:prstGeom>
          <a:solidFill>
            <a:srgbClr val="EEF4FF"/>
          </a:solidFill>
          <a:ln/>
          <a:effectLst>
            <a:outerShdw sx="100000" sy="100000" kx="0" ky="0" algn="bl" rotWithShape="0" blurRad="101600" dist="38100" dir="5400000">
              <a:srgbClr val="000000">
                <a:alpha val="12000"/>
              </a:srgbClr>
            </a:outerShdw>
          </a:effectLst>
        </p:spPr>
      </p:sp>
      <p:sp>
        <p:nvSpPr>
          <p:cNvPr id="10" name="Text 8"/>
          <p:cNvSpPr/>
          <p:nvPr/>
        </p:nvSpPr>
        <p:spPr>
          <a:xfrm>
            <a:off x="7790688" y="4224528"/>
            <a:ext cx="3666744" cy="365760"/>
          </a:xfrm>
          <a:prstGeom prst="rect">
            <a:avLst/>
          </a:prstGeom>
          <a:noFill/>
          <a:ln/>
        </p:spPr>
        <p:txBody>
          <a:bodyPr wrap="square" lIns="0" tIns="0" rIns="0" bIns="0" rtlCol="0" anchor="ctr"/>
          <a:lstStyle/>
          <a:p>
            <a:pPr indent="0" marL="0">
              <a:buNone/>
            </a:pPr>
            <a:r>
              <a:rPr lang="en-US" sz="1450" b="1" dirty="0">
                <a:solidFill>
                  <a:srgbClr val="D97706"/>
                </a:solidFill>
                <a:latin typeface="Calibri" pitchFamily="34" charset="0"/>
                <a:ea typeface="Calibri" pitchFamily="34" charset="-122"/>
                <a:cs typeface="Calibri" pitchFamily="34" charset="-120"/>
              </a:rPr>
              <a:t>¿Por qué?</a:t>
            </a:r>
            <a:endParaRPr lang="en-US" sz="1450" dirty="0"/>
          </a:p>
        </p:txBody>
      </p:sp>
      <p:sp>
        <p:nvSpPr>
          <p:cNvPr id="11" name="Text 9"/>
          <p:cNvSpPr/>
          <p:nvPr/>
        </p:nvSpPr>
        <p:spPr>
          <a:xfrm>
            <a:off x="7808976" y="4645152"/>
            <a:ext cx="3648456" cy="170078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No pedir datos que no aplican</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Mejor experiencia de usuario</a:t>
            </a:r>
            <a:endParaRPr lang="en-US" sz="1250" dirty="0"/>
          </a:p>
          <a:p>
            <a:pPr marL="152400" indent="-1524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Menos errores al enviar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indent="0" marL="0">
              <a:buNone/>
            </a:pPr>
            <a:r>
              <a:rPr lang="en-US" sz="1250" b="1" spc="100" kern="0" dirty="0">
                <a:solidFill>
                  <a:srgbClr val="2563EB"/>
                </a:solidFill>
                <a:latin typeface="Courier New" pitchFamily="34" charset="0"/>
                <a:ea typeface="Courier New" pitchFamily="34" charset="-122"/>
                <a:cs typeface="Courier New" pitchFamily="34" charset="-120"/>
              </a:rPr>
              <a:t>PARA PRODUCCIÓN</a:t>
            </a:r>
            <a:endParaRPr lang="en-US" sz="1250" dirty="0"/>
          </a:p>
        </p:txBody>
      </p:sp>
      <p:sp>
        <p:nvSpPr>
          <p:cNvPr id="3" name="Text 1"/>
          <p:cNvSpPr/>
          <p:nvPr/>
        </p:nvSpPr>
        <p:spPr>
          <a:xfrm>
            <a:off x="502920" y="585216"/>
            <a:ext cx="11155680" cy="640080"/>
          </a:xfrm>
          <a:prstGeom prst="rect">
            <a:avLst/>
          </a:prstGeom>
          <a:noFill/>
          <a:ln/>
        </p:spPr>
        <p:txBody>
          <a:bodyPr wrap="square" lIns="0" tIns="0" rIns="0" bIns="0" rtlCol="0" anchor="t"/>
          <a:lstStyle/>
          <a:p>
            <a:pPr indent="0" marL="0">
              <a:buNone/>
            </a:pPr>
            <a:r>
              <a:rPr lang="en-US" sz="2600" b="1" dirty="0">
                <a:solidFill>
                  <a:srgbClr val="1E293B"/>
                </a:solidFill>
                <a:latin typeface="Cambria" pitchFamily="34" charset="0"/>
                <a:ea typeface="Cambria" pitchFamily="34" charset="-122"/>
                <a:cs typeface="Cambria" pitchFamily="34" charset="-120"/>
              </a:rPr>
              <a:t>Qué necesitas para emitir GRE de verdad</a:t>
            </a:r>
            <a:endParaRPr lang="en-US" sz="2600" dirty="0"/>
          </a:p>
        </p:txBody>
      </p:sp>
      <p:sp>
        <p:nvSpPr>
          <p:cNvPr id="4" name="Shape 2"/>
          <p:cNvSpPr/>
          <p:nvPr/>
        </p:nvSpPr>
        <p:spPr>
          <a:xfrm>
            <a:off x="502920" y="164592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5" name="Shape 3"/>
          <p:cNvSpPr/>
          <p:nvPr/>
        </p:nvSpPr>
        <p:spPr>
          <a:xfrm>
            <a:off x="758952" y="1901952"/>
            <a:ext cx="475488" cy="475488"/>
          </a:xfrm>
          <a:prstGeom prst="ellipse">
            <a:avLst/>
          </a:prstGeom>
          <a:solidFill>
            <a:srgbClr val="2563EB"/>
          </a:solidFill>
          <a:ln/>
        </p:spPr>
      </p:sp>
      <p:sp>
        <p:nvSpPr>
          <p:cNvPr id="6" name="Text 4"/>
          <p:cNvSpPr/>
          <p:nvPr/>
        </p:nvSpPr>
        <p:spPr>
          <a:xfrm>
            <a:off x="758952"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44168"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Certificado digital</a:t>
            </a:r>
            <a:endParaRPr lang="en-US" sz="1450" dirty="0"/>
          </a:p>
        </p:txBody>
      </p:sp>
      <p:sp>
        <p:nvSpPr>
          <p:cNvPr id="8" name="Text 6"/>
          <p:cNvSpPr/>
          <p:nvPr/>
        </p:nvSpPr>
        <p:spPr>
          <a:xfrm>
            <a:off x="777240"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Firma el XML (SUNAT o entidad certificadora)</a:t>
            </a:r>
            <a:endParaRPr lang="en-US" sz="1250" dirty="0"/>
          </a:p>
        </p:txBody>
      </p:sp>
      <p:sp>
        <p:nvSpPr>
          <p:cNvPr id="9" name="Shape 7"/>
          <p:cNvSpPr/>
          <p:nvPr/>
        </p:nvSpPr>
        <p:spPr>
          <a:xfrm>
            <a:off x="4233672" y="164592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10" name="Shape 8"/>
          <p:cNvSpPr/>
          <p:nvPr/>
        </p:nvSpPr>
        <p:spPr>
          <a:xfrm>
            <a:off x="4489704" y="1901952"/>
            <a:ext cx="475488" cy="475488"/>
          </a:xfrm>
          <a:prstGeom prst="ellipse">
            <a:avLst/>
          </a:prstGeom>
          <a:solidFill>
            <a:srgbClr val="2563EB"/>
          </a:solidFill>
          <a:ln/>
        </p:spPr>
      </p:sp>
      <p:sp>
        <p:nvSpPr>
          <p:cNvPr id="11" name="Text 9"/>
          <p:cNvSpPr/>
          <p:nvPr/>
        </p:nvSpPr>
        <p:spPr>
          <a:xfrm>
            <a:off x="4489704"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5074920"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Credenciales de API</a:t>
            </a:r>
            <a:endParaRPr lang="en-US" sz="1450" dirty="0"/>
          </a:p>
        </p:txBody>
      </p:sp>
      <p:sp>
        <p:nvSpPr>
          <p:cNvPr id="13" name="Text 11"/>
          <p:cNvSpPr/>
          <p:nvPr/>
        </p:nvSpPr>
        <p:spPr>
          <a:xfrm>
            <a:off x="4507992"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client_id y client_secret desde el portal SOL</a:t>
            </a:r>
            <a:endParaRPr lang="en-US" sz="1250" dirty="0"/>
          </a:p>
        </p:txBody>
      </p:sp>
      <p:sp>
        <p:nvSpPr>
          <p:cNvPr id="14" name="Shape 12"/>
          <p:cNvSpPr/>
          <p:nvPr/>
        </p:nvSpPr>
        <p:spPr>
          <a:xfrm>
            <a:off x="7918704" y="164592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15" name="Shape 13"/>
          <p:cNvSpPr/>
          <p:nvPr/>
        </p:nvSpPr>
        <p:spPr>
          <a:xfrm>
            <a:off x="8174736" y="1901952"/>
            <a:ext cx="475488" cy="475488"/>
          </a:xfrm>
          <a:prstGeom prst="ellipse">
            <a:avLst/>
          </a:prstGeom>
          <a:solidFill>
            <a:srgbClr val="2563EB"/>
          </a:solidFill>
          <a:ln/>
        </p:spPr>
      </p:sp>
      <p:sp>
        <p:nvSpPr>
          <p:cNvPr id="16" name="Text 14"/>
          <p:cNvSpPr/>
          <p:nvPr/>
        </p:nvSpPr>
        <p:spPr>
          <a:xfrm>
            <a:off x="8174736" y="19019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759952" y="188366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Usuario SOL</a:t>
            </a:r>
            <a:endParaRPr lang="en-US" sz="1450" dirty="0"/>
          </a:p>
        </p:txBody>
      </p:sp>
      <p:sp>
        <p:nvSpPr>
          <p:cNvPr id="18" name="Text 16"/>
          <p:cNvSpPr/>
          <p:nvPr/>
        </p:nvSpPr>
        <p:spPr>
          <a:xfrm>
            <a:off x="8193024"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Usuario y clave (secundario recomendado)</a:t>
            </a:r>
            <a:endParaRPr lang="en-US" sz="1250" dirty="0"/>
          </a:p>
        </p:txBody>
      </p:sp>
      <p:sp>
        <p:nvSpPr>
          <p:cNvPr id="19" name="Shape 17"/>
          <p:cNvSpPr/>
          <p:nvPr/>
        </p:nvSpPr>
        <p:spPr>
          <a:xfrm>
            <a:off x="502920" y="379476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20" name="Shape 18"/>
          <p:cNvSpPr/>
          <p:nvPr/>
        </p:nvSpPr>
        <p:spPr>
          <a:xfrm>
            <a:off x="758952" y="4050792"/>
            <a:ext cx="475488" cy="475488"/>
          </a:xfrm>
          <a:prstGeom prst="ellipse">
            <a:avLst/>
          </a:prstGeom>
          <a:solidFill>
            <a:srgbClr val="2563EB"/>
          </a:solidFill>
          <a:ln/>
        </p:spPr>
      </p:sp>
      <p:sp>
        <p:nvSpPr>
          <p:cNvPr id="21" name="Text 19"/>
          <p:cNvSpPr/>
          <p:nvPr/>
        </p:nvSpPr>
        <p:spPr>
          <a:xfrm>
            <a:off x="758952"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1344168"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Generador UBL + firma</a:t>
            </a:r>
            <a:endParaRPr lang="en-US" sz="1450" dirty="0"/>
          </a:p>
        </p:txBody>
      </p:sp>
      <p:sp>
        <p:nvSpPr>
          <p:cNvPr id="23" name="Text 21"/>
          <p:cNvSpPr/>
          <p:nvPr/>
        </p:nvSpPr>
        <p:spPr>
          <a:xfrm>
            <a:off x="777240"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Greenter u OSE para el XML firmado</a:t>
            </a:r>
            <a:endParaRPr lang="en-US" sz="1250" dirty="0"/>
          </a:p>
        </p:txBody>
      </p:sp>
      <p:sp>
        <p:nvSpPr>
          <p:cNvPr id="24" name="Shape 22"/>
          <p:cNvSpPr/>
          <p:nvPr/>
        </p:nvSpPr>
        <p:spPr>
          <a:xfrm>
            <a:off x="4233672" y="3794760"/>
            <a:ext cx="3657600" cy="1920240"/>
          </a:xfrm>
          <a:prstGeom prst="roundRect">
            <a:avLst>
              <a:gd name="adj" fmla="val 3810"/>
            </a:avLst>
          </a:prstGeom>
          <a:solidFill>
            <a:srgbClr val="EEF4FF"/>
          </a:solidFill>
          <a:ln/>
          <a:effectLst>
            <a:outerShdw sx="100000" sy="100000" kx="0" ky="0" algn="bl" rotWithShape="0" blurRad="101600" dist="38100" dir="5400000">
              <a:srgbClr val="000000">
                <a:alpha val="12000"/>
              </a:srgbClr>
            </a:outerShdw>
          </a:effectLst>
        </p:spPr>
      </p:sp>
      <p:sp>
        <p:nvSpPr>
          <p:cNvPr id="25" name="Shape 23"/>
          <p:cNvSpPr/>
          <p:nvPr/>
        </p:nvSpPr>
        <p:spPr>
          <a:xfrm>
            <a:off x="4489704" y="4050792"/>
            <a:ext cx="475488" cy="475488"/>
          </a:xfrm>
          <a:prstGeom prst="ellipse">
            <a:avLst/>
          </a:prstGeom>
          <a:solidFill>
            <a:srgbClr val="2563EB"/>
          </a:solidFill>
          <a:ln/>
        </p:spPr>
      </p:sp>
      <p:sp>
        <p:nvSpPr>
          <p:cNvPr id="26" name="Text 24"/>
          <p:cNvSpPr/>
          <p:nvPr/>
        </p:nvSpPr>
        <p:spPr>
          <a:xfrm>
            <a:off x="4489704"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5074920"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Catálogos SUNAT</a:t>
            </a:r>
            <a:endParaRPr lang="en-US" sz="1450" dirty="0"/>
          </a:p>
        </p:txBody>
      </p:sp>
      <p:sp>
        <p:nvSpPr>
          <p:cNvPr id="28" name="Text 26"/>
          <p:cNvSpPr/>
          <p:nvPr/>
        </p:nvSpPr>
        <p:spPr>
          <a:xfrm>
            <a:off x="4507992"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Motivos (20), modalidad (18), unidades, ubigeo</a:t>
            </a:r>
            <a:endParaRPr lang="en-US" sz="1250" dirty="0"/>
          </a:p>
        </p:txBody>
      </p:sp>
      <p:sp>
        <p:nvSpPr>
          <p:cNvPr id="29" name="Shape 27"/>
          <p:cNvSpPr/>
          <p:nvPr/>
        </p:nvSpPr>
        <p:spPr>
          <a:xfrm>
            <a:off x="7918704" y="379476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30" name="Shape 28"/>
          <p:cNvSpPr/>
          <p:nvPr/>
        </p:nvSpPr>
        <p:spPr>
          <a:xfrm>
            <a:off x="8174736" y="4050792"/>
            <a:ext cx="475488" cy="475488"/>
          </a:xfrm>
          <a:prstGeom prst="ellipse">
            <a:avLst/>
          </a:prstGeom>
          <a:solidFill>
            <a:srgbClr val="2563EB"/>
          </a:solidFill>
          <a:ln/>
        </p:spPr>
      </p:sp>
      <p:sp>
        <p:nvSpPr>
          <p:cNvPr id="31" name="Text 29"/>
          <p:cNvSpPr/>
          <p:nvPr/>
        </p:nvSpPr>
        <p:spPr>
          <a:xfrm>
            <a:off x="8174736" y="4050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2" name="Text 30"/>
          <p:cNvSpPr/>
          <p:nvPr/>
        </p:nvSpPr>
        <p:spPr>
          <a:xfrm>
            <a:off x="8759952" y="4032504"/>
            <a:ext cx="2697480" cy="54864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Endpoints correctos</a:t>
            </a:r>
            <a:endParaRPr lang="en-US" sz="1450" dirty="0"/>
          </a:p>
        </p:txBody>
      </p:sp>
      <p:sp>
        <p:nvSpPr>
          <p:cNvPr id="33" name="Text 31"/>
          <p:cNvSpPr/>
          <p:nvPr/>
        </p:nvSpPr>
        <p:spPr>
          <a:xfrm>
            <a:off x="8193024"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Beta para pruebas, producción para real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43B"/>
        </a:solidFill>
      </p:bgPr>
    </p:bg>
    <p:spTree>
      <p:nvGrpSpPr>
        <p:cNvPr id="1" name=""/>
        <p:cNvGrpSpPr/>
        <p:nvPr/>
      </p:nvGrpSpPr>
      <p:grpSpPr>
        <a:xfrm>
          <a:off x="0" y="0"/>
          <a:ext cx="0" cy="0"/>
          <a:chOff x="0" y="0"/>
          <a:chExt cx="0" cy="0"/>
        </a:xfrm>
      </p:grpSpPr>
      <p:sp>
        <p:nvSpPr>
          <p:cNvPr id="2" name="Shape 0"/>
          <p:cNvSpPr/>
          <p:nvPr/>
        </p:nvSpPr>
        <p:spPr>
          <a:xfrm>
            <a:off x="-1371600" y="4389120"/>
            <a:ext cx="3840480" cy="3840480"/>
          </a:xfrm>
          <a:prstGeom prst="ellipse">
            <a:avLst/>
          </a:prstGeom>
          <a:solidFill>
            <a:srgbClr val="2563EB">
              <a:alpha val="25000"/>
            </a:srgbClr>
          </a:solidFill>
          <a:ln/>
        </p:spPr>
      </p:sp>
      <p:sp>
        <p:nvSpPr>
          <p:cNvPr id="3" name="Text 1"/>
          <p:cNvSpPr/>
          <p:nvPr/>
        </p:nvSpPr>
        <p:spPr>
          <a:xfrm>
            <a:off x="502920" y="1463040"/>
            <a:ext cx="10058400" cy="365760"/>
          </a:xfrm>
          <a:prstGeom prst="rect">
            <a:avLst/>
          </a:prstGeom>
          <a:noFill/>
          <a:ln/>
        </p:spPr>
        <p:txBody>
          <a:bodyPr wrap="square" lIns="0" tIns="0" rIns="0" bIns="0" rtlCol="0" anchor="ctr"/>
          <a:lstStyle/>
          <a:p>
            <a:pPr indent="0" marL="0">
              <a:buNone/>
            </a:pPr>
            <a:r>
              <a:rPr lang="en-US" sz="1500" b="1" spc="200" kern="0" dirty="0">
                <a:solidFill>
                  <a:srgbClr val="60A5FA"/>
                </a:solidFill>
                <a:latin typeface="Courier New" pitchFamily="34" charset="0"/>
                <a:ea typeface="Courier New" pitchFamily="34" charset="-122"/>
                <a:cs typeface="Courier New" pitchFamily="34" charset="-120"/>
              </a:rPr>
              <a:t>EN RESUMEN</a:t>
            </a:r>
            <a:endParaRPr lang="en-US" sz="1500" dirty="0"/>
          </a:p>
        </p:txBody>
      </p:sp>
      <p:sp>
        <p:nvSpPr>
          <p:cNvPr id="4" name="Text 2"/>
          <p:cNvSpPr/>
          <p:nvPr/>
        </p:nvSpPr>
        <p:spPr>
          <a:xfrm>
            <a:off x="502920" y="1874520"/>
            <a:ext cx="10972800" cy="10972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 guía sustenta el traslado, no la venta</a:t>
            </a:r>
            <a:endParaRPr lang="en-US" sz="3200" dirty="0"/>
          </a:p>
        </p:txBody>
      </p:sp>
      <p:sp>
        <p:nvSpPr>
          <p:cNvPr id="5" name="Text 3"/>
          <p:cNvSpPr/>
          <p:nvPr/>
        </p:nvSpPr>
        <p:spPr>
          <a:xfrm>
            <a:off x="502920" y="3108960"/>
            <a:ext cx="10972800" cy="2011680"/>
          </a:xfrm>
          <a:prstGeom prst="rect">
            <a:avLst/>
          </a:prstGeom>
          <a:noFill/>
          <a:ln/>
        </p:spPr>
        <p:txBody>
          <a:bodyPr wrap="square" lIns="0" tIns="0" rIns="0" bIns="0" rtlCol="0" anchor="t"/>
          <a:lstStyle/>
          <a:p>
            <a:pPr indent="0" marL="0">
              <a:lnSpc>
                <a:spcPct val="125000"/>
              </a:lnSpc>
              <a:buNone/>
            </a:pPr>
            <a:r>
              <a:rPr lang="en-US" sz="1700" dirty="0">
                <a:solidFill>
                  <a:srgbClr val="60A5FA"/>
                </a:solidFill>
                <a:latin typeface="Calibri" pitchFamily="34" charset="0"/>
                <a:ea typeface="Calibri" pitchFamily="34" charset="-122"/>
                <a:cs typeface="Calibri" pitchFamily="34" charset="-120"/>
              </a:rPr>
              <a:t>Dos tipos: 09 remitente · 31 transportista</a:t>
            </a:r>
            <a:endParaRPr lang="en-US" sz="1700" dirty="0"/>
          </a:p>
          <a:p>
            <a:pPr indent="0" marL="0">
              <a:lnSpc>
                <a:spcPct val="125000"/>
              </a:lnSpc>
              <a:buNone/>
            </a:pPr>
            <a:r>
              <a:rPr lang="en-US" sz="1700" dirty="0">
                <a:solidFill>
                  <a:srgbClr val="E2E8F0"/>
                </a:solidFill>
                <a:latin typeface="Calibri" pitchFamily="34" charset="0"/>
                <a:ea typeface="Calibri" pitchFamily="34" charset="-122"/>
                <a:cs typeface="Calibri" pitchFamily="34" charset="-120"/>
              </a:rPr>
              <a:t>Va por API REST de SUNAT con OAuth2 (token Bearer)</a:t>
            </a:r>
            <a:endParaRPr lang="en-US" sz="1700" dirty="0"/>
          </a:p>
          <a:p>
            <a:pPr indent="0" marL="0">
              <a:lnSpc>
                <a:spcPct val="125000"/>
              </a:lnSpc>
              <a:buNone/>
            </a:pPr>
            <a:r>
              <a:rPr lang="en-US" sz="1700" dirty="0">
                <a:solidFill>
                  <a:srgbClr val="E2E8F0"/>
                </a:solidFill>
                <a:latin typeface="Calibri" pitchFamily="34" charset="0"/>
                <a:ea typeface="Calibri" pitchFamily="34" charset="-122"/>
                <a:cs typeface="Calibri" pitchFamily="34" charset="-120"/>
              </a:rPr>
              <a:t>Mismo patrón del sistema: validar → guardar → enviar → consultar</a:t>
            </a:r>
            <a:endParaRPr lang="en-US" sz="1700" dirty="0"/>
          </a:p>
          <a:p>
            <a:pPr indent="0" marL="0">
              <a:lnSpc>
                <a:spcPct val="125000"/>
              </a:lnSpc>
              <a:buNone/>
            </a:pPr>
            <a:r>
              <a:rPr lang="en-US" sz="1700" dirty="0">
                <a:solidFill>
                  <a:srgbClr val="E2E8F0"/>
                </a:solidFill>
                <a:latin typeface="Calibri" pitchFamily="34" charset="0"/>
                <a:ea typeface="Calibri" pitchFamily="34" charset="-122"/>
                <a:cs typeface="Calibri" pitchFamily="34" charset="-120"/>
              </a:rPr>
              <a:t>La firma del XML se delega (Greenter / OSE)</a:t>
            </a:r>
            <a:endParaRPr lang="en-US" sz="1700" dirty="0"/>
          </a:p>
        </p:txBody>
      </p:sp>
      <p:sp>
        <p:nvSpPr>
          <p:cNvPr id="6" name="Text 4"/>
          <p:cNvSpPr/>
          <p:nvPr/>
        </p:nvSpPr>
        <p:spPr>
          <a:xfrm>
            <a:off x="502920" y="5440680"/>
            <a:ext cx="10058400" cy="640080"/>
          </a:xfrm>
          <a:prstGeom prst="rect">
            <a:avLst/>
          </a:prstGeom>
          <a:noFill/>
          <a:ln/>
        </p:spPr>
        <p:txBody>
          <a:bodyPr wrap="square" lIns="0" tIns="0" rIns="0" bIns="0" rtlCol="0" anchor="ctr"/>
          <a:lstStyle/>
          <a:p>
            <a:pPr indent="0" marL="0">
              <a:buNone/>
            </a:pPr>
            <a:r>
              <a:rPr lang="en-US" sz="2600" b="1" dirty="0">
                <a:solidFill>
                  <a:srgbClr val="60A5FA"/>
                </a:solidFill>
                <a:latin typeface="Cambria" pitchFamily="34" charset="0"/>
                <a:ea typeface="Cambria" pitchFamily="34" charset="-122"/>
                <a:cs typeface="Cambria" pitchFamily="34" charset="-120"/>
              </a:rPr>
              <a:t>¿Preguntas?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de Remisión Electrónica (GRE) — Implementación con PHP</dc:title>
  <dc:subject>PptxGenJS Presentation</dc:subject>
  <dc:creator>CETI</dc:creator>
  <cp:lastModifiedBy>CETI</cp:lastModifiedBy>
  <cp:revision>1</cp:revision>
  <dcterms:created xsi:type="dcterms:W3CDTF">2026-06-25T02:12:58Z</dcterms:created>
  <dcterms:modified xsi:type="dcterms:W3CDTF">2026-06-25T02:12:58Z</dcterms:modified>
</cp:coreProperties>
</file>