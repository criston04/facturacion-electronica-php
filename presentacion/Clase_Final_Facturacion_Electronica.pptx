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Bienvenida. Esta es la última clase: cerramos el ciclo de comprobantes. Ya emiten boleta y factura; hoy agregamos notas de crédito/débito, la baja, el resumen diario de boletas, la consulta de estado y el código QR. La meta no es copiar código, sino entender el QUÉ, el CÓMO y el PORQUÉ de cada pieza.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Recorremos el temario del día. Cada bloque responde a un 'para qué' real del negocio: corregir/anular operaciones (notas y baja), cumplir con el reporte de boletas (resumen) y dar verificabilidad al comprobante (QR). Todo se apoya en lo que ya hicimos con boleta y factura.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nuestro sistema NO habla UBL ni firma certificados; arma datos (JSON) y se los pasa a un intermediario autorizado (OSE/PSE) que genera el XML, lo firma digitalmente y lo envía a SUNAT. Mencionar que centralizamos el envío HTTP en un solo método post() para no repetir cURL en cada operación: eso es reutilización y mantenibilidad.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está el 'porqué' que más confunde a los alumnos. El flyer dice 'firma de XML con PHP', pero en la práctica eso lo resuelve el OSE. Explicar la ventaja: manejar certificados y UBL a mano es complejo y propenso a errores; delegarlo nos deja concentrarnos en datos y reglas de negocio. Si quisieran hacerlo 100% en PHP, existen librerías (greenter), pero es otro nivel de esfuerzo.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nota de crédito SIEMPRE juega a la baja: anula, devuelve, descuenta o disminuye. El motivo no es texto libre: SUNAT define el catálogo 09. En el sistema lo cargamos como un &lt;select&gt; que viene del método NotaComprobante::motivosCredito(). Pedir ejemplos a los alumnos: '¿devolvieron un producto?' -&gt; nota de crédito 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nota de débito es el espejo: juega al alza. El caso más común en Perú es el interés por mora. Recalcar que en el código es exactamente la misma clase NotaComprobante; solo cambia el tipo (08) y el catálogo de motivos (10). Reutilizar la misma lógica para dos documentos es una decisión de diseño deliberada.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Decisión de arquitectura clave. En vez de crear tablas nota_credito/nota_debito (como otro proyecto que vimos), reutilizamos 'ventas'. Trade-off honesto: la tabla guarda varios tipos de documento, pero a cambio ganamos muchísimo: un solo listado, una sola impresión, un solo flujo de envío. Las columnas propias de la nota se añaden con un ALTER TABLE idempotente (solo si no existen) — eso es lo que llamamos esquema 'auto-evolutivo'.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Mostrar el código real. El concepto que deben memorizar: docs_referencia. Una nota es una corrección de algo, así que ese 'algo' debe identificarse con tipo+serie+número. Señalar que reutilizamos buildPayload() (el mismo que arma boletas/facturas) y solo sobre-escribimos lo propio de la nota: tipo 07/08, serie y la referencia. Reutilización otra vez.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serie codifica dos cosas: tipo de nota (C/D) y tipo de documento afectado (Factura/Boleta). Por eso 4 combinaciones. El correlativo es independiente por serie y se calcula con MAX(correlativo)+1 — explicar por qué no podemos compartir el correlativo de las boletas.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Recorrer el flujo. El punto pedagógico fuerte: separar la persistencia (transacción rápida en BD) del envío a la API (lento, por red). Hacemos commit ANTES de llamar a SUNAT para no mantener bloqueada la base esperando la red, y para no perder el comprobante si la red falla. Esto enlaza con la slide de resiliencia.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QR no es decorativo: es la 'representación impresa' verificable. Explicar cada campo de la cadena. Decisión técnica: lo generamos en el navegador con qrcodejs (CDN) para no agregar dependencias de PHP, coherente con que el proyecto ya usa librerías por CDN. El QR funciona igual para todos los comprobantes porque la cadena es estándar.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Error típico de principiantes: intentar 'dar de baja' una boleta con comunicación de baja. No se puede. SUNAT distingue: facturas y notas -&gt; comunicación de baja individual; boletas -&gt; resumen diario. En el código, deleteRegistro() decide la ruta según el tipo de comprobante. Es un buen ejemplo de cómo las reglas del negocio se traducen en ramas del código.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Concepto de comunicación asíncrona. SUNAT no responde 'aceptado' al instante en el modo masivo; entrega un ticket (como el ticket de una lavandería). Después consultamos ese ticket para obtener el CDR. En el sistema agregamos el botón 'Actualizar estado SUNAT' en el modal Ver, que llama a consultarEstadoSunat() y refresca el estado.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Resiliencia = el sistema no se rompe ante fallos. Hacemos commit en BD antes de llamar a la API; si la API o la red fallan, el comprobante queda 'pendiente' con su mensaje, y el usuario puede reintentar con la consulta de estado. Esto es importante para la nota honesta del proyecto: como aún no tenemos el endpoint real de notas, todas las notas quedan 'pendiente' hasta poner la URL correcta — y aun así no se pierde nada.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el 'por qué' del código bien hecho. No basta con que funcione: debe ser seguro (prepared statements), entendible (una clase por responsabilidad), mantenible (no repetir código) y robusto (idempotencia, manejo de errores). Pedir a los alumnos que identifiquen cada práctica en el código real que vimos.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de la demo. Hacerla en el navegador en http://localhost:8000. Recordar que el envío a SUNAT quedará 'pendiente' por el endpoint de prueba: aprovechar ese momento para explicar la slide de resiliencia. Invitar a los alumnos a predecir qué pasará en cada paso antes de hacer clic.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Resumir el logro: dominan el ciclo completo de comprobantes electrónicos en PHP. Recordar lo único que falta para producción real (los endpoints de notas), que es un cambio de una línea. Abrir a preguntas y, si hay tiempo, repasar el código de NotaComprobante con ellos.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A2E"/>
        </a:solidFill>
      </p:bgPr>
    </p:bg>
    <p:spTree>
      <p:nvGrpSpPr>
        <p:cNvPr id="1" name=""/>
        <p:cNvGrpSpPr/>
        <p:nvPr/>
      </p:nvGrpSpPr>
      <p:grpSpPr>
        <a:xfrm>
          <a:off x="0" y="0"/>
          <a:ext cx="0" cy="0"/>
          <a:chOff x="0" y="0"/>
          <a:chExt cx="0" cy="0"/>
        </a:xfrm>
      </p:grpSpPr>
      <p:sp>
        <p:nvSpPr>
          <p:cNvPr id="2" name="Shape 0"/>
          <p:cNvSpPr/>
          <p:nvPr/>
        </p:nvSpPr>
        <p:spPr>
          <a:xfrm>
            <a:off x="9692640" y="-1554480"/>
            <a:ext cx="4206240" cy="4206240"/>
          </a:xfrm>
          <a:prstGeom prst="ellipse">
            <a:avLst/>
          </a:prstGeom>
          <a:solidFill>
            <a:srgbClr val="0D9488">
              <a:alpha val="30000"/>
            </a:srgbClr>
          </a:solidFill>
          <a:ln/>
        </p:spPr>
      </p:sp>
      <p:sp>
        <p:nvSpPr>
          <p:cNvPr id="3" name="Shape 1"/>
          <p:cNvSpPr/>
          <p:nvPr/>
        </p:nvSpPr>
        <p:spPr>
          <a:xfrm>
            <a:off x="10698480" y="4206240"/>
            <a:ext cx="3108960" cy="3108960"/>
          </a:xfrm>
          <a:prstGeom prst="ellipse">
            <a:avLst/>
          </a:prstGeom>
          <a:solidFill>
            <a:srgbClr val="14B8A6">
              <a:alpha val="20000"/>
            </a:srgbClr>
          </a:solidFill>
          <a:ln/>
        </p:spPr>
      </p:sp>
      <p:sp>
        <p:nvSpPr>
          <p:cNvPr id="4" name="Text 2"/>
          <p:cNvSpPr/>
          <p:nvPr/>
        </p:nvSpPr>
        <p:spPr>
          <a:xfrm>
            <a:off x="548640" y="1371600"/>
            <a:ext cx="10058400" cy="365760"/>
          </a:xfrm>
          <a:prstGeom prst="rect">
            <a:avLst/>
          </a:prstGeom>
          <a:noFill/>
          <a:ln/>
        </p:spPr>
        <p:txBody>
          <a:bodyPr wrap="square" lIns="0" tIns="0" rIns="0" bIns="0" rtlCol="0" anchor="ctr"/>
          <a:lstStyle/>
          <a:p>
            <a:pPr indent="0" marL="0">
              <a:buNone/>
            </a:pPr>
            <a:r>
              <a:rPr lang="en-US" sz="1500" b="1" spc="300" kern="0" dirty="0">
                <a:solidFill>
                  <a:srgbClr val="5EEAD4"/>
                </a:solidFill>
                <a:latin typeface="Calibri" pitchFamily="34" charset="0"/>
                <a:ea typeface="Calibri" pitchFamily="34" charset="-122"/>
                <a:cs typeface="Calibri" pitchFamily="34" charset="-120"/>
              </a:rPr>
              <a:t>CURSO – TALLER · CETI</a:t>
            </a:r>
            <a:endParaRPr lang="en-US" sz="1500" dirty="0"/>
          </a:p>
        </p:txBody>
      </p:sp>
      <p:sp>
        <p:nvSpPr>
          <p:cNvPr id="5" name="Text 3"/>
          <p:cNvSpPr/>
          <p:nvPr/>
        </p:nvSpPr>
        <p:spPr>
          <a:xfrm>
            <a:off x="548640" y="1828800"/>
            <a:ext cx="10515600" cy="1280160"/>
          </a:xfrm>
          <a:prstGeom prst="rect">
            <a:avLst/>
          </a:prstGeom>
          <a:noFill/>
          <a:ln/>
        </p:spPr>
        <p:txBody>
          <a:bodyPr wrap="square" lIns="0" tIns="0" rIns="0" bIns="0" rtlCol="0" anchor="ctr"/>
          <a:lstStyle/>
          <a:p>
            <a:pPr indent="0" marL="0">
              <a:buNone/>
            </a:pPr>
            <a:r>
              <a:rPr lang="en-US" sz="5000" b="1" dirty="0">
                <a:solidFill>
                  <a:srgbClr val="FFFFFF"/>
                </a:solidFill>
                <a:latin typeface="Cambria" pitchFamily="34" charset="0"/>
                <a:ea typeface="Cambria" pitchFamily="34" charset="-122"/>
                <a:cs typeface="Cambria" pitchFamily="34" charset="-120"/>
              </a:rPr>
              <a:t>Facturación Electrónica con PHP</a:t>
            </a:r>
            <a:endParaRPr lang="en-US" sz="5000" dirty="0"/>
          </a:p>
        </p:txBody>
      </p:sp>
      <p:sp>
        <p:nvSpPr>
          <p:cNvPr id="6" name="Text 4"/>
          <p:cNvSpPr/>
          <p:nvPr/>
        </p:nvSpPr>
        <p:spPr>
          <a:xfrm>
            <a:off x="548640" y="3200400"/>
            <a:ext cx="10241280" cy="822960"/>
          </a:xfrm>
          <a:prstGeom prst="rect">
            <a:avLst/>
          </a:prstGeom>
          <a:noFill/>
          <a:ln/>
        </p:spPr>
        <p:txBody>
          <a:bodyPr wrap="square" lIns="0" tIns="0" rIns="0" bIns="0" rtlCol="0" anchor="ctr"/>
          <a:lstStyle/>
          <a:p>
            <a:pPr indent="0" marL="0">
              <a:buNone/>
            </a:pPr>
            <a:r>
              <a:rPr lang="en-US" sz="2200" dirty="0">
                <a:solidFill>
                  <a:srgbClr val="5EEAD4"/>
                </a:solidFill>
                <a:latin typeface="Calibri" pitchFamily="34" charset="0"/>
                <a:ea typeface="Calibri" pitchFamily="34" charset="-122"/>
                <a:cs typeface="Calibri" pitchFamily="34" charset="-120"/>
              </a:rPr>
              <a:t>Clase final: Notas de Crédito y Débito, Baja, Resumen Diario y Código QR</a:t>
            </a:r>
            <a:endParaRPr lang="en-US" sz="2200" dirty="0"/>
          </a:p>
        </p:txBody>
      </p:sp>
      <p:sp>
        <p:nvSpPr>
          <p:cNvPr id="7" name="Text 5"/>
          <p:cNvSpPr/>
          <p:nvPr/>
        </p:nvSpPr>
        <p:spPr>
          <a:xfrm>
            <a:off x="548640" y="5852160"/>
            <a:ext cx="10058400" cy="365760"/>
          </a:xfrm>
          <a:prstGeom prst="rect">
            <a:avLst/>
          </a:prstGeom>
          <a:noFill/>
          <a:ln/>
        </p:spPr>
        <p:txBody>
          <a:bodyPr wrap="square" lIns="0" tIns="0" rIns="0" bIns="0" rtlCol="0" anchor="ctr"/>
          <a:lstStyle/>
          <a:p>
            <a:pPr indent="0" marL="0">
              <a:buNone/>
            </a:pPr>
            <a:r>
              <a:rPr lang="en-US" sz="1400" i="1" dirty="0">
                <a:solidFill>
                  <a:srgbClr val="9AE6D6"/>
                </a:solidFill>
                <a:latin typeface="Calibri" pitchFamily="34" charset="0"/>
                <a:ea typeface="Calibri" pitchFamily="34" charset="-122"/>
                <a:cs typeface="Calibri" pitchFamily="34" charset="-120"/>
              </a:rPr>
              <a:t>Comunicación con los Web Services de SUNAT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indent="0" marL="0">
              <a:buNone/>
            </a:pPr>
            <a:r>
              <a:rPr lang="en-US" sz="1300" b="1" spc="200" kern="0" dirty="0">
                <a:solidFill>
                  <a:srgbClr val="0D9488"/>
                </a:solidFill>
                <a:latin typeface="Calibri" pitchFamily="34" charset="0"/>
                <a:ea typeface="Calibri" pitchFamily="34" charset="-122"/>
                <a:cs typeface="Calibri" pitchFamily="34" charset="-120"/>
              </a:rPr>
              <a:t>AGENDA</a:t>
            </a:r>
            <a:endParaRPr lang="en-US" sz="1300" dirty="0"/>
          </a:p>
        </p:txBody>
      </p:sp>
      <p:sp>
        <p:nvSpPr>
          <p:cNvPr id="3" name="Text 1"/>
          <p:cNvSpPr/>
          <p:nvPr/>
        </p:nvSpPr>
        <p:spPr>
          <a:xfrm>
            <a:off x="548640" y="658368"/>
            <a:ext cx="11064240" cy="777240"/>
          </a:xfrm>
          <a:prstGeom prst="rect">
            <a:avLst/>
          </a:prstGeom>
          <a:noFill/>
          <a:ln/>
        </p:spPr>
        <p:txBody>
          <a:bodyPr wrap="square" lIns="0" tIns="0" rIns="0" bIns="0" rtlCol="0" anchor="t"/>
          <a:lstStyle/>
          <a:p>
            <a:pPr indent="0" marL="0">
              <a:buNone/>
            </a:pPr>
            <a:r>
              <a:rPr lang="en-US" sz="3000" b="1" dirty="0">
                <a:solidFill>
                  <a:srgbClr val="1E293B"/>
                </a:solidFill>
                <a:latin typeface="Cambria" pitchFamily="34" charset="0"/>
                <a:ea typeface="Cambria" pitchFamily="34" charset="-122"/>
                <a:cs typeface="Cambria" pitchFamily="34" charset="-120"/>
              </a:rPr>
              <a:t>Lo que construiremos y entenderemos hoy</a:t>
            </a:r>
            <a:endParaRPr lang="en-US" sz="3000" dirty="0"/>
          </a:p>
        </p:txBody>
      </p:sp>
      <p:sp>
        <p:nvSpPr>
          <p:cNvPr id="4" name="Shape 2"/>
          <p:cNvSpPr/>
          <p:nvPr/>
        </p:nvSpPr>
        <p:spPr>
          <a:xfrm>
            <a:off x="548640" y="1600200"/>
            <a:ext cx="3657600" cy="1874520"/>
          </a:xfrm>
          <a:prstGeom prst="roundRect">
            <a:avLst>
              <a:gd name="adj" fmla="val 3902"/>
            </a:avLst>
          </a:prstGeom>
          <a:solidFill>
            <a:srgbClr val="F0FDFA"/>
          </a:solidFill>
          <a:ln/>
          <a:effectLst>
            <a:outerShdw sx="100000" sy="100000" kx="0" ky="0" algn="bl" rotWithShape="0" blurRad="101600" dist="38100" dir="5400000">
              <a:srgbClr val="000000">
                <a:alpha val="12000"/>
              </a:srgbClr>
            </a:outerShdw>
          </a:effectLst>
        </p:spPr>
      </p:sp>
      <p:sp>
        <p:nvSpPr>
          <p:cNvPr id="5" name="Shape 3"/>
          <p:cNvSpPr/>
          <p:nvPr/>
        </p:nvSpPr>
        <p:spPr>
          <a:xfrm>
            <a:off x="804672" y="1856232"/>
            <a:ext cx="566928" cy="566928"/>
          </a:xfrm>
          <a:prstGeom prst="ellipse">
            <a:avLst/>
          </a:prstGeom>
          <a:solidFill>
            <a:srgbClr val="0D9488"/>
          </a:solidFill>
          <a:ln/>
        </p:spPr>
      </p:sp>
      <p:sp>
        <p:nvSpPr>
          <p:cNvPr id="6" name="Text 4"/>
          <p:cNvSpPr/>
          <p:nvPr/>
        </p:nvSpPr>
        <p:spPr>
          <a:xfrm>
            <a:off x="804672" y="1856232"/>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7" name="Text 5"/>
          <p:cNvSpPr/>
          <p:nvPr/>
        </p:nvSpPr>
        <p:spPr>
          <a:xfrm>
            <a:off x="1508760" y="1874520"/>
            <a:ext cx="2560320" cy="548640"/>
          </a:xfrm>
          <a:prstGeom prst="rect">
            <a:avLst/>
          </a:prstGeom>
          <a:noFill/>
          <a:ln/>
        </p:spPr>
        <p:txBody>
          <a:bodyPr wrap="square" lIns="0" tIns="0" rIns="0" bIns="0" rtlCol="0" anchor="ctr"/>
          <a:lstStyle/>
          <a:p>
            <a:pPr indent="0" marL="0">
              <a:buNone/>
            </a:pPr>
            <a:r>
              <a:rPr lang="en-US" sz="1650" b="1" dirty="0">
                <a:solidFill>
                  <a:srgbClr val="1E293B"/>
                </a:solidFill>
                <a:latin typeface="Calibri" pitchFamily="34" charset="0"/>
                <a:ea typeface="Calibri" pitchFamily="34" charset="-122"/>
                <a:cs typeface="Calibri" pitchFamily="34" charset="-120"/>
              </a:rPr>
              <a:t>Repaso de la arquitectura</a:t>
            </a:r>
            <a:endParaRPr lang="en-US" sz="1650" dirty="0"/>
          </a:p>
        </p:txBody>
      </p:sp>
      <p:sp>
        <p:nvSpPr>
          <p:cNvPr id="8" name="Text 6"/>
          <p:cNvSpPr/>
          <p:nvPr/>
        </p:nvSpPr>
        <p:spPr>
          <a:xfrm>
            <a:off x="804672" y="2560320"/>
            <a:ext cx="3200400" cy="73152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Cómo viaja un comprobante hasta SUNAT</a:t>
            </a:r>
            <a:endParaRPr lang="en-US" sz="1300" dirty="0"/>
          </a:p>
        </p:txBody>
      </p:sp>
      <p:sp>
        <p:nvSpPr>
          <p:cNvPr id="9" name="Shape 7"/>
          <p:cNvSpPr/>
          <p:nvPr/>
        </p:nvSpPr>
        <p:spPr>
          <a:xfrm>
            <a:off x="4233672" y="1600200"/>
            <a:ext cx="3657600" cy="1874520"/>
          </a:xfrm>
          <a:prstGeom prst="roundRect">
            <a:avLst>
              <a:gd name="adj" fmla="val 3902"/>
            </a:avLst>
          </a:prstGeom>
          <a:solidFill>
            <a:srgbClr val="F0FDFA"/>
          </a:solidFill>
          <a:ln/>
          <a:effectLst>
            <a:outerShdw sx="100000" sy="100000" kx="0" ky="0" algn="bl" rotWithShape="0" blurRad="101600" dist="38100" dir="5400000">
              <a:srgbClr val="000000">
                <a:alpha val="12000"/>
              </a:srgbClr>
            </a:outerShdw>
          </a:effectLst>
        </p:spPr>
      </p:sp>
      <p:sp>
        <p:nvSpPr>
          <p:cNvPr id="10" name="Shape 8"/>
          <p:cNvSpPr/>
          <p:nvPr/>
        </p:nvSpPr>
        <p:spPr>
          <a:xfrm>
            <a:off x="4489704" y="1856232"/>
            <a:ext cx="566928" cy="566928"/>
          </a:xfrm>
          <a:prstGeom prst="ellipse">
            <a:avLst/>
          </a:prstGeom>
          <a:solidFill>
            <a:srgbClr val="0D9488"/>
          </a:solidFill>
          <a:ln/>
        </p:spPr>
      </p:sp>
      <p:sp>
        <p:nvSpPr>
          <p:cNvPr id="11" name="Text 9"/>
          <p:cNvSpPr/>
          <p:nvPr/>
        </p:nvSpPr>
        <p:spPr>
          <a:xfrm>
            <a:off x="4489704" y="1856232"/>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2" name="Text 10"/>
          <p:cNvSpPr/>
          <p:nvPr/>
        </p:nvSpPr>
        <p:spPr>
          <a:xfrm>
            <a:off x="5193792" y="1874520"/>
            <a:ext cx="2560320" cy="548640"/>
          </a:xfrm>
          <a:prstGeom prst="rect">
            <a:avLst/>
          </a:prstGeom>
          <a:noFill/>
          <a:ln/>
        </p:spPr>
        <p:txBody>
          <a:bodyPr wrap="square" lIns="0" tIns="0" rIns="0" bIns="0" rtlCol="0" anchor="ctr"/>
          <a:lstStyle/>
          <a:p>
            <a:pPr indent="0" marL="0">
              <a:buNone/>
            </a:pPr>
            <a:r>
              <a:rPr lang="en-US" sz="1650" b="1" dirty="0">
                <a:solidFill>
                  <a:srgbClr val="1E293B"/>
                </a:solidFill>
                <a:latin typeface="Calibri" pitchFamily="34" charset="0"/>
                <a:ea typeface="Calibri" pitchFamily="34" charset="-122"/>
                <a:cs typeface="Calibri" pitchFamily="34" charset="-120"/>
              </a:rPr>
              <a:t>Notas de crédito y débito</a:t>
            </a:r>
            <a:endParaRPr lang="en-US" sz="1650" dirty="0"/>
          </a:p>
        </p:txBody>
      </p:sp>
      <p:sp>
        <p:nvSpPr>
          <p:cNvPr id="13" name="Text 11"/>
          <p:cNvSpPr/>
          <p:nvPr/>
        </p:nvSpPr>
        <p:spPr>
          <a:xfrm>
            <a:off x="4489704" y="2560320"/>
            <a:ext cx="3200400" cy="73152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Tipos 07 y 08, con su motivo y referencia</a:t>
            </a:r>
            <a:endParaRPr lang="en-US" sz="1300" dirty="0"/>
          </a:p>
        </p:txBody>
      </p:sp>
      <p:sp>
        <p:nvSpPr>
          <p:cNvPr id="14" name="Shape 12"/>
          <p:cNvSpPr/>
          <p:nvPr/>
        </p:nvSpPr>
        <p:spPr>
          <a:xfrm>
            <a:off x="7918704" y="1600200"/>
            <a:ext cx="3657600" cy="1874520"/>
          </a:xfrm>
          <a:prstGeom prst="roundRect">
            <a:avLst>
              <a:gd name="adj" fmla="val 3902"/>
            </a:avLst>
          </a:prstGeom>
          <a:solidFill>
            <a:srgbClr val="F0FDFA"/>
          </a:solidFill>
          <a:ln/>
          <a:effectLst>
            <a:outerShdw sx="100000" sy="100000" kx="0" ky="0" algn="bl" rotWithShape="0" blurRad="101600" dist="38100" dir="5400000">
              <a:srgbClr val="000000">
                <a:alpha val="12000"/>
              </a:srgbClr>
            </a:outerShdw>
          </a:effectLst>
        </p:spPr>
      </p:sp>
      <p:sp>
        <p:nvSpPr>
          <p:cNvPr id="15" name="Shape 13"/>
          <p:cNvSpPr/>
          <p:nvPr/>
        </p:nvSpPr>
        <p:spPr>
          <a:xfrm>
            <a:off x="8174736" y="1856232"/>
            <a:ext cx="566928" cy="566928"/>
          </a:xfrm>
          <a:prstGeom prst="ellipse">
            <a:avLst/>
          </a:prstGeom>
          <a:solidFill>
            <a:srgbClr val="0D9488"/>
          </a:solidFill>
          <a:ln/>
        </p:spPr>
      </p:sp>
      <p:sp>
        <p:nvSpPr>
          <p:cNvPr id="16" name="Text 14"/>
          <p:cNvSpPr/>
          <p:nvPr/>
        </p:nvSpPr>
        <p:spPr>
          <a:xfrm>
            <a:off x="8174736" y="1856232"/>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7" name="Text 15"/>
          <p:cNvSpPr/>
          <p:nvPr/>
        </p:nvSpPr>
        <p:spPr>
          <a:xfrm>
            <a:off x="8878824" y="1874520"/>
            <a:ext cx="2560320" cy="548640"/>
          </a:xfrm>
          <a:prstGeom prst="rect">
            <a:avLst/>
          </a:prstGeom>
          <a:noFill/>
          <a:ln/>
        </p:spPr>
        <p:txBody>
          <a:bodyPr wrap="square" lIns="0" tIns="0" rIns="0" bIns="0" rtlCol="0" anchor="ctr"/>
          <a:lstStyle/>
          <a:p>
            <a:pPr indent="0" marL="0">
              <a:buNone/>
            </a:pPr>
            <a:r>
              <a:rPr lang="en-US" sz="1650" b="1" dirty="0">
                <a:solidFill>
                  <a:srgbClr val="1E293B"/>
                </a:solidFill>
                <a:latin typeface="Calibri" pitchFamily="34" charset="0"/>
                <a:ea typeface="Calibri" pitchFamily="34" charset="-122"/>
                <a:cs typeface="Calibri" pitchFamily="34" charset="-120"/>
              </a:rPr>
              <a:t>Código QR</a:t>
            </a:r>
            <a:endParaRPr lang="en-US" sz="1650" dirty="0"/>
          </a:p>
        </p:txBody>
      </p:sp>
      <p:sp>
        <p:nvSpPr>
          <p:cNvPr id="18" name="Text 16"/>
          <p:cNvSpPr/>
          <p:nvPr/>
        </p:nvSpPr>
        <p:spPr>
          <a:xfrm>
            <a:off x="8174736" y="2560320"/>
            <a:ext cx="3200400" cy="73152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La representación impresa verificable</a:t>
            </a:r>
            <a:endParaRPr lang="en-US" sz="1300" dirty="0"/>
          </a:p>
        </p:txBody>
      </p:sp>
      <p:sp>
        <p:nvSpPr>
          <p:cNvPr id="19" name="Shape 17"/>
          <p:cNvSpPr/>
          <p:nvPr/>
        </p:nvSpPr>
        <p:spPr>
          <a:xfrm>
            <a:off x="548640" y="3703320"/>
            <a:ext cx="3657600" cy="1874520"/>
          </a:xfrm>
          <a:prstGeom prst="roundRect">
            <a:avLst>
              <a:gd name="adj" fmla="val 3902"/>
            </a:avLst>
          </a:prstGeom>
          <a:solidFill>
            <a:srgbClr val="F0FDFA"/>
          </a:solidFill>
          <a:ln/>
          <a:effectLst>
            <a:outerShdw sx="100000" sy="100000" kx="0" ky="0" algn="bl" rotWithShape="0" blurRad="101600" dist="38100" dir="5400000">
              <a:srgbClr val="000000">
                <a:alpha val="12000"/>
              </a:srgbClr>
            </a:outerShdw>
          </a:effectLst>
        </p:spPr>
      </p:sp>
      <p:sp>
        <p:nvSpPr>
          <p:cNvPr id="20" name="Shape 18"/>
          <p:cNvSpPr/>
          <p:nvPr/>
        </p:nvSpPr>
        <p:spPr>
          <a:xfrm>
            <a:off x="804672" y="3959352"/>
            <a:ext cx="566928" cy="566928"/>
          </a:xfrm>
          <a:prstGeom prst="ellipse">
            <a:avLst/>
          </a:prstGeom>
          <a:solidFill>
            <a:srgbClr val="0D9488"/>
          </a:solidFill>
          <a:ln/>
        </p:spPr>
      </p:sp>
      <p:sp>
        <p:nvSpPr>
          <p:cNvPr id="21" name="Text 19"/>
          <p:cNvSpPr/>
          <p:nvPr/>
        </p:nvSpPr>
        <p:spPr>
          <a:xfrm>
            <a:off x="804672" y="3959352"/>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22" name="Text 20"/>
          <p:cNvSpPr/>
          <p:nvPr/>
        </p:nvSpPr>
        <p:spPr>
          <a:xfrm>
            <a:off x="1508760" y="3977640"/>
            <a:ext cx="2560320" cy="548640"/>
          </a:xfrm>
          <a:prstGeom prst="rect">
            <a:avLst/>
          </a:prstGeom>
          <a:noFill/>
          <a:ln/>
        </p:spPr>
        <p:txBody>
          <a:bodyPr wrap="square" lIns="0" tIns="0" rIns="0" bIns="0" rtlCol="0" anchor="ctr"/>
          <a:lstStyle/>
          <a:p>
            <a:pPr indent="0" marL="0">
              <a:buNone/>
            </a:pPr>
            <a:r>
              <a:rPr lang="en-US" sz="1650" b="1" dirty="0">
                <a:solidFill>
                  <a:srgbClr val="1E293B"/>
                </a:solidFill>
                <a:latin typeface="Calibri" pitchFamily="34" charset="0"/>
                <a:ea typeface="Calibri" pitchFamily="34" charset="-122"/>
                <a:cs typeface="Calibri" pitchFamily="34" charset="-120"/>
              </a:rPr>
              <a:t>Consulta de estado</a:t>
            </a:r>
            <a:endParaRPr lang="en-US" sz="1650" dirty="0"/>
          </a:p>
        </p:txBody>
      </p:sp>
      <p:sp>
        <p:nvSpPr>
          <p:cNvPr id="23" name="Text 21"/>
          <p:cNvSpPr/>
          <p:nvPr/>
        </p:nvSpPr>
        <p:spPr>
          <a:xfrm>
            <a:off x="804672" y="4663440"/>
            <a:ext cx="3200400" cy="73152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Preguntar a SUNAT por el ticket</a:t>
            </a:r>
            <a:endParaRPr lang="en-US" sz="1300" dirty="0"/>
          </a:p>
        </p:txBody>
      </p:sp>
      <p:sp>
        <p:nvSpPr>
          <p:cNvPr id="24" name="Shape 22"/>
          <p:cNvSpPr/>
          <p:nvPr/>
        </p:nvSpPr>
        <p:spPr>
          <a:xfrm>
            <a:off x="4233672" y="3703320"/>
            <a:ext cx="3657600" cy="1874520"/>
          </a:xfrm>
          <a:prstGeom prst="roundRect">
            <a:avLst>
              <a:gd name="adj" fmla="val 3902"/>
            </a:avLst>
          </a:prstGeom>
          <a:solidFill>
            <a:srgbClr val="F0FDFA"/>
          </a:solidFill>
          <a:ln/>
          <a:effectLst>
            <a:outerShdw sx="100000" sy="100000" kx="0" ky="0" algn="bl" rotWithShape="0" blurRad="101600" dist="38100" dir="5400000">
              <a:srgbClr val="000000">
                <a:alpha val="12000"/>
              </a:srgbClr>
            </a:outerShdw>
          </a:effectLst>
        </p:spPr>
      </p:sp>
      <p:sp>
        <p:nvSpPr>
          <p:cNvPr id="25" name="Shape 23"/>
          <p:cNvSpPr/>
          <p:nvPr/>
        </p:nvSpPr>
        <p:spPr>
          <a:xfrm>
            <a:off x="4489704" y="3959352"/>
            <a:ext cx="566928" cy="566928"/>
          </a:xfrm>
          <a:prstGeom prst="ellipse">
            <a:avLst/>
          </a:prstGeom>
          <a:solidFill>
            <a:srgbClr val="0D9488"/>
          </a:solidFill>
          <a:ln/>
        </p:spPr>
      </p:sp>
      <p:sp>
        <p:nvSpPr>
          <p:cNvPr id="26" name="Text 24"/>
          <p:cNvSpPr/>
          <p:nvPr/>
        </p:nvSpPr>
        <p:spPr>
          <a:xfrm>
            <a:off x="4489704" y="3959352"/>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5</a:t>
            </a:r>
            <a:endParaRPr lang="en-US" sz="2200" dirty="0"/>
          </a:p>
        </p:txBody>
      </p:sp>
      <p:sp>
        <p:nvSpPr>
          <p:cNvPr id="27" name="Text 25"/>
          <p:cNvSpPr/>
          <p:nvPr/>
        </p:nvSpPr>
        <p:spPr>
          <a:xfrm>
            <a:off x="5193792" y="3977640"/>
            <a:ext cx="2560320" cy="548640"/>
          </a:xfrm>
          <a:prstGeom prst="rect">
            <a:avLst/>
          </a:prstGeom>
          <a:noFill/>
          <a:ln/>
        </p:spPr>
        <p:txBody>
          <a:bodyPr wrap="square" lIns="0" tIns="0" rIns="0" bIns="0" rtlCol="0" anchor="ctr"/>
          <a:lstStyle/>
          <a:p>
            <a:pPr indent="0" marL="0">
              <a:buNone/>
            </a:pPr>
            <a:r>
              <a:rPr lang="en-US" sz="1650" b="1" dirty="0">
                <a:solidFill>
                  <a:srgbClr val="1E293B"/>
                </a:solidFill>
                <a:latin typeface="Calibri" pitchFamily="34" charset="0"/>
                <a:ea typeface="Calibri" pitchFamily="34" charset="-122"/>
                <a:cs typeface="Calibri" pitchFamily="34" charset="-120"/>
              </a:rPr>
              <a:t>Baja de documentos</a:t>
            </a:r>
            <a:endParaRPr lang="en-US" sz="1650" dirty="0"/>
          </a:p>
        </p:txBody>
      </p:sp>
      <p:sp>
        <p:nvSpPr>
          <p:cNvPr id="28" name="Text 26"/>
          <p:cNvSpPr/>
          <p:nvPr/>
        </p:nvSpPr>
        <p:spPr>
          <a:xfrm>
            <a:off x="4489704" y="4663440"/>
            <a:ext cx="3200400" cy="73152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Anular ante SUNAT correctamente</a:t>
            </a:r>
            <a:endParaRPr lang="en-US" sz="1300" dirty="0"/>
          </a:p>
        </p:txBody>
      </p:sp>
      <p:sp>
        <p:nvSpPr>
          <p:cNvPr id="29" name="Shape 27"/>
          <p:cNvSpPr/>
          <p:nvPr/>
        </p:nvSpPr>
        <p:spPr>
          <a:xfrm>
            <a:off x="7918704" y="3703320"/>
            <a:ext cx="3657600" cy="1874520"/>
          </a:xfrm>
          <a:prstGeom prst="roundRect">
            <a:avLst>
              <a:gd name="adj" fmla="val 3902"/>
            </a:avLst>
          </a:prstGeom>
          <a:solidFill>
            <a:srgbClr val="F0FDFA"/>
          </a:solidFill>
          <a:ln/>
          <a:effectLst>
            <a:outerShdw sx="100000" sy="100000" kx="0" ky="0" algn="bl" rotWithShape="0" blurRad="101600" dist="38100" dir="5400000">
              <a:srgbClr val="000000">
                <a:alpha val="12000"/>
              </a:srgbClr>
            </a:outerShdw>
          </a:effectLst>
        </p:spPr>
      </p:sp>
      <p:sp>
        <p:nvSpPr>
          <p:cNvPr id="30" name="Shape 28"/>
          <p:cNvSpPr/>
          <p:nvPr/>
        </p:nvSpPr>
        <p:spPr>
          <a:xfrm>
            <a:off x="8174736" y="3959352"/>
            <a:ext cx="566928" cy="566928"/>
          </a:xfrm>
          <a:prstGeom prst="ellipse">
            <a:avLst/>
          </a:prstGeom>
          <a:solidFill>
            <a:srgbClr val="0D9488"/>
          </a:solidFill>
          <a:ln/>
        </p:spPr>
      </p:sp>
      <p:sp>
        <p:nvSpPr>
          <p:cNvPr id="31" name="Text 29"/>
          <p:cNvSpPr/>
          <p:nvPr/>
        </p:nvSpPr>
        <p:spPr>
          <a:xfrm>
            <a:off x="8174736" y="3959352"/>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6</a:t>
            </a:r>
            <a:endParaRPr lang="en-US" sz="2200" dirty="0"/>
          </a:p>
        </p:txBody>
      </p:sp>
      <p:sp>
        <p:nvSpPr>
          <p:cNvPr id="32" name="Text 30"/>
          <p:cNvSpPr/>
          <p:nvPr/>
        </p:nvSpPr>
        <p:spPr>
          <a:xfrm>
            <a:off x="8878824" y="3977640"/>
            <a:ext cx="2560320" cy="548640"/>
          </a:xfrm>
          <a:prstGeom prst="rect">
            <a:avLst/>
          </a:prstGeom>
          <a:noFill/>
          <a:ln/>
        </p:spPr>
        <p:txBody>
          <a:bodyPr wrap="square" lIns="0" tIns="0" rIns="0" bIns="0" rtlCol="0" anchor="ctr"/>
          <a:lstStyle/>
          <a:p>
            <a:pPr indent="0" marL="0">
              <a:buNone/>
            </a:pPr>
            <a:r>
              <a:rPr lang="en-US" sz="1650" b="1" dirty="0">
                <a:solidFill>
                  <a:srgbClr val="1E293B"/>
                </a:solidFill>
                <a:latin typeface="Calibri" pitchFamily="34" charset="0"/>
                <a:ea typeface="Calibri" pitchFamily="34" charset="-122"/>
                <a:cs typeface="Calibri" pitchFamily="34" charset="-120"/>
              </a:rPr>
              <a:t>Resumen diario</a:t>
            </a:r>
            <a:endParaRPr lang="en-US" sz="1650" dirty="0"/>
          </a:p>
        </p:txBody>
      </p:sp>
      <p:sp>
        <p:nvSpPr>
          <p:cNvPr id="33" name="Text 31"/>
          <p:cNvSpPr/>
          <p:nvPr/>
        </p:nvSpPr>
        <p:spPr>
          <a:xfrm>
            <a:off x="8174736" y="4663440"/>
            <a:ext cx="3200400" cy="73152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Informar las boletas del día</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indent="0" marL="0">
              <a:buNone/>
            </a:pPr>
            <a:r>
              <a:rPr lang="en-US" sz="1300" b="1" spc="200" kern="0" dirty="0">
                <a:solidFill>
                  <a:srgbClr val="0D9488"/>
                </a:solidFill>
                <a:latin typeface="Calibri" pitchFamily="34" charset="0"/>
                <a:ea typeface="Calibri" pitchFamily="34" charset="-122"/>
                <a:cs typeface="Calibri" pitchFamily="34" charset="-120"/>
              </a:rPr>
              <a:t>REPASO</a:t>
            </a:r>
            <a:endParaRPr lang="en-US" sz="1300" dirty="0"/>
          </a:p>
        </p:txBody>
      </p:sp>
      <p:sp>
        <p:nvSpPr>
          <p:cNvPr id="3" name="Text 1"/>
          <p:cNvSpPr/>
          <p:nvPr/>
        </p:nvSpPr>
        <p:spPr>
          <a:xfrm>
            <a:off x="548640" y="658368"/>
            <a:ext cx="11064240" cy="777240"/>
          </a:xfrm>
          <a:prstGeom prst="rect">
            <a:avLst/>
          </a:prstGeom>
          <a:noFill/>
          <a:ln/>
        </p:spPr>
        <p:txBody>
          <a:bodyPr wrap="square" lIns="0" tIns="0" rIns="0" bIns="0" rtlCol="0" anchor="t"/>
          <a:lstStyle/>
          <a:p>
            <a:pPr indent="0" marL="0">
              <a:buNone/>
            </a:pPr>
            <a:r>
              <a:rPr lang="en-US" sz="3000" b="1" dirty="0">
                <a:solidFill>
                  <a:srgbClr val="1E293B"/>
                </a:solidFill>
                <a:latin typeface="Cambria" pitchFamily="34" charset="0"/>
                <a:ea typeface="Cambria" pitchFamily="34" charset="-122"/>
                <a:cs typeface="Cambria" pitchFamily="34" charset="-120"/>
              </a:rPr>
              <a:t>¿Cómo viaja un comprobante hasta SUNAT?</a:t>
            </a:r>
            <a:endParaRPr lang="en-US" sz="3000" dirty="0"/>
          </a:p>
        </p:txBody>
      </p:sp>
      <p:sp>
        <p:nvSpPr>
          <p:cNvPr id="4" name="Shape 2"/>
          <p:cNvSpPr/>
          <p:nvPr/>
        </p:nvSpPr>
        <p:spPr>
          <a:xfrm>
            <a:off x="548640" y="2103120"/>
            <a:ext cx="3383280" cy="1737360"/>
          </a:xfrm>
          <a:prstGeom prst="roundRect">
            <a:avLst>
              <a:gd name="adj" fmla="val 4211"/>
            </a:avLst>
          </a:prstGeom>
          <a:solidFill>
            <a:srgbClr val="F0FDFA"/>
          </a:solidFill>
          <a:ln/>
          <a:effectLst>
            <a:outerShdw sx="100000" sy="100000" kx="0" ky="0" algn="bl" rotWithShape="0" blurRad="101600" dist="38100" dir="5400000">
              <a:srgbClr val="000000">
                <a:alpha val="12000"/>
              </a:srgbClr>
            </a:outerShdw>
          </a:effectLst>
        </p:spPr>
      </p:sp>
      <p:sp>
        <p:nvSpPr>
          <p:cNvPr id="5" name="Text 3"/>
          <p:cNvSpPr/>
          <p:nvPr/>
        </p:nvSpPr>
        <p:spPr>
          <a:xfrm>
            <a:off x="731520" y="2331720"/>
            <a:ext cx="3017520" cy="548640"/>
          </a:xfrm>
          <a:prstGeom prst="rect">
            <a:avLst/>
          </a:prstGeom>
          <a:noFill/>
          <a:ln/>
        </p:spPr>
        <p:txBody>
          <a:bodyPr wrap="square" lIns="0" tIns="0" rIns="0" bIns="0" rtlCol="0" anchor="ctr"/>
          <a:lstStyle/>
          <a:p>
            <a:pPr algn="ctr" indent="0" marL="0">
              <a:buNone/>
            </a:pPr>
            <a:r>
              <a:rPr lang="en-US" sz="1700" b="1" dirty="0">
                <a:solidFill>
                  <a:srgbClr val="1E293B"/>
                </a:solidFill>
                <a:latin typeface="Calibri" pitchFamily="34" charset="0"/>
                <a:ea typeface="Calibri" pitchFamily="34" charset="-122"/>
                <a:cs typeface="Calibri" pitchFamily="34" charset="-120"/>
              </a:rPr>
              <a:t>Nuestro sistema PHP</a:t>
            </a:r>
            <a:endParaRPr lang="en-US" sz="1700" dirty="0"/>
          </a:p>
        </p:txBody>
      </p:sp>
      <p:sp>
        <p:nvSpPr>
          <p:cNvPr id="6" name="Text 4"/>
          <p:cNvSpPr/>
          <p:nvPr/>
        </p:nvSpPr>
        <p:spPr>
          <a:xfrm>
            <a:off x="731520" y="2926080"/>
            <a:ext cx="3017520" cy="777240"/>
          </a:xfrm>
          <a:prstGeom prst="rect">
            <a:avLst/>
          </a:prstGeom>
          <a:noFill/>
          <a:ln/>
        </p:spPr>
        <p:txBody>
          <a:bodyPr wrap="square" lIns="0" tIns="0" rIns="0" bIns="0" rtlCol="0" anchor="t"/>
          <a:lstStyle/>
          <a:p>
            <a:pPr algn="ctr" indent="0" marL="0">
              <a:buNone/>
            </a:pPr>
            <a:r>
              <a:rPr lang="en-US" sz="1300" dirty="0">
                <a:solidFill>
                  <a:srgbClr val="64748B"/>
                </a:solidFill>
                <a:latin typeface="Calibri" pitchFamily="34" charset="0"/>
                <a:ea typeface="Calibri" pitchFamily="34" charset="-122"/>
                <a:cs typeface="Calibri" pitchFamily="34" charset="-120"/>
              </a:rPr>
              <a:t>Venta / NotaComprobante</a:t>
            </a:r>
            <a:endParaRPr lang="en-US" sz="1300" dirty="0"/>
          </a:p>
          <a:p>
            <a:pPr algn="ctr" indent="0" marL="0">
              <a:buNone/>
            </a:pPr>
            <a:r>
              <a:rPr lang="en-US" sz="1300" dirty="0">
                <a:solidFill>
                  <a:srgbClr val="64748B"/>
                </a:solidFill>
                <a:latin typeface="Calibri" pitchFamily="34" charset="0"/>
                <a:ea typeface="Calibri" pitchFamily="34" charset="-122"/>
                <a:cs typeface="Calibri" pitchFamily="34" charset="-120"/>
              </a:rPr>
              <a:t>arma los datos</a:t>
            </a:r>
            <a:endParaRPr lang="en-US" sz="1300" dirty="0"/>
          </a:p>
        </p:txBody>
      </p:sp>
      <p:sp>
        <p:nvSpPr>
          <p:cNvPr id="7" name="Text 5"/>
          <p:cNvSpPr/>
          <p:nvPr/>
        </p:nvSpPr>
        <p:spPr>
          <a:xfrm>
            <a:off x="3886200" y="2560320"/>
            <a:ext cx="594360" cy="822960"/>
          </a:xfrm>
          <a:prstGeom prst="rect">
            <a:avLst/>
          </a:prstGeom>
          <a:noFill/>
          <a:ln/>
        </p:spPr>
        <p:txBody>
          <a:bodyPr wrap="square" lIns="0" tIns="0" rIns="0" bIns="0" rtlCol="0" anchor="ctr"/>
          <a:lstStyle/>
          <a:p>
            <a:pPr algn="ctr" indent="0" marL="0">
              <a:buNone/>
            </a:pPr>
            <a:r>
              <a:rPr lang="en-US" sz="3000" b="1" dirty="0">
                <a:solidFill>
                  <a:srgbClr val="0D9488"/>
                </a:solidFill>
                <a:latin typeface="Calibri" pitchFamily="34" charset="0"/>
                <a:ea typeface="Calibri" pitchFamily="34" charset="-122"/>
                <a:cs typeface="Calibri" pitchFamily="34" charset="-120"/>
              </a:rPr>
              <a:t>➜</a:t>
            </a:r>
            <a:endParaRPr lang="en-US" sz="3000" dirty="0"/>
          </a:p>
        </p:txBody>
      </p:sp>
      <p:sp>
        <p:nvSpPr>
          <p:cNvPr id="8" name="Shape 6"/>
          <p:cNvSpPr/>
          <p:nvPr/>
        </p:nvSpPr>
        <p:spPr>
          <a:xfrm>
            <a:off x="4434840" y="2103120"/>
            <a:ext cx="3383280" cy="1737360"/>
          </a:xfrm>
          <a:prstGeom prst="roundRect">
            <a:avLst>
              <a:gd name="adj" fmla="val 4211"/>
            </a:avLst>
          </a:prstGeom>
          <a:solidFill>
            <a:srgbClr val="F0FDFA"/>
          </a:solidFill>
          <a:ln/>
          <a:effectLst>
            <a:outerShdw sx="100000" sy="100000" kx="0" ky="0" algn="bl" rotWithShape="0" blurRad="101600" dist="38100" dir="5400000">
              <a:srgbClr val="000000">
                <a:alpha val="12000"/>
              </a:srgbClr>
            </a:outerShdw>
          </a:effectLst>
        </p:spPr>
      </p:sp>
      <p:sp>
        <p:nvSpPr>
          <p:cNvPr id="9" name="Text 7"/>
          <p:cNvSpPr/>
          <p:nvPr/>
        </p:nvSpPr>
        <p:spPr>
          <a:xfrm>
            <a:off x="4617720" y="2331720"/>
            <a:ext cx="3017520" cy="548640"/>
          </a:xfrm>
          <a:prstGeom prst="rect">
            <a:avLst/>
          </a:prstGeom>
          <a:noFill/>
          <a:ln/>
        </p:spPr>
        <p:txBody>
          <a:bodyPr wrap="square" lIns="0" tIns="0" rIns="0" bIns="0" rtlCol="0" anchor="ctr"/>
          <a:lstStyle/>
          <a:p>
            <a:pPr algn="ctr" indent="0" marL="0">
              <a:buNone/>
            </a:pPr>
            <a:r>
              <a:rPr lang="en-US" sz="1700" b="1" dirty="0">
                <a:solidFill>
                  <a:srgbClr val="1E293B"/>
                </a:solidFill>
                <a:latin typeface="Calibri" pitchFamily="34" charset="0"/>
                <a:ea typeface="Calibri" pitchFamily="34" charset="-122"/>
                <a:cs typeface="Calibri" pitchFamily="34" charset="-120"/>
              </a:rPr>
              <a:t>API OSE/PSE</a:t>
            </a:r>
            <a:endParaRPr lang="en-US" sz="1700" dirty="0"/>
          </a:p>
        </p:txBody>
      </p:sp>
      <p:sp>
        <p:nvSpPr>
          <p:cNvPr id="10" name="Text 8"/>
          <p:cNvSpPr/>
          <p:nvPr/>
        </p:nvSpPr>
        <p:spPr>
          <a:xfrm>
            <a:off x="4617720" y="2926080"/>
            <a:ext cx="3017520" cy="777240"/>
          </a:xfrm>
          <a:prstGeom prst="rect">
            <a:avLst/>
          </a:prstGeom>
          <a:noFill/>
          <a:ln/>
        </p:spPr>
        <p:txBody>
          <a:bodyPr wrap="square" lIns="0" tIns="0" rIns="0" bIns="0" rtlCol="0" anchor="t"/>
          <a:lstStyle/>
          <a:p>
            <a:pPr algn="ctr" indent="0" marL="0">
              <a:buNone/>
            </a:pPr>
            <a:r>
              <a:rPr lang="en-US" sz="1300" dirty="0">
                <a:solidFill>
                  <a:srgbClr val="64748B"/>
                </a:solidFill>
                <a:latin typeface="Calibri" pitchFamily="34" charset="0"/>
                <a:ea typeface="Calibri" pitchFamily="34" charset="-122"/>
                <a:cs typeface="Calibri" pitchFamily="34" charset="-120"/>
              </a:rPr>
              <a:t>facturalahoy.com</a:t>
            </a:r>
            <a:endParaRPr lang="en-US" sz="1300" dirty="0"/>
          </a:p>
          <a:p>
            <a:pPr algn="ctr" indent="0" marL="0">
              <a:buNone/>
            </a:pPr>
            <a:r>
              <a:rPr lang="en-US" sz="1300" dirty="0">
                <a:solidFill>
                  <a:srgbClr val="64748B"/>
                </a:solidFill>
                <a:latin typeface="Calibri" pitchFamily="34" charset="0"/>
                <a:ea typeface="Calibri" pitchFamily="34" charset="-122"/>
                <a:cs typeface="Calibri" pitchFamily="34" charset="-120"/>
              </a:rPr>
              <a:t>genera y firma el XML</a:t>
            </a:r>
            <a:endParaRPr lang="en-US" sz="1300" dirty="0"/>
          </a:p>
        </p:txBody>
      </p:sp>
      <p:sp>
        <p:nvSpPr>
          <p:cNvPr id="11" name="Text 9"/>
          <p:cNvSpPr/>
          <p:nvPr/>
        </p:nvSpPr>
        <p:spPr>
          <a:xfrm>
            <a:off x="7772400" y="2560320"/>
            <a:ext cx="594360" cy="822960"/>
          </a:xfrm>
          <a:prstGeom prst="rect">
            <a:avLst/>
          </a:prstGeom>
          <a:noFill/>
          <a:ln/>
        </p:spPr>
        <p:txBody>
          <a:bodyPr wrap="square" lIns="0" tIns="0" rIns="0" bIns="0" rtlCol="0" anchor="ctr"/>
          <a:lstStyle/>
          <a:p>
            <a:pPr algn="ctr" indent="0" marL="0">
              <a:buNone/>
            </a:pPr>
            <a:r>
              <a:rPr lang="en-US" sz="3000" b="1" dirty="0">
                <a:solidFill>
                  <a:srgbClr val="0D9488"/>
                </a:solidFill>
                <a:latin typeface="Calibri" pitchFamily="34" charset="0"/>
                <a:ea typeface="Calibri" pitchFamily="34" charset="-122"/>
                <a:cs typeface="Calibri" pitchFamily="34" charset="-120"/>
              </a:rPr>
              <a:t>➜</a:t>
            </a:r>
            <a:endParaRPr lang="en-US" sz="3000" dirty="0"/>
          </a:p>
        </p:txBody>
      </p:sp>
      <p:sp>
        <p:nvSpPr>
          <p:cNvPr id="12" name="Shape 10"/>
          <p:cNvSpPr/>
          <p:nvPr/>
        </p:nvSpPr>
        <p:spPr>
          <a:xfrm>
            <a:off x="8321040" y="2103120"/>
            <a:ext cx="3383280" cy="1737360"/>
          </a:xfrm>
          <a:prstGeom prst="roundRect">
            <a:avLst>
              <a:gd name="adj" fmla="val 4211"/>
            </a:avLst>
          </a:prstGeom>
          <a:solidFill>
            <a:srgbClr val="0E2A2E"/>
          </a:solidFill>
          <a:ln/>
          <a:effectLst>
            <a:outerShdw sx="100000" sy="100000" kx="0" ky="0" algn="bl" rotWithShape="0" blurRad="101600" dist="38100" dir="5400000">
              <a:srgbClr val="000000">
                <a:alpha val="12000"/>
              </a:srgbClr>
            </a:outerShdw>
          </a:effectLst>
        </p:spPr>
      </p:sp>
      <p:sp>
        <p:nvSpPr>
          <p:cNvPr id="13" name="Text 11"/>
          <p:cNvSpPr/>
          <p:nvPr/>
        </p:nvSpPr>
        <p:spPr>
          <a:xfrm>
            <a:off x="8503920" y="2331720"/>
            <a:ext cx="301752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SUNAT</a:t>
            </a:r>
            <a:endParaRPr lang="en-US" sz="1700" dirty="0"/>
          </a:p>
        </p:txBody>
      </p:sp>
      <p:sp>
        <p:nvSpPr>
          <p:cNvPr id="14" name="Text 12"/>
          <p:cNvSpPr/>
          <p:nvPr/>
        </p:nvSpPr>
        <p:spPr>
          <a:xfrm>
            <a:off x="8503920" y="2926080"/>
            <a:ext cx="3017520" cy="777240"/>
          </a:xfrm>
          <a:prstGeom prst="rect">
            <a:avLst/>
          </a:prstGeom>
          <a:noFill/>
          <a:ln/>
        </p:spPr>
        <p:txBody>
          <a:bodyPr wrap="square" lIns="0" tIns="0" rIns="0" bIns="0" rtlCol="0" anchor="t"/>
          <a:lstStyle/>
          <a:p>
            <a:pPr algn="ctr" indent="0" marL="0">
              <a:buNone/>
            </a:pPr>
            <a:r>
              <a:rPr lang="en-US" sz="1300" dirty="0">
                <a:solidFill>
                  <a:srgbClr val="5EEAD4"/>
                </a:solidFill>
                <a:latin typeface="Calibri" pitchFamily="34" charset="0"/>
                <a:ea typeface="Calibri" pitchFamily="34" charset="-122"/>
                <a:cs typeface="Calibri" pitchFamily="34" charset="-120"/>
              </a:rPr>
              <a:t>valida y responde</a:t>
            </a:r>
            <a:endParaRPr lang="en-US" sz="1300" dirty="0"/>
          </a:p>
          <a:p>
            <a:pPr algn="ctr" indent="0" marL="0">
              <a:buNone/>
            </a:pPr>
            <a:r>
              <a:rPr lang="en-US" sz="1300" dirty="0">
                <a:solidFill>
                  <a:srgbClr val="5EEAD4"/>
                </a:solidFill>
                <a:latin typeface="Calibri" pitchFamily="34" charset="0"/>
                <a:ea typeface="Calibri" pitchFamily="34" charset="-122"/>
                <a:cs typeface="Calibri" pitchFamily="34" charset="-120"/>
              </a:rPr>
              <a:t>ticket + CDR</a:t>
            </a:r>
            <a:endParaRPr lang="en-US" sz="1300" dirty="0"/>
          </a:p>
        </p:txBody>
      </p:sp>
      <p:sp>
        <p:nvSpPr>
          <p:cNvPr id="15" name="Text 13"/>
          <p:cNvSpPr/>
          <p:nvPr/>
        </p:nvSpPr>
        <p:spPr>
          <a:xfrm>
            <a:off x="548640" y="4114800"/>
            <a:ext cx="11064240" cy="457200"/>
          </a:xfrm>
          <a:prstGeom prst="rect">
            <a:avLst/>
          </a:prstGeom>
          <a:noFill/>
          <a:ln/>
        </p:spPr>
        <p:txBody>
          <a:bodyPr wrap="square" lIns="0" tIns="0" rIns="0" bIns="0" rtlCol="0" anchor="ctr"/>
          <a:lstStyle/>
          <a:p>
            <a:pPr algn="ctr" indent="0" marL="0">
              <a:buNone/>
            </a:pPr>
            <a:r>
              <a:rPr lang="en-US" sz="1500" i="1" dirty="0">
                <a:solidFill>
                  <a:srgbClr val="64748B"/>
                </a:solidFill>
                <a:latin typeface="Calibri" pitchFamily="34" charset="0"/>
                <a:ea typeface="Calibri" pitchFamily="34" charset="-122"/>
                <a:cs typeface="Calibri" pitchFamily="34" charset="-120"/>
              </a:rPr>
              <a:t>La respuesta (ticket, estado y CDR) regresa por el mismo camino y se guarda en la base de datos.</a:t>
            </a:r>
            <a:endParaRPr lang="en-US" sz="1500" dirty="0"/>
          </a:p>
        </p:txBody>
      </p:sp>
      <p:sp>
        <p:nvSpPr>
          <p:cNvPr id="16" name="Shape 14"/>
          <p:cNvSpPr/>
          <p:nvPr/>
        </p:nvSpPr>
        <p:spPr>
          <a:xfrm>
            <a:off x="548640" y="4800600"/>
            <a:ext cx="11064240" cy="1280160"/>
          </a:xfrm>
          <a:prstGeom prst="roundRect">
            <a:avLst>
              <a:gd name="adj" fmla="val 5714"/>
            </a:avLst>
          </a:prstGeom>
          <a:solidFill>
            <a:srgbClr val="ECFEFF"/>
          </a:solidFill>
          <a:ln/>
          <a:effectLst>
            <a:outerShdw sx="100000" sy="100000" kx="0" ky="0" algn="bl" rotWithShape="0" blurRad="101600" dist="38100" dir="5400000">
              <a:srgbClr val="000000">
                <a:alpha val="12000"/>
              </a:srgbClr>
            </a:outerShdw>
          </a:effectLst>
        </p:spPr>
      </p:sp>
      <p:sp>
        <p:nvSpPr>
          <p:cNvPr id="17" name="Text 15"/>
          <p:cNvSpPr/>
          <p:nvPr/>
        </p:nvSpPr>
        <p:spPr>
          <a:xfrm>
            <a:off x="822960" y="5029200"/>
            <a:ext cx="10515600" cy="822960"/>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Clave del código:  </a:t>
            </a:r>
            <a:pPr indent="0" marL="0">
              <a:buNone/>
            </a:pPr>
            <a:r>
              <a:rPr lang="en-US" sz="1500" dirty="0">
                <a:solidFill>
                  <a:srgbClr val="1E293B"/>
                </a:solidFill>
                <a:latin typeface="Calibri" pitchFamily="34" charset="0"/>
                <a:ea typeface="Calibri" pitchFamily="34" charset="-122"/>
                <a:cs typeface="Calibri" pitchFamily="34" charset="-120"/>
              </a:rPr>
              <a:t>toda salida a SUNAT pasa por un único método </a:t>
            </a:r>
            <a:pPr indent="0" marL="0">
              <a:buNone/>
            </a:pPr>
            <a:r>
              <a:rPr lang="en-US" sz="1500" b="1" dirty="0">
                <a:solidFill>
                  <a:srgbClr val="0D9488"/>
                </a:solidFill>
                <a:latin typeface="Courier New" pitchFamily="34" charset="0"/>
                <a:ea typeface="Courier New" pitchFamily="34" charset="-122"/>
                <a:cs typeface="Courier New" pitchFamily="34" charset="-120"/>
              </a:rPr>
              <a:t>Facturalaya::post()</a:t>
            </a:r>
            <a:pPr indent="0" marL="0">
              <a:buNone/>
            </a:pPr>
            <a:r>
              <a:rPr lang="en-US" sz="1500" dirty="0">
                <a:solidFill>
                  <a:srgbClr val="1E293B"/>
                </a:solidFill>
                <a:latin typeface="Calibri" pitchFamily="34" charset="0"/>
                <a:ea typeface="Calibri" pitchFamily="34" charset="-122"/>
                <a:cs typeface="Calibri" pitchFamily="34" charset="-120"/>
              </a:rPr>
              <a:t>.  Boleta, factura, nota, baja, resumen y consulta lo reutilizan.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indent="0" marL="0">
              <a:buNone/>
            </a:pPr>
            <a:r>
              <a:rPr lang="en-US" sz="1300" b="1" spc="200" kern="0" dirty="0">
                <a:solidFill>
                  <a:srgbClr val="0D9488"/>
                </a:solidFill>
                <a:latin typeface="Calibri" pitchFamily="34" charset="0"/>
                <a:ea typeface="Calibri" pitchFamily="34" charset="-122"/>
                <a:cs typeface="Calibri" pitchFamily="34" charset="-120"/>
              </a:rPr>
              <a:t>EL PORQUÉ</a:t>
            </a:r>
            <a:endParaRPr lang="en-US" sz="1300" dirty="0"/>
          </a:p>
        </p:txBody>
      </p:sp>
      <p:sp>
        <p:nvSpPr>
          <p:cNvPr id="3" name="Text 1"/>
          <p:cNvSpPr/>
          <p:nvPr/>
        </p:nvSpPr>
        <p:spPr>
          <a:xfrm>
            <a:off x="548640" y="658368"/>
            <a:ext cx="11064240" cy="777240"/>
          </a:xfrm>
          <a:prstGeom prst="rect">
            <a:avLst/>
          </a:prstGeom>
          <a:noFill/>
          <a:ln/>
        </p:spPr>
        <p:txBody>
          <a:bodyPr wrap="square" lIns="0" tIns="0" rIns="0" bIns="0" rtlCol="0" anchor="t"/>
          <a:lstStyle/>
          <a:p>
            <a:pPr indent="0" marL="0">
              <a:buNone/>
            </a:pPr>
            <a:r>
              <a:rPr lang="en-US" sz="3000" b="1" dirty="0">
                <a:solidFill>
                  <a:srgbClr val="1E293B"/>
                </a:solidFill>
                <a:latin typeface="Cambria" pitchFamily="34" charset="0"/>
                <a:ea typeface="Cambria" pitchFamily="34" charset="-122"/>
                <a:cs typeface="Cambria" pitchFamily="34" charset="-120"/>
              </a:rPr>
              <a:t>¿Quién genera y firma el XML? ¿Por qué?</a:t>
            </a:r>
            <a:endParaRPr lang="en-US" sz="3000" dirty="0"/>
          </a:p>
        </p:txBody>
      </p:sp>
      <p:sp>
        <p:nvSpPr>
          <p:cNvPr id="4" name="Shape 2"/>
          <p:cNvSpPr/>
          <p:nvPr/>
        </p:nvSpPr>
        <p:spPr>
          <a:xfrm>
            <a:off x="548640" y="1645920"/>
            <a:ext cx="5349240" cy="4297680"/>
          </a:xfrm>
          <a:prstGeom prst="roundRect">
            <a:avLst>
              <a:gd name="adj" fmla="val 1702"/>
            </a:avLst>
          </a:prstGeom>
          <a:solidFill>
            <a:srgbClr val="F0FDFA"/>
          </a:solidFill>
          <a:ln/>
          <a:effectLst>
            <a:outerShdw sx="100000" sy="100000" kx="0" ky="0" algn="bl" rotWithShape="0" blurRad="101600" dist="38100" dir="5400000">
              <a:srgbClr val="000000">
                <a:alpha val="12000"/>
              </a:srgbClr>
            </a:outerShdw>
          </a:effectLst>
        </p:spPr>
      </p:sp>
      <p:sp>
        <p:nvSpPr>
          <p:cNvPr id="5" name="Text 3"/>
          <p:cNvSpPr/>
          <p:nvPr/>
        </p:nvSpPr>
        <p:spPr>
          <a:xfrm>
            <a:off x="822960" y="1828800"/>
            <a:ext cx="4846320" cy="457200"/>
          </a:xfrm>
          <a:prstGeom prst="rect">
            <a:avLst/>
          </a:prstGeom>
          <a:noFill/>
          <a:ln/>
        </p:spPr>
        <p:txBody>
          <a:bodyPr wrap="square" lIns="0" tIns="0" rIns="0" bIns="0" rtlCol="0" anchor="ctr"/>
          <a:lstStyle/>
          <a:p>
            <a:pPr indent="0" marL="0">
              <a:buNone/>
            </a:pPr>
            <a:r>
              <a:rPr lang="en-US" sz="1700" b="1" dirty="0">
                <a:solidFill>
                  <a:srgbClr val="0D9488"/>
                </a:solidFill>
                <a:latin typeface="Calibri" pitchFamily="34" charset="0"/>
                <a:ea typeface="Calibri" pitchFamily="34" charset="-122"/>
                <a:cs typeface="Calibri" pitchFamily="34" charset="-120"/>
              </a:rPr>
              <a:t>Lo que hace NUESTRO sistema</a:t>
            </a:r>
            <a:endParaRPr lang="en-US" sz="1700" dirty="0"/>
          </a:p>
        </p:txBody>
      </p:sp>
      <p:sp>
        <p:nvSpPr>
          <p:cNvPr id="6" name="Text 4"/>
          <p:cNvSpPr/>
          <p:nvPr/>
        </p:nvSpPr>
        <p:spPr>
          <a:xfrm>
            <a:off x="822960" y="2377440"/>
            <a:ext cx="4846320" cy="3383280"/>
          </a:xfrm>
          <a:prstGeom prst="rect">
            <a:avLst/>
          </a:prstGeom>
          <a:noFill/>
          <a:ln/>
        </p:spPr>
        <p:txBody>
          <a:bodyPr wrap="square" lIns="0" tIns="0" rIns="0" bIns="0" rtlCol="0" anchor="ctr"/>
          <a:lstStyle/>
          <a:p>
            <a:pPr marL="342900" indent="-342900">
              <a:spcAft>
                <a:spcPts val="800"/>
              </a:spcAft>
              <a:buSzPct val="100000"/>
              <a:buChar char="•"/>
            </a:pPr>
            <a:r>
              <a:rPr lang="en-US" sz="1450" dirty="0">
                <a:solidFill>
                  <a:srgbClr val="1E293B"/>
                </a:solidFill>
                <a:latin typeface="Calibri" pitchFamily="34" charset="0"/>
                <a:ea typeface="Calibri" pitchFamily="34" charset="-122"/>
                <a:cs typeface="Calibri" pitchFamily="34" charset="-120"/>
              </a:rPr>
              <a:t>Registrar el comprobante en la base de datos</a:t>
            </a:r>
            <a:endParaRPr lang="en-US" sz="1450" dirty="0"/>
          </a:p>
          <a:p>
            <a:pPr marL="342900" indent="-342900">
              <a:spcAft>
                <a:spcPts val="800"/>
              </a:spcAft>
              <a:buSzPct val="100000"/>
              <a:buChar char="•"/>
            </a:pPr>
            <a:r>
              <a:rPr lang="en-US" sz="1450" dirty="0">
                <a:solidFill>
                  <a:srgbClr val="1E293B"/>
                </a:solidFill>
                <a:latin typeface="Calibri" pitchFamily="34" charset="0"/>
                <a:ea typeface="Calibri" pitchFamily="34" charset="-122"/>
                <a:cs typeface="Calibri" pitchFamily="34" charset="-120"/>
              </a:rPr>
              <a:t>Calcular subtotales, IGV y total</a:t>
            </a:r>
            <a:endParaRPr lang="en-US" sz="1450" dirty="0"/>
          </a:p>
          <a:p>
            <a:pPr marL="342900" indent="-342900">
              <a:spcAft>
                <a:spcPts val="800"/>
              </a:spcAft>
              <a:buSzPct val="100000"/>
              <a:buChar char="•"/>
            </a:pPr>
            <a:r>
              <a:rPr lang="en-US" sz="1450" dirty="0">
                <a:solidFill>
                  <a:srgbClr val="1E293B"/>
                </a:solidFill>
                <a:latin typeface="Calibri" pitchFamily="34" charset="0"/>
                <a:ea typeface="Calibri" pitchFamily="34" charset="-122"/>
                <a:cs typeface="Calibri" pitchFamily="34" charset="-120"/>
              </a:rPr>
              <a:t>Armar un JSON con emisor, cliente e ítems</a:t>
            </a:r>
            <a:endParaRPr lang="en-US" sz="1450" dirty="0"/>
          </a:p>
          <a:p>
            <a:pPr marL="342900" indent="-342900">
              <a:spcAft>
                <a:spcPts val="800"/>
              </a:spcAft>
              <a:buSzPct val="100000"/>
              <a:buChar char="•"/>
            </a:pPr>
            <a:r>
              <a:rPr lang="en-US" sz="1450" dirty="0">
                <a:solidFill>
                  <a:srgbClr val="1E293B"/>
                </a:solidFill>
                <a:latin typeface="Calibri" pitchFamily="34" charset="0"/>
                <a:ea typeface="Calibri" pitchFamily="34" charset="-122"/>
                <a:cs typeface="Calibri" pitchFamily="34" charset="-120"/>
              </a:rPr>
              <a:t>Enviarlo por HTTP con el token del emisor</a:t>
            </a:r>
            <a:endParaRPr lang="en-US" sz="1450" dirty="0"/>
          </a:p>
          <a:p>
            <a:pPr marL="342900" indent="-342900">
              <a:spcAft>
                <a:spcPts val="800"/>
              </a:spcAft>
              <a:buSzPct val="100000"/>
              <a:buChar char="•"/>
            </a:pPr>
            <a:r>
              <a:rPr lang="en-US" sz="1450" dirty="0">
                <a:solidFill>
                  <a:srgbClr val="1E293B"/>
                </a:solidFill>
                <a:latin typeface="Calibri" pitchFamily="34" charset="0"/>
                <a:ea typeface="Calibri" pitchFamily="34" charset="-122"/>
                <a:cs typeface="Calibri" pitchFamily="34" charset="-120"/>
              </a:rPr>
              <a:t>Guardar la respuesta (ticket, estado, CDR)</a:t>
            </a:r>
            <a:endParaRPr lang="en-US" sz="1450" dirty="0"/>
          </a:p>
        </p:txBody>
      </p:sp>
      <p:sp>
        <p:nvSpPr>
          <p:cNvPr id="7" name="Shape 5"/>
          <p:cNvSpPr/>
          <p:nvPr/>
        </p:nvSpPr>
        <p:spPr>
          <a:xfrm>
            <a:off x="6263640" y="1645920"/>
            <a:ext cx="5349240" cy="4297680"/>
          </a:xfrm>
          <a:prstGeom prst="roundRect">
            <a:avLst>
              <a:gd name="adj" fmla="val 1702"/>
            </a:avLst>
          </a:prstGeom>
          <a:solidFill>
            <a:srgbClr val="0E2A2E"/>
          </a:solidFill>
          <a:ln/>
          <a:effectLst>
            <a:outerShdw sx="100000" sy="100000" kx="0" ky="0" algn="bl" rotWithShape="0" blurRad="101600" dist="38100" dir="5400000">
              <a:srgbClr val="000000">
                <a:alpha val="12000"/>
              </a:srgbClr>
            </a:outerShdw>
          </a:effectLst>
        </p:spPr>
      </p:sp>
      <p:sp>
        <p:nvSpPr>
          <p:cNvPr id="8" name="Text 6"/>
          <p:cNvSpPr/>
          <p:nvPr/>
        </p:nvSpPr>
        <p:spPr>
          <a:xfrm>
            <a:off x="6537960" y="1828800"/>
            <a:ext cx="4846320" cy="457200"/>
          </a:xfrm>
          <a:prstGeom prst="rect">
            <a:avLst/>
          </a:prstGeom>
          <a:noFill/>
          <a:ln/>
        </p:spPr>
        <p:txBody>
          <a:bodyPr wrap="square" lIns="0" tIns="0" rIns="0" bIns="0" rtlCol="0" anchor="ctr"/>
          <a:lstStyle/>
          <a:p>
            <a:pPr indent="0" marL="0">
              <a:buNone/>
            </a:pPr>
            <a:r>
              <a:rPr lang="en-US" sz="1700" b="1" dirty="0">
                <a:solidFill>
                  <a:srgbClr val="5EEAD4"/>
                </a:solidFill>
                <a:latin typeface="Calibri" pitchFamily="34" charset="0"/>
                <a:ea typeface="Calibri" pitchFamily="34" charset="-122"/>
                <a:cs typeface="Calibri" pitchFamily="34" charset="-120"/>
              </a:rPr>
              <a:t>Lo que hace la API (OSE/PSE)</a:t>
            </a:r>
            <a:endParaRPr lang="en-US" sz="1700" dirty="0"/>
          </a:p>
        </p:txBody>
      </p:sp>
      <p:sp>
        <p:nvSpPr>
          <p:cNvPr id="9" name="Text 7"/>
          <p:cNvSpPr/>
          <p:nvPr/>
        </p:nvSpPr>
        <p:spPr>
          <a:xfrm>
            <a:off x="6537960" y="2377440"/>
            <a:ext cx="4846320" cy="3383280"/>
          </a:xfrm>
          <a:prstGeom prst="rect">
            <a:avLst/>
          </a:prstGeom>
          <a:noFill/>
          <a:ln/>
        </p:spPr>
        <p:txBody>
          <a:bodyPr wrap="square" lIns="0" tIns="0" rIns="0" bIns="0" rtlCol="0" anchor="ctr"/>
          <a:lstStyle/>
          <a:p>
            <a:pPr marL="342900" indent="-342900">
              <a:spcAft>
                <a:spcPts val="800"/>
              </a:spcAft>
              <a:buSzPct val="100000"/>
              <a:buChar char="•"/>
            </a:pPr>
            <a:r>
              <a:rPr lang="en-US" sz="1450" dirty="0">
                <a:solidFill>
                  <a:srgbClr val="E2E8F0"/>
                </a:solidFill>
                <a:latin typeface="Calibri" pitchFamily="34" charset="0"/>
                <a:ea typeface="Calibri" pitchFamily="34" charset="-122"/>
                <a:cs typeface="Calibri" pitchFamily="34" charset="-120"/>
              </a:rPr>
              <a:t>Convertir el JSON a XML UBL 2.1 de SUNAT</a:t>
            </a:r>
            <a:endParaRPr lang="en-US" sz="1450" dirty="0"/>
          </a:p>
          <a:p>
            <a:pPr marL="342900" indent="-342900">
              <a:spcAft>
                <a:spcPts val="800"/>
              </a:spcAft>
              <a:buSzPct val="100000"/>
              <a:buChar char="•"/>
            </a:pPr>
            <a:r>
              <a:rPr lang="en-US" sz="1450" dirty="0">
                <a:solidFill>
                  <a:srgbClr val="E2E8F0"/>
                </a:solidFill>
                <a:latin typeface="Calibri" pitchFamily="34" charset="0"/>
                <a:ea typeface="Calibri" pitchFamily="34" charset="-122"/>
                <a:cs typeface="Calibri" pitchFamily="34" charset="-120"/>
              </a:rPr>
              <a:t>Firmar digitalmente con el certificado</a:t>
            </a:r>
            <a:endParaRPr lang="en-US" sz="1450" dirty="0"/>
          </a:p>
          <a:p>
            <a:pPr marL="342900" indent="-342900">
              <a:spcAft>
                <a:spcPts val="800"/>
              </a:spcAft>
              <a:buSzPct val="100000"/>
              <a:buChar char="•"/>
            </a:pPr>
            <a:r>
              <a:rPr lang="en-US" sz="1450" dirty="0">
                <a:solidFill>
                  <a:srgbClr val="E2E8F0"/>
                </a:solidFill>
                <a:latin typeface="Calibri" pitchFamily="34" charset="0"/>
                <a:ea typeface="Calibri" pitchFamily="34" charset="-122"/>
                <a:cs typeface="Calibri" pitchFamily="34" charset="-120"/>
              </a:rPr>
              <a:t>Enviar a los Web Services de SUNAT</a:t>
            </a:r>
            <a:endParaRPr lang="en-US" sz="1450" dirty="0"/>
          </a:p>
          <a:p>
            <a:pPr marL="342900" indent="-342900">
              <a:spcAft>
                <a:spcPts val="800"/>
              </a:spcAft>
              <a:buSzPct val="100000"/>
              <a:buChar char="•"/>
            </a:pPr>
            <a:r>
              <a:rPr lang="en-US" sz="1450" dirty="0">
                <a:solidFill>
                  <a:srgbClr val="E2E8F0"/>
                </a:solidFill>
                <a:latin typeface="Calibri" pitchFamily="34" charset="0"/>
                <a:ea typeface="Calibri" pitchFamily="34" charset="-122"/>
                <a:cs typeface="Calibri" pitchFamily="34" charset="-120"/>
              </a:rPr>
              <a:t>Recibir el CDR (constancia de recepción)</a:t>
            </a:r>
            <a:endParaRPr lang="en-US" sz="1450" dirty="0"/>
          </a:p>
          <a:p>
            <a:pPr marL="342900" indent="-342900">
              <a:spcAft>
                <a:spcPts val="800"/>
              </a:spcAft>
              <a:buSzPct val="100000"/>
              <a:buChar char="•"/>
            </a:pPr>
            <a:r>
              <a:rPr lang="en-US" sz="1450" dirty="0">
                <a:solidFill>
                  <a:srgbClr val="E2E8F0"/>
                </a:solidFill>
                <a:latin typeface="Calibri" pitchFamily="34" charset="0"/>
                <a:ea typeface="Calibri" pitchFamily="34" charset="-122"/>
                <a:cs typeface="Calibri" pitchFamily="34" charset="-120"/>
              </a:rPr>
              <a:t>Devolvernos el resultado y el archivo</a:t>
            </a:r>
            <a:endParaRPr lang="en-US" sz="1450" dirty="0"/>
          </a:p>
        </p:txBody>
      </p:sp>
      <p:sp>
        <p:nvSpPr>
          <p:cNvPr id="10" name="Text 8"/>
          <p:cNvSpPr/>
          <p:nvPr/>
        </p:nvSpPr>
        <p:spPr>
          <a:xfrm>
            <a:off x="548640" y="6126480"/>
            <a:ext cx="11064240" cy="365760"/>
          </a:xfrm>
          <a:prstGeom prst="rect">
            <a:avLst/>
          </a:prstGeom>
          <a:noFill/>
          <a:ln/>
        </p:spPr>
        <p:txBody>
          <a:bodyPr wrap="square" lIns="0" tIns="0" rIns="0" bIns="0" rtlCol="0" anchor="ctr"/>
          <a:lstStyle/>
          <a:p>
            <a:pPr algn="ctr" indent="0" marL="0">
              <a:buNone/>
            </a:pPr>
            <a:r>
              <a:rPr lang="en-US" sz="1350" i="1" dirty="0">
                <a:solidFill>
                  <a:srgbClr val="64748B"/>
                </a:solidFill>
                <a:latin typeface="Calibri" pitchFamily="34" charset="0"/>
                <a:ea typeface="Calibri" pitchFamily="34" charset="-122"/>
                <a:cs typeface="Calibri" pitchFamily="34" charset="-120"/>
              </a:rPr>
              <a:t>Delegamos la complejidad (UBL, criptografía, certificados) y nos enfocamos en la lógica del negocio.</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indent="0" marL="0">
              <a:buNone/>
            </a:pPr>
            <a:r>
              <a:rPr lang="en-US" sz="1300" b="1" spc="200" kern="0" dirty="0">
                <a:solidFill>
                  <a:srgbClr val="0D9488"/>
                </a:solidFill>
                <a:latin typeface="Calibri" pitchFamily="34" charset="0"/>
                <a:ea typeface="Calibri" pitchFamily="34" charset="-122"/>
                <a:cs typeface="Calibri" pitchFamily="34" charset="-120"/>
              </a:rPr>
              <a:t>DOCUMENTO 07</a:t>
            </a:r>
            <a:endParaRPr lang="en-US" sz="1300" dirty="0"/>
          </a:p>
        </p:txBody>
      </p:sp>
      <p:sp>
        <p:nvSpPr>
          <p:cNvPr id="3" name="Text 1"/>
          <p:cNvSpPr/>
          <p:nvPr/>
        </p:nvSpPr>
        <p:spPr>
          <a:xfrm>
            <a:off x="548640" y="658368"/>
            <a:ext cx="11064240" cy="777240"/>
          </a:xfrm>
          <a:prstGeom prst="rect">
            <a:avLst/>
          </a:prstGeom>
          <a:noFill/>
          <a:ln/>
        </p:spPr>
        <p:txBody>
          <a:bodyPr wrap="square" lIns="0" tIns="0" rIns="0" bIns="0" rtlCol="0" anchor="t"/>
          <a:lstStyle/>
          <a:p>
            <a:pPr indent="0" marL="0">
              <a:buNone/>
            </a:pPr>
            <a:r>
              <a:rPr lang="en-US" sz="3000" b="1" dirty="0">
                <a:solidFill>
                  <a:srgbClr val="1E293B"/>
                </a:solidFill>
                <a:latin typeface="Cambria" pitchFamily="34" charset="0"/>
                <a:ea typeface="Cambria" pitchFamily="34" charset="-122"/>
                <a:cs typeface="Cambria" pitchFamily="34" charset="-120"/>
              </a:rPr>
              <a:t>Nota de Crédito: corregir o anular a la baja</a:t>
            </a:r>
            <a:endParaRPr lang="en-US" sz="3000" dirty="0"/>
          </a:p>
        </p:txBody>
      </p:sp>
      <p:sp>
        <p:nvSpPr>
          <p:cNvPr id="4" name="Shape 2"/>
          <p:cNvSpPr/>
          <p:nvPr/>
        </p:nvSpPr>
        <p:spPr>
          <a:xfrm>
            <a:off x="548640" y="1645920"/>
            <a:ext cx="5120640" cy="4389120"/>
          </a:xfrm>
          <a:prstGeom prst="roundRect">
            <a:avLst>
              <a:gd name="adj" fmla="val 1667"/>
            </a:avLst>
          </a:prstGeom>
          <a:solidFill>
            <a:srgbClr val="F0FDFA"/>
          </a:solidFill>
          <a:ln/>
          <a:effectLst>
            <a:outerShdw sx="100000" sy="100000" kx="0" ky="0" algn="bl" rotWithShape="0" blurRad="101600" dist="38100" dir="5400000">
              <a:srgbClr val="000000">
                <a:alpha val="12000"/>
              </a:srgbClr>
            </a:outerShdw>
          </a:effectLst>
        </p:spPr>
      </p:sp>
      <p:sp>
        <p:nvSpPr>
          <p:cNvPr id="5" name="Text 3"/>
          <p:cNvSpPr/>
          <p:nvPr/>
        </p:nvSpPr>
        <p:spPr>
          <a:xfrm>
            <a:off x="822960" y="1828800"/>
            <a:ext cx="4572000" cy="411480"/>
          </a:xfrm>
          <a:prstGeom prst="rect">
            <a:avLst/>
          </a:prstGeom>
          <a:noFill/>
          <a:ln/>
        </p:spPr>
        <p:txBody>
          <a:bodyPr wrap="square" lIns="0" tIns="0" rIns="0" bIns="0" rtlCol="0" anchor="ctr"/>
          <a:lstStyle/>
          <a:p>
            <a:pPr indent="0" marL="0">
              <a:buNone/>
            </a:pPr>
            <a:r>
              <a:rPr lang="en-US" sz="1600" b="1" dirty="0">
                <a:solidFill>
                  <a:srgbClr val="0D9488"/>
                </a:solidFill>
                <a:latin typeface="Calibri" pitchFamily="34" charset="0"/>
                <a:ea typeface="Calibri" pitchFamily="34" charset="-122"/>
                <a:cs typeface="Calibri" pitchFamily="34" charset="-120"/>
              </a:rPr>
              <a:t>¿Cuándo se usa?</a:t>
            </a:r>
            <a:endParaRPr lang="en-US" sz="1600" dirty="0"/>
          </a:p>
        </p:txBody>
      </p:sp>
      <p:sp>
        <p:nvSpPr>
          <p:cNvPr id="6" name="Text 4"/>
          <p:cNvSpPr/>
          <p:nvPr/>
        </p:nvSpPr>
        <p:spPr>
          <a:xfrm>
            <a:off x="822960" y="2331720"/>
            <a:ext cx="4572000" cy="1828800"/>
          </a:xfrm>
          <a:prstGeom prst="rect">
            <a:avLst/>
          </a:prstGeom>
          <a:noFill/>
          <a:ln/>
        </p:spPr>
        <p:txBody>
          <a:bodyPr wrap="square" lIns="0" tIns="0" rIns="0" bIns="0" rtlCol="0" anchor="ctr"/>
          <a:lstStyle/>
          <a:p>
            <a:pPr marL="342900" indent="-342900">
              <a:spcAft>
                <a:spcPts val="600"/>
              </a:spcAft>
              <a:buSzPct val="100000"/>
              <a:buChar char="•"/>
            </a:pPr>
            <a:r>
              <a:rPr lang="en-US" sz="1450" dirty="0">
                <a:solidFill>
                  <a:srgbClr val="1E293B"/>
                </a:solidFill>
                <a:latin typeface="Calibri" pitchFamily="34" charset="0"/>
                <a:ea typeface="Calibri" pitchFamily="34" charset="-122"/>
                <a:cs typeface="Calibri" pitchFamily="34" charset="-120"/>
              </a:rPr>
              <a:t>Anular una operación ya emitida</a:t>
            </a:r>
            <a:endParaRPr lang="en-US" sz="1450" dirty="0"/>
          </a:p>
          <a:p>
            <a:pPr marL="342900" indent="-342900">
              <a:spcAft>
                <a:spcPts val="600"/>
              </a:spcAft>
              <a:buSzPct val="100000"/>
              <a:buChar char="•"/>
            </a:pPr>
            <a:r>
              <a:rPr lang="en-US" sz="1450" dirty="0">
                <a:solidFill>
                  <a:srgbClr val="1E293B"/>
                </a:solidFill>
                <a:latin typeface="Calibri" pitchFamily="34" charset="0"/>
                <a:ea typeface="Calibri" pitchFamily="34" charset="-122"/>
                <a:cs typeface="Calibri" pitchFamily="34" charset="-120"/>
              </a:rPr>
              <a:t>Devoluciones (totales o por ítem)</a:t>
            </a:r>
            <a:endParaRPr lang="en-US" sz="1450" dirty="0"/>
          </a:p>
          <a:p>
            <a:pPr marL="342900" indent="-342900">
              <a:spcAft>
                <a:spcPts val="600"/>
              </a:spcAft>
              <a:buSzPct val="100000"/>
              <a:buChar char="•"/>
            </a:pPr>
            <a:r>
              <a:rPr lang="en-US" sz="1450" dirty="0">
                <a:solidFill>
                  <a:srgbClr val="1E293B"/>
                </a:solidFill>
                <a:latin typeface="Calibri" pitchFamily="34" charset="0"/>
                <a:ea typeface="Calibri" pitchFamily="34" charset="-122"/>
                <a:cs typeface="Calibri" pitchFamily="34" charset="-120"/>
              </a:rPr>
              <a:t>Descuentos posteriores</a:t>
            </a:r>
            <a:endParaRPr lang="en-US" sz="1450" dirty="0"/>
          </a:p>
          <a:p>
            <a:pPr marL="342900" indent="-342900">
              <a:spcAft>
                <a:spcPts val="600"/>
              </a:spcAft>
              <a:buSzPct val="100000"/>
              <a:buChar char="•"/>
            </a:pPr>
            <a:r>
              <a:rPr lang="en-US" sz="1450" dirty="0">
                <a:solidFill>
                  <a:srgbClr val="1E293B"/>
                </a:solidFill>
                <a:latin typeface="Calibri" pitchFamily="34" charset="0"/>
                <a:ea typeface="Calibri" pitchFamily="34" charset="-122"/>
                <a:cs typeface="Calibri" pitchFamily="34" charset="-120"/>
              </a:rPr>
              <a:t>Disminuir el valor o corregir datos</a:t>
            </a:r>
            <a:endParaRPr lang="en-US" sz="1450" dirty="0"/>
          </a:p>
        </p:txBody>
      </p:sp>
      <p:sp>
        <p:nvSpPr>
          <p:cNvPr id="7" name="Text 5"/>
          <p:cNvSpPr/>
          <p:nvPr/>
        </p:nvSpPr>
        <p:spPr>
          <a:xfrm>
            <a:off x="822960" y="5029200"/>
            <a:ext cx="4572000" cy="822960"/>
          </a:xfrm>
          <a:prstGeom prst="rect">
            <a:avLst/>
          </a:prstGeom>
          <a:noFill/>
          <a:ln/>
        </p:spPr>
        <p:txBody>
          <a:bodyPr wrap="square" lIns="0" tIns="0" rIns="0" bIns="0" rtlCol="0" anchor="t"/>
          <a:lstStyle/>
          <a:p>
            <a:pPr indent="0" marL="0">
              <a:buNone/>
            </a:pPr>
            <a:r>
              <a:rPr lang="en-US" sz="1400" b="1" i="1" dirty="0">
                <a:solidFill>
                  <a:srgbClr val="1E293B"/>
                </a:solidFill>
                <a:latin typeface="Calibri" pitchFamily="34" charset="0"/>
                <a:ea typeface="Calibri" pitchFamily="34" charset="-122"/>
                <a:cs typeface="Calibri" pitchFamily="34" charset="-120"/>
              </a:rPr>
              <a:t>Regla de oro:  </a:t>
            </a:r>
            <a:pPr indent="0" marL="0">
              <a:buNone/>
            </a:pPr>
            <a:r>
              <a:rPr lang="en-US" sz="1400" i="1" dirty="0">
                <a:solidFill>
                  <a:srgbClr val="1E293B"/>
                </a:solidFill>
                <a:latin typeface="Calibri" pitchFamily="34" charset="0"/>
                <a:ea typeface="Calibri" pitchFamily="34" charset="-122"/>
                <a:cs typeface="Calibri" pitchFamily="34" charset="-120"/>
              </a:rPr>
              <a:t>siempre reduce o corrige un comprobante que ya existe.</a:t>
            </a:r>
            <a:endParaRPr lang="en-US" sz="1400" dirty="0"/>
          </a:p>
        </p:txBody>
      </p:sp>
      <p:sp>
        <p:nvSpPr>
          <p:cNvPr id="8" name="Shape 6"/>
          <p:cNvSpPr/>
          <p:nvPr/>
        </p:nvSpPr>
        <p:spPr>
          <a:xfrm>
            <a:off x="6355080" y="1645920"/>
            <a:ext cx="5257800" cy="4389120"/>
          </a:xfrm>
          <a:prstGeom prst="roundRect">
            <a:avLst>
              <a:gd name="adj" fmla="val 1667"/>
            </a:avLst>
          </a:prstGeom>
          <a:solidFill>
            <a:srgbClr val="FFFFFF"/>
          </a:solidFill>
          <a:ln/>
          <a:effectLst>
            <a:outerShdw sx="100000" sy="100000" kx="0" ky="0" algn="bl" rotWithShape="0" blurRad="101600" dist="38100" dir="5400000">
              <a:srgbClr val="000000">
                <a:alpha val="12000"/>
              </a:srgbClr>
            </a:outerShdw>
          </a:effectLst>
        </p:spPr>
      </p:sp>
      <p:sp>
        <p:nvSpPr>
          <p:cNvPr id="9" name="Shape 7"/>
          <p:cNvSpPr/>
          <p:nvPr/>
        </p:nvSpPr>
        <p:spPr>
          <a:xfrm>
            <a:off x="6355080" y="1645920"/>
            <a:ext cx="5257800" cy="4389120"/>
          </a:xfrm>
          <a:prstGeom prst="roundRect">
            <a:avLst>
              <a:gd name="adj" fmla="val 1667"/>
            </a:avLst>
          </a:prstGeom>
          <a:solidFill>
            <a:srgbClr val="FFFFFF"/>
          </a:solidFill>
          <a:ln w="12700">
            <a:solidFill>
              <a:srgbClr val="CBD5E1"/>
            </a:solidFill>
            <a:prstDash val="solid"/>
          </a:ln>
        </p:spPr>
      </p:sp>
      <p:sp>
        <p:nvSpPr>
          <p:cNvPr id="10" name="Text 8"/>
          <p:cNvSpPr/>
          <p:nvPr/>
        </p:nvSpPr>
        <p:spPr>
          <a:xfrm>
            <a:off x="6629400" y="1828800"/>
            <a:ext cx="4754880" cy="411480"/>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Catálogo 09 SUNAT — motivos (extracto)</a:t>
            </a:r>
            <a:endParaRPr lang="en-US" sz="1500" dirty="0"/>
          </a:p>
        </p:txBody>
      </p:sp>
      <p:sp>
        <p:nvSpPr>
          <p:cNvPr id="11" name="Shape 9"/>
          <p:cNvSpPr/>
          <p:nvPr/>
        </p:nvSpPr>
        <p:spPr>
          <a:xfrm>
            <a:off x="6629400" y="2331720"/>
            <a:ext cx="365760" cy="365760"/>
          </a:xfrm>
          <a:prstGeom prst="ellipse">
            <a:avLst/>
          </a:prstGeom>
          <a:solidFill>
            <a:srgbClr val="14B8A6"/>
          </a:solidFill>
          <a:ln/>
        </p:spPr>
      </p:sp>
      <p:sp>
        <p:nvSpPr>
          <p:cNvPr id="12" name="Text 10"/>
          <p:cNvSpPr/>
          <p:nvPr/>
        </p:nvSpPr>
        <p:spPr>
          <a:xfrm>
            <a:off x="6629400" y="233172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13" name="Text 11"/>
          <p:cNvSpPr/>
          <p:nvPr/>
        </p:nvSpPr>
        <p:spPr>
          <a:xfrm>
            <a:off x="7132320" y="2331720"/>
            <a:ext cx="4206240" cy="365760"/>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Anulación de la operación</a:t>
            </a:r>
            <a:endParaRPr lang="en-US" sz="1350" dirty="0"/>
          </a:p>
        </p:txBody>
      </p:sp>
      <p:sp>
        <p:nvSpPr>
          <p:cNvPr id="14" name="Shape 12"/>
          <p:cNvSpPr/>
          <p:nvPr/>
        </p:nvSpPr>
        <p:spPr>
          <a:xfrm>
            <a:off x="6629400" y="2834640"/>
            <a:ext cx="365760" cy="365760"/>
          </a:xfrm>
          <a:prstGeom prst="ellipse">
            <a:avLst/>
          </a:prstGeom>
          <a:solidFill>
            <a:srgbClr val="14B8A6"/>
          </a:solidFill>
          <a:ln/>
        </p:spPr>
      </p:sp>
      <p:sp>
        <p:nvSpPr>
          <p:cNvPr id="15" name="Text 13"/>
          <p:cNvSpPr/>
          <p:nvPr/>
        </p:nvSpPr>
        <p:spPr>
          <a:xfrm>
            <a:off x="6629400" y="28346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16" name="Text 14"/>
          <p:cNvSpPr/>
          <p:nvPr/>
        </p:nvSpPr>
        <p:spPr>
          <a:xfrm>
            <a:off x="7132320" y="2834640"/>
            <a:ext cx="4206240" cy="365760"/>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Anulación por error en el RUC</a:t>
            </a:r>
            <a:endParaRPr lang="en-US" sz="1350" dirty="0"/>
          </a:p>
        </p:txBody>
      </p:sp>
      <p:sp>
        <p:nvSpPr>
          <p:cNvPr id="17" name="Shape 15"/>
          <p:cNvSpPr/>
          <p:nvPr/>
        </p:nvSpPr>
        <p:spPr>
          <a:xfrm>
            <a:off x="6629400" y="3337560"/>
            <a:ext cx="365760" cy="365760"/>
          </a:xfrm>
          <a:prstGeom prst="ellipse">
            <a:avLst/>
          </a:prstGeom>
          <a:solidFill>
            <a:srgbClr val="14B8A6"/>
          </a:solidFill>
          <a:ln/>
        </p:spPr>
      </p:sp>
      <p:sp>
        <p:nvSpPr>
          <p:cNvPr id="18" name="Text 16"/>
          <p:cNvSpPr/>
          <p:nvPr/>
        </p:nvSpPr>
        <p:spPr>
          <a:xfrm>
            <a:off x="6629400" y="333756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19" name="Text 17"/>
          <p:cNvSpPr/>
          <p:nvPr/>
        </p:nvSpPr>
        <p:spPr>
          <a:xfrm>
            <a:off x="7132320" y="3337560"/>
            <a:ext cx="4206240" cy="365760"/>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Corrección por error en la descripción</a:t>
            </a:r>
            <a:endParaRPr lang="en-US" sz="1350" dirty="0"/>
          </a:p>
        </p:txBody>
      </p:sp>
      <p:sp>
        <p:nvSpPr>
          <p:cNvPr id="20" name="Shape 18"/>
          <p:cNvSpPr/>
          <p:nvPr/>
        </p:nvSpPr>
        <p:spPr>
          <a:xfrm>
            <a:off x="6629400" y="3840480"/>
            <a:ext cx="365760" cy="365760"/>
          </a:xfrm>
          <a:prstGeom prst="ellipse">
            <a:avLst/>
          </a:prstGeom>
          <a:solidFill>
            <a:srgbClr val="14B8A6"/>
          </a:solidFill>
          <a:ln/>
        </p:spPr>
      </p:sp>
      <p:sp>
        <p:nvSpPr>
          <p:cNvPr id="21" name="Text 19"/>
          <p:cNvSpPr/>
          <p:nvPr/>
        </p:nvSpPr>
        <p:spPr>
          <a:xfrm>
            <a:off x="6629400" y="384048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06</a:t>
            </a:r>
            <a:endParaRPr lang="en-US" sz="1200" dirty="0"/>
          </a:p>
        </p:txBody>
      </p:sp>
      <p:sp>
        <p:nvSpPr>
          <p:cNvPr id="22" name="Text 20"/>
          <p:cNvSpPr/>
          <p:nvPr/>
        </p:nvSpPr>
        <p:spPr>
          <a:xfrm>
            <a:off x="7132320" y="3840480"/>
            <a:ext cx="4206240" cy="365760"/>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Devolución total</a:t>
            </a:r>
            <a:endParaRPr lang="en-US" sz="1350" dirty="0"/>
          </a:p>
        </p:txBody>
      </p:sp>
      <p:sp>
        <p:nvSpPr>
          <p:cNvPr id="23" name="Shape 21"/>
          <p:cNvSpPr/>
          <p:nvPr/>
        </p:nvSpPr>
        <p:spPr>
          <a:xfrm>
            <a:off x="6629400" y="4343400"/>
            <a:ext cx="365760" cy="365760"/>
          </a:xfrm>
          <a:prstGeom prst="ellipse">
            <a:avLst/>
          </a:prstGeom>
          <a:solidFill>
            <a:srgbClr val="14B8A6"/>
          </a:solidFill>
          <a:ln/>
        </p:spPr>
      </p:sp>
      <p:sp>
        <p:nvSpPr>
          <p:cNvPr id="24" name="Text 22"/>
          <p:cNvSpPr/>
          <p:nvPr/>
        </p:nvSpPr>
        <p:spPr>
          <a:xfrm>
            <a:off x="6629400" y="43434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07</a:t>
            </a:r>
            <a:endParaRPr lang="en-US" sz="1200" dirty="0"/>
          </a:p>
        </p:txBody>
      </p:sp>
      <p:sp>
        <p:nvSpPr>
          <p:cNvPr id="25" name="Text 23"/>
          <p:cNvSpPr/>
          <p:nvPr/>
        </p:nvSpPr>
        <p:spPr>
          <a:xfrm>
            <a:off x="7132320" y="4343400"/>
            <a:ext cx="4206240" cy="365760"/>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Devolución por ítem</a:t>
            </a:r>
            <a:endParaRPr lang="en-US" sz="1350" dirty="0"/>
          </a:p>
        </p:txBody>
      </p:sp>
      <p:sp>
        <p:nvSpPr>
          <p:cNvPr id="26" name="Shape 24"/>
          <p:cNvSpPr/>
          <p:nvPr/>
        </p:nvSpPr>
        <p:spPr>
          <a:xfrm>
            <a:off x="6629400" y="4846320"/>
            <a:ext cx="365760" cy="365760"/>
          </a:xfrm>
          <a:prstGeom prst="ellipse">
            <a:avLst/>
          </a:prstGeom>
          <a:solidFill>
            <a:srgbClr val="14B8A6"/>
          </a:solidFill>
          <a:ln/>
        </p:spPr>
      </p:sp>
      <p:sp>
        <p:nvSpPr>
          <p:cNvPr id="27" name="Text 25"/>
          <p:cNvSpPr/>
          <p:nvPr/>
        </p:nvSpPr>
        <p:spPr>
          <a:xfrm>
            <a:off x="6629400" y="484632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09</a:t>
            </a:r>
            <a:endParaRPr lang="en-US" sz="1200" dirty="0"/>
          </a:p>
        </p:txBody>
      </p:sp>
      <p:sp>
        <p:nvSpPr>
          <p:cNvPr id="28" name="Text 26"/>
          <p:cNvSpPr/>
          <p:nvPr/>
        </p:nvSpPr>
        <p:spPr>
          <a:xfrm>
            <a:off x="7132320" y="4846320"/>
            <a:ext cx="4206240" cy="365760"/>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Disminución en el valor</a:t>
            </a:r>
            <a:endParaRPr lang="en-US" sz="1350" dirty="0"/>
          </a:p>
        </p:txBody>
      </p:sp>
      <p:sp>
        <p:nvSpPr>
          <p:cNvPr id="29" name="Shape 27"/>
          <p:cNvSpPr/>
          <p:nvPr/>
        </p:nvSpPr>
        <p:spPr>
          <a:xfrm>
            <a:off x="6629400" y="5349240"/>
            <a:ext cx="365760" cy="365760"/>
          </a:xfrm>
          <a:prstGeom prst="ellipse">
            <a:avLst/>
          </a:prstGeom>
          <a:solidFill>
            <a:srgbClr val="14B8A6"/>
          </a:solidFill>
          <a:ln/>
        </p:spPr>
      </p:sp>
      <p:sp>
        <p:nvSpPr>
          <p:cNvPr id="30" name="Text 28"/>
          <p:cNvSpPr/>
          <p:nvPr/>
        </p:nvSpPr>
        <p:spPr>
          <a:xfrm>
            <a:off x="6629400" y="53492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a:t>
            </a:r>
            <a:endParaRPr lang="en-US" sz="1200" dirty="0"/>
          </a:p>
        </p:txBody>
      </p:sp>
      <p:sp>
        <p:nvSpPr>
          <p:cNvPr id="31" name="Text 29"/>
          <p:cNvSpPr/>
          <p:nvPr/>
        </p:nvSpPr>
        <p:spPr>
          <a:xfrm>
            <a:off x="7132320" y="5349240"/>
            <a:ext cx="4206240" cy="365760"/>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Otros conceptos</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indent="0" marL="0">
              <a:buNone/>
            </a:pPr>
            <a:r>
              <a:rPr lang="en-US" sz="1300" b="1" spc="200" kern="0" dirty="0">
                <a:solidFill>
                  <a:srgbClr val="0D9488"/>
                </a:solidFill>
                <a:latin typeface="Calibri" pitchFamily="34" charset="0"/>
                <a:ea typeface="Calibri" pitchFamily="34" charset="-122"/>
                <a:cs typeface="Calibri" pitchFamily="34" charset="-120"/>
              </a:rPr>
              <a:t>DOCUMENTO 08</a:t>
            </a:r>
            <a:endParaRPr lang="en-US" sz="1300" dirty="0"/>
          </a:p>
        </p:txBody>
      </p:sp>
      <p:sp>
        <p:nvSpPr>
          <p:cNvPr id="3" name="Text 1"/>
          <p:cNvSpPr/>
          <p:nvPr/>
        </p:nvSpPr>
        <p:spPr>
          <a:xfrm>
            <a:off x="548640" y="658368"/>
            <a:ext cx="11064240" cy="777240"/>
          </a:xfrm>
          <a:prstGeom prst="rect">
            <a:avLst/>
          </a:prstGeom>
          <a:noFill/>
          <a:ln/>
        </p:spPr>
        <p:txBody>
          <a:bodyPr wrap="square" lIns="0" tIns="0" rIns="0" bIns="0" rtlCol="0" anchor="t"/>
          <a:lstStyle/>
          <a:p>
            <a:pPr indent="0" marL="0">
              <a:buNone/>
            </a:pPr>
            <a:r>
              <a:rPr lang="en-US" sz="3000" b="1" dirty="0">
                <a:solidFill>
                  <a:srgbClr val="1E293B"/>
                </a:solidFill>
                <a:latin typeface="Cambria" pitchFamily="34" charset="0"/>
                <a:ea typeface="Cambria" pitchFamily="34" charset="-122"/>
                <a:cs typeface="Cambria" pitchFamily="34" charset="-120"/>
              </a:rPr>
              <a:t>Nota de Débito: aumentar el valor cobrado</a:t>
            </a:r>
            <a:endParaRPr lang="en-US" sz="3000" dirty="0"/>
          </a:p>
        </p:txBody>
      </p:sp>
      <p:sp>
        <p:nvSpPr>
          <p:cNvPr id="4" name="Shape 2"/>
          <p:cNvSpPr/>
          <p:nvPr/>
        </p:nvSpPr>
        <p:spPr>
          <a:xfrm>
            <a:off x="548640" y="1645920"/>
            <a:ext cx="5120640" cy="4389120"/>
          </a:xfrm>
          <a:prstGeom prst="roundRect">
            <a:avLst>
              <a:gd name="adj" fmla="val 1667"/>
            </a:avLst>
          </a:prstGeom>
          <a:solidFill>
            <a:srgbClr val="F0FDFA"/>
          </a:solidFill>
          <a:ln/>
          <a:effectLst>
            <a:outerShdw sx="100000" sy="100000" kx="0" ky="0" algn="bl" rotWithShape="0" blurRad="101600" dist="38100" dir="5400000">
              <a:srgbClr val="000000">
                <a:alpha val="12000"/>
              </a:srgbClr>
            </a:outerShdw>
          </a:effectLst>
        </p:spPr>
      </p:sp>
      <p:sp>
        <p:nvSpPr>
          <p:cNvPr id="5" name="Text 3"/>
          <p:cNvSpPr/>
          <p:nvPr/>
        </p:nvSpPr>
        <p:spPr>
          <a:xfrm>
            <a:off x="822960" y="1828800"/>
            <a:ext cx="4572000" cy="411480"/>
          </a:xfrm>
          <a:prstGeom prst="rect">
            <a:avLst/>
          </a:prstGeom>
          <a:noFill/>
          <a:ln/>
        </p:spPr>
        <p:txBody>
          <a:bodyPr wrap="square" lIns="0" tIns="0" rIns="0" bIns="0" rtlCol="0" anchor="ctr"/>
          <a:lstStyle/>
          <a:p>
            <a:pPr indent="0" marL="0">
              <a:buNone/>
            </a:pPr>
            <a:r>
              <a:rPr lang="en-US" sz="1600" b="1" dirty="0">
                <a:solidFill>
                  <a:srgbClr val="0D9488"/>
                </a:solidFill>
                <a:latin typeface="Calibri" pitchFamily="34" charset="0"/>
                <a:ea typeface="Calibri" pitchFamily="34" charset="-122"/>
                <a:cs typeface="Calibri" pitchFamily="34" charset="-120"/>
              </a:rPr>
              <a:t>¿Cuándo se usa?</a:t>
            </a:r>
            <a:endParaRPr lang="en-US" sz="1600" dirty="0"/>
          </a:p>
        </p:txBody>
      </p:sp>
      <p:sp>
        <p:nvSpPr>
          <p:cNvPr id="6" name="Text 4"/>
          <p:cNvSpPr/>
          <p:nvPr/>
        </p:nvSpPr>
        <p:spPr>
          <a:xfrm>
            <a:off x="822960" y="2331720"/>
            <a:ext cx="4572000" cy="1463040"/>
          </a:xfrm>
          <a:prstGeom prst="rect">
            <a:avLst/>
          </a:prstGeom>
          <a:noFill/>
          <a:ln/>
        </p:spPr>
        <p:txBody>
          <a:bodyPr wrap="square" lIns="0" tIns="0" rIns="0" bIns="0" rtlCol="0" anchor="ctr"/>
          <a:lstStyle/>
          <a:p>
            <a:pPr marL="342900" indent="-342900">
              <a:spcAft>
                <a:spcPts val="600"/>
              </a:spcAft>
              <a:buSzPct val="100000"/>
              <a:buChar char="•"/>
            </a:pPr>
            <a:r>
              <a:rPr lang="en-US" sz="1450" dirty="0">
                <a:solidFill>
                  <a:srgbClr val="1E293B"/>
                </a:solidFill>
                <a:latin typeface="Calibri" pitchFamily="34" charset="0"/>
                <a:ea typeface="Calibri" pitchFamily="34" charset="-122"/>
                <a:cs typeface="Calibri" pitchFamily="34" charset="-120"/>
              </a:rPr>
              <a:t>Cobrar intereses por mora</a:t>
            </a:r>
            <a:endParaRPr lang="en-US" sz="1450" dirty="0"/>
          </a:p>
          <a:p>
            <a:pPr marL="342900" indent="-342900">
              <a:spcAft>
                <a:spcPts val="600"/>
              </a:spcAft>
              <a:buSzPct val="100000"/>
              <a:buChar char="•"/>
            </a:pPr>
            <a:r>
              <a:rPr lang="en-US" sz="1450" dirty="0">
                <a:solidFill>
                  <a:srgbClr val="1E293B"/>
                </a:solidFill>
                <a:latin typeface="Calibri" pitchFamily="34" charset="0"/>
                <a:ea typeface="Calibri" pitchFamily="34" charset="-122"/>
                <a:cs typeface="Calibri" pitchFamily="34" charset="-120"/>
              </a:rPr>
              <a:t>Aumentar el valor de la operación</a:t>
            </a:r>
            <a:endParaRPr lang="en-US" sz="1450" dirty="0"/>
          </a:p>
          <a:p>
            <a:pPr marL="342900" indent="-342900">
              <a:spcAft>
                <a:spcPts val="600"/>
              </a:spcAft>
              <a:buSzPct val="100000"/>
              <a:buChar char="•"/>
            </a:pPr>
            <a:r>
              <a:rPr lang="en-US" sz="1450" dirty="0">
                <a:solidFill>
                  <a:srgbClr val="1E293B"/>
                </a:solidFill>
                <a:latin typeface="Calibri" pitchFamily="34" charset="0"/>
                <a:ea typeface="Calibri" pitchFamily="34" charset="-122"/>
                <a:cs typeface="Calibri" pitchFamily="34" charset="-120"/>
              </a:rPr>
              <a:t>Penalidades u otros cargos</a:t>
            </a:r>
            <a:endParaRPr lang="en-US" sz="1450" dirty="0"/>
          </a:p>
        </p:txBody>
      </p:sp>
      <p:sp>
        <p:nvSpPr>
          <p:cNvPr id="7" name="Text 5"/>
          <p:cNvSpPr/>
          <p:nvPr/>
        </p:nvSpPr>
        <p:spPr>
          <a:xfrm>
            <a:off x="822960" y="4754880"/>
            <a:ext cx="4572000" cy="1005840"/>
          </a:xfrm>
          <a:prstGeom prst="rect">
            <a:avLst/>
          </a:prstGeom>
          <a:noFill/>
          <a:ln/>
        </p:spPr>
        <p:txBody>
          <a:bodyPr wrap="square" lIns="0" tIns="0" rIns="0" bIns="0" rtlCol="0" anchor="t"/>
          <a:lstStyle/>
          <a:p>
            <a:pPr indent="0" marL="0">
              <a:buNone/>
            </a:pPr>
            <a:r>
              <a:rPr lang="en-US" sz="1400" b="1" i="1" dirty="0">
                <a:solidFill>
                  <a:srgbClr val="1E293B"/>
                </a:solidFill>
                <a:latin typeface="Calibri" pitchFamily="34" charset="0"/>
                <a:ea typeface="Calibri" pitchFamily="34" charset="-122"/>
                <a:cs typeface="Calibri" pitchFamily="34" charset="-120"/>
              </a:rPr>
              <a:t>Espejo de la nota de crédito:  </a:t>
            </a:r>
            <a:pPr indent="0" marL="0">
              <a:buNone/>
            </a:pPr>
            <a:r>
              <a:rPr lang="en-US" sz="1400" i="1" dirty="0">
                <a:solidFill>
                  <a:srgbClr val="1E293B"/>
                </a:solidFill>
                <a:latin typeface="Calibri" pitchFamily="34" charset="0"/>
                <a:ea typeface="Calibri" pitchFamily="34" charset="-122"/>
                <a:cs typeface="Calibri" pitchFamily="34" charset="-120"/>
              </a:rPr>
              <a:t>siempre incrementa lo que el cliente debe pagar.</a:t>
            </a:r>
            <a:endParaRPr lang="en-US" sz="1400" dirty="0"/>
          </a:p>
        </p:txBody>
      </p:sp>
      <p:sp>
        <p:nvSpPr>
          <p:cNvPr id="8" name="Shape 6"/>
          <p:cNvSpPr/>
          <p:nvPr/>
        </p:nvSpPr>
        <p:spPr>
          <a:xfrm>
            <a:off x="6355080" y="1645920"/>
            <a:ext cx="5257800" cy="4389120"/>
          </a:xfrm>
          <a:prstGeom prst="roundRect">
            <a:avLst>
              <a:gd name="adj" fmla="val 1667"/>
            </a:avLst>
          </a:prstGeom>
          <a:solidFill>
            <a:srgbClr val="FFFFFF"/>
          </a:solidFill>
          <a:ln w="12700">
            <a:solidFill>
              <a:srgbClr val="CBD5E1"/>
            </a:solidFill>
            <a:prstDash val="solid"/>
          </a:ln>
        </p:spPr>
      </p:sp>
      <p:sp>
        <p:nvSpPr>
          <p:cNvPr id="9" name="Text 7"/>
          <p:cNvSpPr/>
          <p:nvPr/>
        </p:nvSpPr>
        <p:spPr>
          <a:xfrm>
            <a:off x="6629400" y="1828800"/>
            <a:ext cx="4754880" cy="411480"/>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Catálogo 10 SUNAT — motivos</a:t>
            </a:r>
            <a:endParaRPr lang="en-US" sz="1500" dirty="0"/>
          </a:p>
        </p:txBody>
      </p:sp>
      <p:sp>
        <p:nvSpPr>
          <p:cNvPr id="10" name="Shape 8"/>
          <p:cNvSpPr/>
          <p:nvPr/>
        </p:nvSpPr>
        <p:spPr>
          <a:xfrm>
            <a:off x="6629400" y="2468880"/>
            <a:ext cx="411480" cy="411480"/>
          </a:xfrm>
          <a:prstGeom prst="ellipse">
            <a:avLst/>
          </a:prstGeom>
          <a:solidFill>
            <a:srgbClr val="D97706"/>
          </a:solidFill>
          <a:ln/>
        </p:spPr>
      </p:sp>
      <p:sp>
        <p:nvSpPr>
          <p:cNvPr id="11" name="Text 9"/>
          <p:cNvSpPr/>
          <p:nvPr/>
        </p:nvSpPr>
        <p:spPr>
          <a:xfrm>
            <a:off x="6629400" y="246888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01</a:t>
            </a:r>
            <a:endParaRPr lang="en-US" sz="1400" dirty="0"/>
          </a:p>
        </p:txBody>
      </p:sp>
      <p:sp>
        <p:nvSpPr>
          <p:cNvPr id="12" name="Text 10"/>
          <p:cNvSpPr/>
          <p:nvPr/>
        </p:nvSpPr>
        <p:spPr>
          <a:xfrm>
            <a:off x="7178040" y="2468880"/>
            <a:ext cx="4206240" cy="41148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Intereses por mora</a:t>
            </a:r>
            <a:endParaRPr lang="en-US" sz="1500" dirty="0"/>
          </a:p>
        </p:txBody>
      </p:sp>
      <p:sp>
        <p:nvSpPr>
          <p:cNvPr id="13" name="Shape 11"/>
          <p:cNvSpPr/>
          <p:nvPr/>
        </p:nvSpPr>
        <p:spPr>
          <a:xfrm>
            <a:off x="6629400" y="3108960"/>
            <a:ext cx="411480" cy="411480"/>
          </a:xfrm>
          <a:prstGeom prst="ellipse">
            <a:avLst/>
          </a:prstGeom>
          <a:solidFill>
            <a:srgbClr val="D97706"/>
          </a:solidFill>
          <a:ln/>
        </p:spPr>
      </p:sp>
      <p:sp>
        <p:nvSpPr>
          <p:cNvPr id="14" name="Text 12"/>
          <p:cNvSpPr/>
          <p:nvPr/>
        </p:nvSpPr>
        <p:spPr>
          <a:xfrm>
            <a:off x="6629400" y="310896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02</a:t>
            </a:r>
            <a:endParaRPr lang="en-US" sz="1400" dirty="0"/>
          </a:p>
        </p:txBody>
      </p:sp>
      <p:sp>
        <p:nvSpPr>
          <p:cNvPr id="15" name="Text 13"/>
          <p:cNvSpPr/>
          <p:nvPr/>
        </p:nvSpPr>
        <p:spPr>
          <a:xfrm>
            <a:off x="7178040" y="3108960"/>
            <a:ext cx="4206240" cy="41148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Aumento en el valor</a:t>
            </a:r>
            <a:endParaRPr lang="en-US" sz="1500" dirty="0"/>
          </a:p>
        </p:txBody>
      </p:sp>
      <p:sp>
        <p:nvSpPr>
          <p:cNvPr id="16" name="Shape 14"/>
          <p:cNvSpPr/>
          <p:nvPr/>
        </p:nvSpPr>
        <p:spPr>
          <a:xfrm>
            <a:off x="6629400" y="3749040"/>
            <a:ext cx="411480" cy="411480"/>
          </a:xfrm>
          <a:prstGeom prst="ellipse">
            <a:avLst/>
          </a:prstGeom>
          <a:solidFill>
            <a:srgbClr val="D97706"/>
          </a:solidFill>
          <a:ln/>
        </p:spPr>
      </p:sp>
      <p:sp>
        <p:nvSpPr>
          <p:cNvPr id="17" name="Text 15"/>
          <p:cNvSpPr/>
          <p:nvPr/>
        </p:nvSpPr>
        <p:spPr>
          <a:xfrm>
            <a:off x="6629400" y="374904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03</a:t>
            </a:r>
            <a:endParaRPr lang="en-US" sz="1400" dirty="0"/>
          </a:p>
        </p:txBody>
      </p:sp>
      <p:sp>
        <p:nvSpPr>
          <p:cNvPr id="18" name="Text 16"/>
          <p:cNvSpPr/>
          <p:nvPr/>
        </p:nvSpPr>
        <p:spPr>
          <a:xfrm>
            <a:off x="7178040" y="3749040"/>
            <a:ext cx="4206240" cy="41148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Penalidades / otros conceptos</a:t>
            </a:r>
            <a:endParaRPr lang="en-US" sz="1500" dirty="0"/>
          </a:p>
        </p:txBody>
      </p:sp>
      <p:sp>
        <p:nvSpPr>
          <p:cNvPr id="19" name="Text 17"/>
          <p:cNvSpPr/>
          <p:nvPr/>
        </p:nvSpPr>
        <p:spPr>
          <a:xfrm>
            <a:off x="6629400" y="4937760"/>
            <a:ext cx="4754880" cy="822960"/>
          </a:xfrm>
          <a:prstGeom prst="rect">
            <a:avLst/>
          </a:prstGeom>
          <a:noFill/>
          <a:ln/>
        </p:spPr>
        <p:txBody>
          <a:bodyPr wrap="square" lIns="0" tIns="0" rIns="0" bIns="0" rtlCol="0" anchor="t"/>
          <a:lstStyle/>
          <a:p>
            <a:pPr indent="0" marL="0">
              <a:buNone/>
            </a:pPr>
            <a:r>
              <a:rPr lang="en-US" sz="1300" i="1" dirty="0">
                <a:solidFill>
                  <a:srgbClr val="64748B"/>
                </a:solidFill>
                <a:latin typeface="Calibri" pitchFamily="34" charset="0"/>
                <a:ea typeface="Calibri" pitchFamily="34" charset="-122"/>
                <a:cs typeface="Calibri" pitchFamily="34" charset="-120"/>
              </a:rPr>
              <a:t>Mismo código, distinto catálogo: el sistema cambia el &lt;select&gt; según el tipo de nota.</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indent="0" marL="0">
              <a:buNone/>
            </a:pPr>
            <a:r>
              <a:rPr lang="en-US" sz="1300" b="1" spc="200" kern="0" dirty="0">
                <a:solidFill>
                  <a:srgbClr val="0D9488"/>
                </a:solidFill>
                <a:latin typeface="Calibri" pitchFamily="34" charset="0"/>
                <a:ea typeface="Calibri" pitchFamily="34" charset="-122"/>
                <a:cs typeface="Calibri" pitchFamily="34" charset="-120"/>
              </a:rPr>
              <a:t>DECISIÓN DE DISEÑO</a:t>
            </a:r>
            <a:endParaRPr lang="en-US" sz="1300" dirty="0"/>
          </a:p>
        </p:txBody>
      </p:sp>
      <p:sp>
        <p:nvSpPr>
          <p:cNvPr id="3" name="Text 1"/>
          <p:cNvSpPr/>
          <p:nvPr/>
        </p:nvSpPr>
        <p:spPr>
          <a:xfrm>
            <a:off x="548640" y="658368"/>
            <a:ext cx="11064240" cy="777240"/>
          </a:xfrm>
          <a:prstGeom prst="rect">
            <a:avLst/>
          </a:prstGeom>
          <a:noFill/>
          <a:ln/>
        </p:spPr>
        <p:txBody>
          <a:bodyPr wrap="square" lIns="0" tIns="0" rIns="0" bIns="0" rtlCol="0" anchor="t"/>
          <a:lstStyle/>
          <a:p>
            <a:pPr indent="0" marL="0">
              <a:buNone/>
            </a:pPr>
            <a:r>
              <a:rPr lang="en-US" sz="3000" b="1" dirty="0">
                <a:solidFill>
                  <a:srgbClr val="1E293B"/>
                </a:solidFill>
                <a:latin typeface="Cambria" pitchFamily="34" charset="0"/>
                <a:ea typeface="Cambria" pitchFamily="34" charset="-122"/>
                <a:cs typeface="Cambria" pitchFamily="34" charset="-120"/>
              </a:rPr>
              <a:t>¿Por qué guardamos las notas en la tabla 'ventas'?</a:t>
            </a:r>
            <a:endParaRPr lang="en-US" sz="3000" dirty="0"/>
          </a:p>
        </p:txBody>
      </p:sp>
      <p:sp>
        <p:nvSpPr>
          <p:cNvPr id="4" name="Shape 2"/>
          <p:cNvSpPr/>
          <p:nvPr/>
        </p:nvSpPr>
        <p:spPr>
          <a:xfrm>
            <a:off x="548640" y="1645920"/>
            <a:ext cx="5440680" cy="1783080"/>
          </a:xfrm>
          <a:prstGeom prst="roundRect">
            <a:avLst>
              <a:gd name="adj" fmla="val 4103"/>
            </a:avLst>
          </a:prstGeom>
          <a:solidFill>
            <a:srgbClr val="F0FDFA"/>
          </a:solidFill>
          <a:ln/>
          <a:effectLst>
            <a:outerShdw sx="100000" sy="100000" kx="0" ky="0" algn="bl" rotWithShape="0" blurRad="101600" dist="38100" dir="5400000">
              <a:srgbClr val="000000">
                <a:alpha val="12000"/>
              </a:srgbClr>
            </a:outerShdw>
          </a:effectLst>
        </p:spPr>
      </p:sp>
      <p:sp>
        <p:nvSpPr>
          <p:cNvPr id="5" name="Shape 3"/>
          <p:cNvSpPr/>
          <p:nvPr/>
        </p:nvSpPr>
        <p:spPr>
          <a:xfrm>
            <a:off x="822960" y="1938528"/>
            <a:ext cx="502920" cy="502920"/>
          </a:xfrm>
          <a:prstGeom prst="ellipse">
            <a:avLst/>
          </a:prstGeom>
          <a:solidFill>
            <a:srgbClr val="0D9488"/>
          </a:solidFill>
          <a:ln/>
        </p:spPr>
      </p:sp>
      <p:sp>
        <p:nvSpPr>
          <p:cNvPr id="6" name="Text 4"/>
          <p:cNvSpPr/>
          <p:nvPr/>
        </p:nvSpPr>
        <p:spPr>
          <a:xfrm>
            <a:off x="822960" y="1938528"/>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508760" y="1938528"/>
            <a:ext cx="4206240" cy="502920"/>
          </a:xfrm>
          <a:prstGeom prst="rect">
            <a:avLst/>
          </a:prstGeom>
          <a:noFill/>
          <a:ln/>
        </p:spPr>
        <p:txBody>
          <a:bodyPr wrap="square" lIns="0" tIns="0" rIns="0" bIns="0" rtlCol="0" anchor="ctr"/>
          <a:lstStyle/>
          <a:p>
            <a:pPr indent="0" marL="0">
              <a:buNone/>
            </a:pPr>
            <a:r>
              <a:rPr lang="en-US" sz="1650" b="1" dirty="0">
                <a:solidFill>
                  <a:srgbClr val="1E293B"/>
                </a:solidFill>
                <a:latin typeface="Calibri" pitchFamily="34" charset="0"/>
                <a:ea typeface="Calibri" pitchFamily="34" charset="-122"/>
                <a:cs typeface="Calibri" pitchFamily="34" charset="-120"/>
              </a:rPr>
              <a:t>Misma estructura</a:t>
            </a:r>
            <a:endParaRPr lang="en-US" sz="1650" dirty="0"/>
          </a:p>
        </p:txBody>
      </p:sp>
      <p:sp>
        <p:nvSpPr>
          <p:cNvPr id="8" name="Text 6"/>
          <p:cNvSpPr/>
          <p:nvPr/>
        </p:nvSpPr>
        <p:spPr>
          <a:xfrm>
            <a:off x="841248" y="2560320"/>
            <a:ext cx="4846320" cy="777240"/>
          </a:xfrm>
          <a:prstGeom prst="rect">
            <a:avLst/>
          </a:prstGeom>
          <a:noFill/>
          <a:ln/>
        </p:spPr>
        <p:txBody>
          <a:bodyPr wrap="square" lIns="0" tIns="0" rIns="0" bIns="0" rtlCol="0" anchor="t"/>
          <a:lstStyle/>
          <a:p>
            <a:pPr indent="0" marL="0">
              <a:buNone/>
            </a:pPr>
            <a:r>
              <a:rPr lang="en-US" sz="1350" dirty="0">
                <a:solidFill>
                  <a:srgbClr val="64748B"/>
                </a:solidFill>
                <a:latin typeface="Calibri" pitchFamily="34" charset="0"/>
                <a:ea typeface="Calibri" pitchFamily="34" charset="-122"/>
                <a:cs typeface="Calibri" pitchFamily="34" charset="-120"/>
              </a:rPr>
              <a:t>Cabecera + detalle + estados SUNAT: una nota encaja igual que una venta.</a:t>
            </a:r>
            <a:endParaRPr lang="en-US" sz="1350" dirty="0"/>
          </a:p>
        </p:txBody>
      </p:sp>
      <p:sp>
        <p:nvSpPr>
          <p:cNvPr id="9" name="Shape 7"/>
          <p:cNvSpPr/>
          <p:nvPr/>
        </p:nvSpPr>
        <p:spPr>
          <a:xfrm>
            <a:off x="6172200" y="1645920"/>
            <a:ext cx="5440680" cy="1783080"/>
          </a:xfrm>
          <a:prstGeom prst="roundRect">
            <a:avLst>
              <a:gd name="adj" fmla="val 4103"/>
            </a:avLst>
          </a:prstGeom>
          <a:solidFill>
            <a:srgbClr val="F0FDFA"/>
          </a:solidFill>
          <a:ln/>
          <a:effectLst>
            <a:outerShdw sx="100000" sy="100000" kx="0" ky="0" algn="bl" rotWithShape="0" blurRad="101600" dist="38100" dir="5400000">
              <a:srgbClr val="000000">
                <a:alpha val="12000"/>
              </a:srgbClr>
            </a:outerShdw>
          </a:effectLst>
        </p:spPr>
      </p:sp>
      <p:sp>
        <p:nvSpPr>
          <p:cNvPr id="10" name="Shape 8"/>
          <p:cNvSpPr/>
          <p:nvPr/>
        </p:nvSpPr>
        <p:spPr>
          <a:xfrm>
            <a:off x="6446520" y="1938528"/>
            <a:ext cx="502920" cy="502920"/>
          </a:xfrm>
          <a:prstGeom prst="ellipse">
            <a:avLst/>
          </a:prstGeom>
          <a:solidFill>
            <a:srgbClr val="0D9488"/>
          </a:solidFill>
          <a:ln/>
        </p:spPr>
      </p:sp>
      <p:sp>
        <p:nvSpPr>
          <p:cNvPr id="11" name="Text 9"/>
          <p:cNvSpPr/>
          <p:nvPr/>
        </p:nvSpPr>
        <p:spPr>
          <a:xfrm>
            <a:off x="6446520" y="1938528"/>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12" name="Text 10"/>
          <p:cNvSpPr/>
          <p:nvPr/>
        </p:nvSpPr>
        <p:spPr>
          <a:xfrm>
            <a:off x="7132320" y="1938528"/>
            <a:ext cx="4206240" cy="502920"/>
          </a:xfrm>
          <a:prstGeom prst="rect">
            <a:avLst/>
          </a:prstGeom>
          <a:noFill/>
          <a:ln/>
        </p:spPr>
        <p:txBody>
          <a:bodyPr wrap="square" lIns="0" tIns="0" rIns="0" bIns="0" rtlCol="0" anchor="ctr"/>
          <a:lstStyle/>
          <a:p>
            <a:pPr indent="0" marL="0">
              <a:buNone/>
            </a:pPr>
            <a:r>
              <a:rPr lang="en-US" sz="1650" b="1" dirty="0">
                <a:solidFill>
                  <a:srgbClr val="1E293B"/>
                </a:solidFill>
                <a:latin typeface="Calibri" pitchFamily="34" charset="0"/>
                <a:ea typeface="Calibri" pitchFamily="34" charset="-122"/>
                <a:cs typeface="Calibri" pitchFamily="34" charset="-120"/>
              </a:rPr>
              <a:t>Menos código</a:t>
            </a:r>
            <a:endParaRPr lang="en-US" sz="1650" dirty="0"/>
          </a:p>
        </p:txBody>
      </p:sp>
      <p:sp>
        <p:nvSpPr>
          <p:cNvPr id="13" name="Text 11"/>
          <p:cNvSpPr/>
          <p:nvPr/>
        </p:nvSpPr>
        <p:spPr>
          <a:xfrm>
            <a:off x="6464808" y="2560320"/>
            <a:ext cx="4846320" cy="777240"/>
          </a:xfrm>
          <a:prstGeom prst="rect">
            <a:avLst/>
          </a:prstGeom>
          <a:noFill/>
          <a:ln/>
        </p:spPr>
        <p:txBody>
          <a:bodyPr wrap="square" lIns="0" tIns="0" rIns="0" bIns="0" rtlCol="0" anchor="t"/>
          <a:lstStyle/>
          <a:p>
            <a:pPr indent="0" marL="0">
              <a:buNone/>
            </a:pPr>
            <a:r>
              <a:rPr lang="en-US" sz="1350" dirty="0">
                <a:solidFill>
                  <a:srgbClr val="64748B"/>
                </a:solidFill>
                <a:latin typeface="Calibri" pitchFamily="34" charset="0"/>
                <a:ea typeface="Calibri" pitchFamily="34" charset="-122"/>
                <a:cs typeface="Calibri" pitchFamily="34" charset="-120"/>
              </a:rPr>
              <a:t>Reutilizamos listado, impresión y envío en lugar de duplicarlos.</a:t>
            </a:r>
            <a:endParaRPr lang="en-US" sz="1350" dirty="0"/>
          </a:p>
        </p:txBody>
      </p:sp>
      <p:sp>
        <p:nvSpPr>
          <p:cNvPr id="14" name="Shape 12"/>
          <p:cNvSpPr/>
          <p:nvPr/>
        </p:nvSpPr>
        <p:spPr>
          <a:xfrm>
            <a:off x="548640" y="3611880"/>
            <a:ext cx="5440680" cy="1783080"/>
          </a:xfrm>
          <a:prstGeom prst="roundRect">
            <a:avLst>
              <a:gd name="adj" fmla="val 4103"/>
            </a:avLst>
          </a:prstGeom>
          <a:solidFill>
            <a:srgbClr val="F0FDFA"/>
          </a:solidFill>
          <a:ln/>
          <a:effectLst>
            <a:outerShdw sx="100000" sy="100000" kx="0" ky="0" algn="bl" rotWithShape="0" blurRad="101600" dist="38100" dir="5400000">
              <a:srgbClr val="000000">
                <a:alpha val="12000"/>
              </a:srgbClr>
            </a:outerShdw>
          </a:effectLst>
        </p:spPr>
      </p:sp>
      <p:sp>
        <p:nvSpPr>
          <p:cNvPr id="15" name="Shape 13"/>
          <p:cNvSpPr/>
          <p:nvPr/>
        </p:nvSpPr>
        <p:spPr>
          <a:xfrm>
            <a:off x="822960" y="3904488"/>
            <a:ext cx="502920" cy="502920"/>
          </a:xfrm>
          <a:prstGeom prst="ellipse">
            <a:avLst/>
          </a:prstGeom>
          <a:solidFill>
            <a:srgbClr val="0D9488"/>
          </a:solidFill>
          <a:ln/>
        </p:spPr>
      </p:sp>
      <p:sp>
        <p:nvSpPr>
          <p:cNvPr id="16" name="Text 14"/>
          <p:cNvSpPr/>
          <p:nvPr/>
        </p:nvSpPr>
        <p:spPr>
          <a:xfrm>
            <a:off x="822960" y="3904488"/>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17" name="Text 15"/>
          <p:cNvSpPr/>
          <p:nvPr/>
        </p:nvSpPr>
        <p:spPr>
          <a:xfrm>
            <a:off x="1508760" y="3904488"/>
            <a:ext cx="4206240" cy="502920"/>
          </a:xfrm>
          <a:prstGeom prst="rect">
            <a:avLst/>
          </a:prstGeom>
          <a:noFill/>
          <a:ln/>
        </p:spPr>
        <p:txBody>
          <a:bodyPr wrap="square" lIns="0" tIns="0" rIns="0" bIns="0" rtlCol="0" anchor="ctr"/>
          <a:lstStyle/>
          <a:p>
            <a:pPr indent="0" marL="0">
              <a:buNone/>
            </a:pPr>
            <a:r>
              <a:rPr lang="en-US" sz="1650" b="1" dirty="0">
                <a:solidFill>
                  <a:srgbClr val="1E293B"/>
                </a:solidFill>
                <a:latin typeface="Calibri" pitchFamily="34" charset="0"/>
                <a:ea typeface="Calibri" pitchFamily="34" charset="-122"/>
                <a:cs typeface="Calibri" pitchFamily="34" charset="-120"/>
              </a:rPr>
              <a:t>Aparecen juntas</a:t>
            </a:r>
            <a:endParaRPr lang="en-US" sz="1650" dirty="0"/>
          </a:p>
        </p:txBody>
      </p:sp>
      <p:sp>
        <p:nvSpPr>
          <p:cNvPr id="18" name="Text 16"/>
          <p:cNvSpPr/>
          <p:nvPr/>
        </p:nvSpPr>
        <p:spPr>
          <a:xfrm>
            <a:off x="841248" y="4526280"/>
            <a:ext cx="4846320" cy="777240"/>
          </a:xfrm>
          <a:prstGeom prst="rect">
            <a:avLst/>
          </a:prstGeom>
          <a:noFill/>
          <a:ln/>
        </p:spPr>
        <p:txBody>
          <a:bodyPr wrap="square" lIns="0" tIns="0" rIns="0" bIns="0" rtlCol="0" anchor="t"/>
          <a:lstStyle/>
          <a:p>
            <a:pPr indent="0" marL="0">
              <a:buNone/>
            </a:pPr>
            <a:r>
              <a:rPr lang="en-US" sz="1350" dirty="0">
                <a:solidFill>
                  <a:srgbClr val="64748B"/>
                </a:solidFill>
                <a:latin typeface="Calibri" pitchFamily="34" charset="0"/>
                <a:ea typeface="Calibri" pitchFamily="34" charset="-122"/>
                <a:cs typeface="Calibri" pitchFamily="34" charset="-120"/>
              </a:rPr>
              <a:t>Las notas se ven en el mismo listado de comprobantes, sin pantallas nuevas.</a:t>
            </a:r>
            <a:endParaRPr lang="en-US" sz="1350" dirty="0"/>
          </a:p>
        </p:txBody>
      </p:sp>
      <p:sp>
        <p:nvSpPr>
          <p:cNvPr id="19" name="Shape 17"/>
          <p:cNvSpPr/>
          <p:nvPr/>
        </p:nvSpPr>
        <p:spPr>
          <a:xfrm>
            <a:off x="6172200" y="3611880"/>
            <a:ext cx="5440680" cy="1783080"/>
          </a:xfrm>
          <a:prstGeom prst="roundRect">
            <a:avLst>
              <a:gd name="adj" fmla="val 4103"/>
            </a:avLst>
          </a:prstGeom>
          <a:solidFill>
            <a:srgbClr val="F0FDFA"/>
          </a:solidFill>
          <a:ln/>
          <a:effectLst>
            <a:outerShdw sx="100000" sy="100000" kx="0" ky="0" algn="bl" rotWithShape="0" blurRad="101600" dist="38100" dir="5400000">
              <a:srgbClr val="000000">
                <a:alpha val="12000"/>
              </a:srgbClr>
            </a:outerShdw>
          </a:effectLst>
        </p:spPr>
      </p:sp>
      <p:sp>
        <p:nvSpPr>
          <p:cNvPr id="20" name="Shape 18"/>
          <p:cNvSpPr/>
          <p:nvPr/>
        </p:nvSpPr>
        <p:spPr>
          <a:xfrm>
            <a:off x="6446520" y="3904488"/>
            <a:ext cx="502920" cy="502920"/>
          </a:xfrm>
          <a:prstGeom prst="ellipse">
            <a:avLst/>
          </a:prstGeom>
          <a:solidFill>
            <a:srgbClr val="0D9488"/>
          </a:solidFill>
          <a:ln/>
        </p:spPr>
      </p:sp>
      <p:sp>
        <p:nvSpPr>
          <p:cNvPr id="21" name="Text 19"/>
          <p:cNvSpPr/>
          <p:nvPr/>
        </p:nvSpPr>
        <p:spPr>
          <a:xfrm>
            <a:off x="6446520" y="3904488"/>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22" name="Text 20"/>
          <p:cNvSpPr/>
          <p:nvPr/>
        </p:nvSpPr>
        <p:spPr>
          <a:xfrm>
            <a:off x="7132320" y="3904488"/>
            <a:ext cx="4206240" cy="502920"/>
          </a:xfrm>
          <a:prstGeom prst="rect">
            <a:avLst/>
          </a:prstGeom>
          <a:noFill/>
          <a:ln/>
        </p:spPr>
        <p:txBody>
          <a:bodyPr wrap="square" lIns="0" tIns="0" rIns="0" bIns="0" rtlCol="0" anchor="ctr"/>
          <a:lstStyle/>
          <a:p>
            <a:pPr indent="0" marL="0">
              <a:buNone/>
            </a:pPr>
            <a:r>
              <a:rPr lang="en-US" sz="1650" b="1" dirty="0">
                <a:solidFill>
                  <a:srgbClr val="1E293B"/>
                </a:solidFill>
                <a:latin typeface="Calibri" pitchFamily="34" charset="0"/>
                <a:ea typeface="Calibri" pitchFamily="34" charset="-122"/>
                <a:cs typeface="Calibri" pitchFamily="34" charset="-120"/>
              </a:rPr>
              <a:t>Evoluciona sola</a:t>
            </a:r>
            <a:endParaRPr lang="en-US" sz="1650" dirty="0"/>
          </a:p>
        </p:txBody>
      </p:sp>
      <p:sp>
        <p:nvSpPr>
          <p:cNvPr id="23" name="Text 21"/>
          <p:cNvSpPr/>
          <p:nvPr/>
        </p:nvSpPr>
        <p:spPr>
          <a:xfrm>
            <a:off x="6464808" y="4526280"/>
            <a:ext cx="4846320" cy="777240"/>
          </a:xfrm>
          <a:prstGeom prst="rect">
            <a:avLst/>
          </a:prstGeom>
          <a:noFill/>
          <a:ln/>
        </p:spPr>
        <p:txBody>
          <a:bodyPr wrap="square" lIns="0" tIns="0" rIns="0" bIns="0" rtlCol="0" anchor="t"/>
          <a:lstStyle/>
          <a:p>
            <a:pPr indent="0" marL="0">
              <a:buNone/>
            </a:pPr>
            <a:r>
              <a:rPr lang="en-US" sz="1350" dirty="0">
                <a:solidFill>
                  <a:srgbClr val="64748B"/>
                </a:solidFill>
                <a:latin typeface="Calibri" pitchFamily="34" charset="0"/>
                <a:ea typeface="Calibri" pitchFamily="34" charset="-122"/>
                <a:cs typeface="Calibri" pitchFamily="34" charset="-120"/>
              </a:rPr>
              <a:t>Las columnas extra se agregan con ALTER TABLE automático si faltan.</a:t>
            </a:r>
            <a:endParaRPr lang="en-US" sz="1350" dirty="0"/>
          </a:p>
        </p:txBody>
      </p:sp>
      <p:sp>
        <p:nvSpPr>
          <p:cNvPr id="24" name="Text 22"/>
          <p:cNvSpPr/>
          <p:nvPr/>
        </p:nvSpPr>
        <p:spPr>
          <a:xfrm>
            <a:off x="548640" y="5943600"/>
            <a:ext cx="11064240" cy="548640"/>
          </a:xfrm>
          <a:prstGeom prst="rect">
            <a:avLst/>
          </a:prstGeom>
          <a:noFill/>
          <a:ln/>
        </p:spPr>
        <p:txBody>
          <a:bodyPr wrap="square" lIns="0" tIns="0" rIns="0" bIns="0" rtlCol="0" anchor="ctr"/>
          <a:lstStyle/>
          <a:p>
            <a:pPr algn="ctr" indent="0" marL="0">
              <a:buNone/>
            </a:pPr>
            <a:r>
              <a:rPr lang="en-US" sz="1150" dirty="0">
                <a:solidFill>
                  <a:srgbClr val="0D9488"/>
                </a:solidFill>
                <a:latin typeface="Courier New" pitchFamily="34" charset="0"/>
                <a:ea typeface="Courier New" pitchFamily="34" charset="-122"/>
                <a:cs typeface="Courier New" pitchFamily="34" charset="-120"/>
              </a:rPr>
              <a:t>Columnas que agregamos a 'ventas':  id_doc_afectado · tipo_doc_afectado · serie_afectada · correlativo_afectado · cod_motivo · desc_motivo</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indent="0" marL="0">
              <a:buNone/>
            </a:pPr>
            <a:r>
              <a:rPr lang="en-US" sz="1300" b="1" spc="200" kern="0" dirty="0">
                <a:solidFill>
                  <a:srgbClr val="0D9488"/>
                </a:solidFill>
                <a:latin typeface="Calibri" pitchFamily="34" charset="0"/>
                <a:ea typeface="Calibri" pitchFamily="34" charset="-122"/>
                <a:cs typeface="Calibri" pitchFamily="34" charset="-120"/>
              </a:rPr>
              <a:t>CONCEPTO + CÓDIGO</a:t>
            </a:r>
            <a:endParaRPr lang="en-US" sz="1300" dirty="0"/>
          </a:p>
        </p:txBody>
      </p:sp>
      <p:sp>
        <p:nvSpPr>
          <p:cNvPr id="3" name="Text 1"/>
          <p:cNvSpPr/>
          <p:nvPr/>
        </p:nvSpPr>
        <p:spPr>
          <a:xfrm>
            <a:off x="548640" y="658368"/>
            <a:ext cx="11064240" cy="777240"/>
          </a:xfrm>
          <a:prstGeom prst="rect">
            <a:avLst/>
          </a:prstGeom>
          <a:noFill/>
          <a:ln/>
        </p:spPr>
        <p:txBody>
          <a:bodyPr wrap="square" lIns="0" tIns="0" rIns="0" bIns="0" rtlCol="0" anchor="t"/>
          <a:lstStyle/>
          <a:p>
            <a:pPr indent="0" marL="0">
              <a:buNone/>
            </a:pPr>
            <a:r>
              <a:rPr lang="en-US" sz="3000" b="1" dirty="0">
                <a:solidFill>
                  <a:srgbClr val="1E293B"/>
                </a:solidFill>
                <a:latin typeface="Cambria" pitchFamily="34" charset="0"/>
                <a:ea typeface="Cambria" pitchFamily="34" charset="-122"/>
                <a:cs typeface="Cambria" pitchFamily="34" charset="-120"/>
              </a:rPr>
              <a:t>Una nota nunca vive sola: docs_referencia</a:t>
            </a:r>
            <a:endParaRPr lang="en-US" sz="3000" dirty="0"/>
          </a:p>
        </p:txBody>
      </p:sp>
      <p:sp>
        <p:nvSpPr>
          <p:cNvPr id="4" name="Text 2"/>
          <p:cNvSpPr/>
          <p:nvPr/>
        </p:nvSpPr>
        <p:spPr>
          <a:xfrm>
            <a:off x="548640" y="1600200"/>
            <a:ext cx="11064240" cy="640080"/>
          </a:xfrm>
          <a:prstGeom prst="rect">
            <a:avLst/>
          </a:prstGeom>
          <a:noFill/>
          <a:ln/>
        </p:spPr>
        <p:txBody>
          <a:bodyPr wrap="square" lIns="0" tIns="0" rIns="0" bIns="0" rtlCol="0" anchor="t"/>
          <a:lstStyle/>
          <a:p>
            <a:pPr indent="0" marL="0">
              <a:buNone/>
            </a:pPr>
            <a:r>
              <a:rPr lang="en-US" sz="1600" dirty="0">
                <a:solidFill>
                  <a:srgbClr val="1E293B"/>
                </a:solidFill>
                <a:latin typeface="Calibri" pitchFamily="34" charset="0"/>
                <a:ea typeface="Calibri" pitchFamily="34" charset="-122"/>
                <a:cs typeface="Calibri" pitchFamily="34" charset="-120"/>
              </a:rPr>
              <a:t>Toda nota de crédito/débito DEBE apuntar al comprobante que afecta. </a:t>
            </a:r>
            <a:pPr indent="0" marL="0">
              <a:buNone/>
            </a:pPr>
            <a:r>
              <a:rPr lang="en-US" sz="1600" dirty="0">
                <a:solidFill>
                  <a:srgbClr val="1E293B"/>
                </a:solidFill>
                <a:latin typeface="Calibri" pitchFamily="34" charset="0"/>
                <a:ea typeface="Calibri" pitchFamily="34" charset="-122"/>
                <a:cs typeface="Calibri" pitchFamily="34" charset="-120"/>
              </a:rPr>
              <a:t>SUNAT necesita saber qué documento se está corrigiendo, con qué motivo.</a:t>
            </a:r>
            <a:endParaRPr lang="en-US" sz="1600" dirty="0"/>
          </a:p>
        </p:txBody>
      </p:sp>
      <p:sp>
        <p:nvSpPr>
          <p:cNvPr id="5" name="Shape 3"/>
          <p:cNvSpPr/>
          <p:nvPr/>
        </p:nvSpPr>
        <p:spPr>
          <a:xfrm>
            <a:off x="548640" y="2377440"/>
            <a:ext cx="11064240" cy="3200400"/>
          </a:xfrm>
          <a:prstGeom prst="roundRect">
            <a:avLst>
              <a:gd name="adj" fmla="val 1714"/>
            </a:avLst>
          </a:prstGeom>
          <a:solidFill>
            <a:srgbClr val="0F172A"/>
          </a:solidFill>
          <a:ln/>
          <a:effectLst>
            <a:outerShdw sx="100000" sy="100000" kx="0" ky="0" algn="bl" rotWithShape="0" blurRad="101600" dist="38100" dir="5400000">
              <a:srgbClr val="000000">
                <a:alpha val="12000"/>
              </a:srgbClr>
            </a:outerShdw>
          </a:effectLst>
        </p:spPr>
      </p:sp>
      <p:sp>
        <p:nvSpPr>
          <p:cNvPr id="6" name="Text 4"/>
          <p:cNvSpPr/>
          <p:nvPr/>
        </p:nvSpPr>
        <p:spPr>
          <a:xfrm>
            <a:off x="777240" y="2542032"/>
            <a:ext cx="10607040" cy="2871216"/>
          </a:xfrm>
          <a:prstGeom prst="rect">
            <a:avLst/>
          </a:prstGeom>
          <a:noFill/>
          <a:ln/>
        </p:spPr>
        <p:txBody>
          <a:bodyPr wrap="square" lIns="0" tIns="0" rIns="0" bIns="0" rtlCol="0" anchor="t"/>
          <a:lstStyle/>
          <a:p>
            <a:pPr indent="0" marL="0">
              <a:lnSpc>
                <a:spcPct val="108000"/>
              </a:lnSpc>
              <a:buNone/>
            </a:pPr>
            <a:r>
              <a:rPr lang="en-US" sz="1250" dirty="0">
                <a:solidFill>
                  <a:srgbClr val="64748B"/>
                </a:solidFill>
                <a:latin typeface="Courier New" pitchFamily="34" charset="0"/>
                <a:ea typeface="Courier New" pitchFamily="34" charset="-122"/>
                <a:cs typeface="Courier New" pitchFamily="34" charset="-120"/>
              </a:rPr>
              <a:t>// Facturalaya::enviarNota()  — campos propios de la nota</a:t>
            </a:r>
            <a:endParaRPr lang="en-US" sz="1250" dirty="0"/>
          </a:p>
          <a:p>
            <a:pPr indent="0" marL="0">
              <a:lnSpc>
                <a:spcPct val="108000"/>
              </a:lnSpc>
              <a:buNone/>
            </a:pPr>
            <a:r>
              <a:rPr lang="en-US" sz="1250" dirty="0">
                <a:solidFill>
                  <a:srgbClr val="E2E8F0"/>
                </a:solidFill>
                <a:latin typeface="Courier New" pitchFamily="34" charset="0"/>
                <a:ea typeface="Courier New" pitchFamily="34" charset="-122"/>
                <a:cs typeface="Courier New" pitchFamily="34" charset="-120"/>
              </a:rPr>
              <a:t>$payload['cod_tipo_documento'] = $esCredito ? '07' : '08';</a:t>
            </a:r>
            <a:endParaRPr lang="en-US" sz="1250" dirty="0"/>
          </a:p>
          <a:p>
            <a:pPr indent="0" marL="0">
              <a:lnSpc>
                <a:spcPct val="108000"/>
              </a:lnSpc>
              <a:buNone/>
            </a:pPr>
            <a:r>
              <a:rPr lang="en-US" sz="1250" dirty="0">
                <a:solidFill>
                  <a:srgbClr val="E2E8F0"/>
                </a:solidFill>
                <a:latin typeface="Courier New" pitchFamily="34" charset="0"/>
                <a:ea typeface="Courier New" pitchFamily="34" charset="-122"/>
                <a:cs typeface="Courier New" pitchFamily="34" charset="-120"/>
              </a:rPr>
              <a:t>$payload['serie_comprobante']  = $nota['serie'];      // FC01 / BC01 ...</a:t>
            </a:r>
            <a:endParaRPr lang="en-US" sz="1250" dirty="0"/>
          </a:p>
          <a:p>
            <a:pPr indent="0" marL="0">
              <a:lnSpc>
                <a:spcPct val="108000"/>
              </a:lnSpc>
              <a:buNone/>
            </a:pPr>
            <a:endParaRPr lang="en-US" sz="1250" dirty="0"/>
          </a:p>
          <a:p>
            <a:pPr indent="0" marL="0">
              <a:lnSpc>
                <a:spcPct val="108000"/>
              </a:lnSpc>
              <a:buNone/>
            </a:pPr>
            <a:r>
              <a:rPr lang="en-US" sz="1250" dirty="0">
                <a:solidFill>
                  <a:srgbClr val="64748B"/>
                </a:solidFill>
                <a:latin typeface="Courier New" pitchFamily="34" charset="0"/>
                <a:ea typeface="Courier New" pitchFamily="34" charset="-122"/>
                <a:cs typeface="Courier New" pitchFamily="34" charset="-120"/>
              </a:rPr>
              <a:t>// el corazón: referencia al documento afectado</a:t>
            </a:r>
            <a:endParaRPr lang="en-US" sz="1250" dirty="0"/>
          </a:p>
          <a:p>
            <a:pPr indent="0" marL="0">
              <a:lnSpc>
                <a:spcPct val="108000"/>
              </a:lnSpc>
              <a:buNone/>
            </a:pPr>
            <a:r>
              <a:rPr lang="en-US" sz="1250" dirty="0">
                <a:solidFill>
                  <a:srgbClr val="5EEAD4"/>
                </a:solidFill>
                <a:latin typeface="Courier New" pitchFamily="34" charset="0"/>
                <a:ea typeface="Courier New" pitchFamily="34" charset="-122"/>
                <a:cs typeface="Courier New" pitchFamily="34" charset="-120"/>
              </a:rPr>
              <a:t>$payload['docs_referencia'] = [[</a:t>
            </a:r>
            <a:endParaRPr lang="en-US" sz="1250" dirty="0"/>
          </a:p>
          <a:p>
            <a:pPr indent="0" marL="0">
              <a:lnSpc>
                <a:spcPct val="108000"/>
              </a:lnSpc>
              <a:buNone/>
            </a:pPr>
            <a:r>
              <a:rPr lang="en-US" sz="1250" dirty="0">
                <a:solidFill>
                  <a:srgbClr val="5EEAD4"/>
                </a:solidFill>
                <a:latin typeface="Courier New" pitchFamily="34" charset="0"/>
                <a:ea typeface="Courier New" pitchFamily="34" charset="-122"/>
                <a:cs typeface="Courier New" pitchFamily="34" charset="-120"/>
              </a:rPr>
              <a:t>    'cod_tipo_documento' =&gt; '03',   // 01=factura, 03=boleta</a:t>
            </a:r>
            <a:endParaRPr lang="en-US" sz="1250" dirty="0"/>
          </a:p>
          <a:p>
            <a:pPr indent="0" marL="0">
              <a:lnSpc>
                <a:spcPct val="108000"/>
              </a:lnSpc>
              <a:buNone/>
            </a:pPr>
            <a:r>
              <a:rPr lang="en-US" sz="1250" dirty="0">
                <a:solidFill>
                  <a:srgbClr val="5EEAD4"/>
                </a:solidFill>
                <a:latin typeface="Courier New" pitchFamily="34" charset="0"/>
                <a:ea typeface="Courier New" pitchFamily="34" charset="-122"/>
                <a:cs typeface="Courier New" pitchFamily="34" charset="-120"/>
              </a:rPr>
              <a:t>    'serie'  =&gt; 'B001',</a:t>
            </a:r>
            <a:endParaRPr lang="en-US" sz="1250" dirty="0"/>
          </a:p>
          <a:p>
            <a:pPr indent="0" marL="0">
              <a:lnSpc>
                <a:spcPct val="108000"/>
              </a:lnSpc>
              <a:buNone/>
            </a:pPr>
            <a:r>
              <a:rPr lang="en-US" sz="1250" dirty="0">
                <a:solidFill>
                  <a:srgbClr val="5EEAD4"/>
                </a:solidFill>
                <a:latin typeface="Courier New" pitchFamily="34" charset="0"/>
                <a:ea typeface="Courier New" pitchFamily="34" charset="-122"/>
                <a:cs typeface="Courier New" pitchFamily="34" charset="-120"/>
              </a:rPr>
              <a:t>    'numero' =&gt; 1,</a:t>
            </a:r>
            <a:endParaRPr lang="en-US" sz="1250" dirty="0"/>
          </a:p>
          <a:p>
            <a:pPr indent="0" marL="0">
              <a:lnSpc>
                <a:spcPct val="108000"/>
              </a:lnSpc>
              <a:buNone/>
            </a:pPr>
            <a:r>
              <a:rPr lang="en-US" sz="1250" dirty="0">
                <a:solidFill>
                  <a:srgbClr val="5EEAD4"/>
                </a:solidFill>
                <a:latin typeface="Courier New" pitchFamily="34" charset="0"/>
                <a:ea typeface="Courier New" pitchFamily="34" charset="-122"/>
                <a:cs typeface="Courier New" pitchFamily="34" charset="-120"/>
              </a:rPr>
              <a:t>]];</a:t>
            </a:r>
            <a:endParaRPr lang="en-US" sz="1250" dirty="0"/>
          </a:p>
          <a:p>
            <a:pPr indent="0" marL="0">
              <a:lnSpc>
                <a:spcPct val="108000"/>
              </a:lnSpc>
              <a:buNone/>
            </a:pPr>
            <a:r>
              <a:rPr lang="en-US" sz="1250" dirty="0">
                <a:solidFill>
                  <a:srgbClr val="E2E8F0"/>
                </a:solidFill>
                <a:latin typeface="Courier New" pitchFamily="34" charset="0"/>
                <a:ea typeface="Courier New" pitchFamily="34" charset="-122"/>
                <a:cs typeface="Courier New" pitchFamily="34" charset="-120"/>
              </a:rPr>
              <a:t>$payload['cod_tipo_nota_credito'] = $nota['cod_motivo']; // catálogo 09</a:t>
            </a:r>
            <a:endParaRPr lang="en-US" sz="1250" dirty="0"/>
          </a:p>
        </p:txBody>
      </p:sp>
      <p:sp>
        <p:nvSpPr>
          <p:cNvPr id="7" name="Text 5"/>
          <p:cNvSpPr/>
          <p:nvPr/>
        </p:nvSpPr>
        <p:spPr>
          <a:xfrm>
            <a:off x="548640" y="5806440"/>
            <a:ext cx="11064240" cy="457200"/>
          </a:xfrm>
          <a:prstGeom prst="rect">
            <a:avLst/>
          </a:prstGeom>
          <a:noFill/>
          <a:ln/>
        </p:spPr>
        <p:txBody>
          <a:bodyPr wrap="square" lIns="0" tIns="0" rIns="0" bIns="0" rtlCol="0" anchor="ctr"/>
          <a:lstStyle/>
          <a:p>
            <a:pPr algn="ctr" indent="0" marL="0">
              <a:buNone/>
            </a:pPr>
            <a:r>
              <a:rPr lang="en-US" sz="1400" i="1" dirty="0">
                <a:solidFill>
                  <a:srgbClr val="64748B"/>
                </a:solidFill>
                <a:latin typeface="Calibri" pitchFamily="34" charset="0"/>
                <a:ea typeface="Calibri" pitchFamily="34" charset="-122"/>
                <a:cs typeface="Calibri" pitchFamily="34" charset="-120"/>
              </a:rPr>
              <a:t>Sin docs_referencia, SUNAT rechaza la nota. Es la diferencia entre una nota válida y un error.</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indent="0" marL="0">
              <a:buNone/>
            </a:pPr>
            <a:r>
              <a:rPr lang="en-US" sz="1300" b="1" spc="200" kern="0" dirty="0">
                <a:solidFill>
                  <a:srgbClr val="0D9488"/>
                </a:solidFill>
                <a:latin typeface="Calibri" pitchFamily="34" charset="0"/>
                <a:ea typeface="Calibri" pitchFamily="34" charset="-122"/>
                <a:cs typeface="Calibri" pitchFamily="34" charset="-120"/>
              </a:rPr>
              <a:t>NUMERACIÓN</a:t>
            </a:r>
            <a:endParaRPr lang="en-US" sz="1300" dirty="0"/>
          </a:p>
        </p:txBody>
      </p:sp>
      <p:sp>
        <p:nvSpPr>
          <p:cNvPr id="3" name="Text 1"/>
          <p:cNvSpPr/>
          <p:nvPr/>
        </p:nvSpPr>
        <p:spPr>
          <a:xfrm>
            <a:off x="548640" y="658368"/>
            <a:ext cx="11064240" cy="777240"/>
          </a:xfrm>
          <a:prstGeom prst="rect">
            <a:avLst/>
          </a:prstGeom>
          <a:noFill/>
          <a:ln/>
        </p:spPr>
        <p:txBody>
          <a:bodyPr wrap="square" lIns="0" tIns="0" rIns="0" bIns="0" rtlCol="0" anchor="t"/>
          <a:lstStyle/>
          <a:p>
            <a:pPr indent="0" marL="0">
              <a:buNone/>
            </a:pPr>
            <a:r>
              <a:rPr lang="en-US" sz="3000" b="1" dirty="0">
                <a:solidFill>
                  <a:srgbClr val="1E293B"/>
                </a:solidFill>
                <a:latin typeface="Cambria" pitchFamily="34" charset="0"/>
                <a:ea typeface="Cambria" pitchFamily="34" charset="-122"/>
                <a:cs typeface="Cambria" pitchFamily="34" charset="-120"/>
              </a:rPr>
              <a:t>Series y correlativos de las notas</a:t>
            </a:r>
            <a:endParaRPr lang="en-US" sz="3000" dirty="0"/>
          </a:p>
        </p:txBody>
      </p:sp>
      <p:sp>
        <p:nvSpPr>
          <p:cNvPr id="4" name="Shape 2"/>
          <p:cNvSpPr/>
          <p:nvPr/>
        </p:nvSpPr>
        <p:spPr>
          <a:xfrm>
            <a:off x="548640" y="1691640"/>
            <a:ext cx="5440680" cy="1783080"/>
          </a:xfrm>
          <a:prstGeom prst="roundRect">
            <a:avLst>
              <a:gd name="adj" fmla="val 4103"/>
            </a:avLst>
          </a:prstGeom>
          <a:solidFill>
            <a:srgbClr val="F0FDFA"/>
          </a:solidFill>
          <a:ln/>
          <a:effectLst>
            <a:outerShdw sx="100000" sy="100000" kx="0" ky="0" algn="bl" rotWithShape="0" blurRad="101600" dist="38100" dir="5400000">
              <a:srgbClr val="000000">
                <a:alpha val="12000"/>
              </a:srgbClr>
            </a:outerShdw>
          </a:effectLst>
        </p:spPr>
      </p:sp>
      <p:sp>
        <p:nvSpPr>
          <p:cNvPr id="5" name="Text 3"/>
          <p:cNvSpPr/>
          <p:nvPr/>
        </p:nvSpPr>
        <p:spPr>
          <a:xfrm>
            <a:off x="868680" y="2103120"/>
            <a:ext cx="2194560" cy="914400"/>
          </a:xfrm>
          <a:prstGeom prst="rect">
            <a:avLst/>
          </a:prstGeom>
          <a:noFill/>
          <a:ln/>
        </p:spPr>
        <p:txBody>
          <a:bodyPr wrap="square" lIns="0" tIns="0" rIns="0" bIns="0" rtlCol="0" anchor="ctr"/>
          <a:lstStyle/>
          <a:p>
            <a:pPr indent="0" marL="0">
              <a:buNone/>
            </a:pPr>
            <a:r>
              <a:rPr lang="en-US" sz="4000" b="1" dirty="0">
                <a:solidFill>
                  <a:srgbClr val="0D9488"/>
                </a:solidFill>
                <a:latin typeface="Courier New" pitchFamily="34" charset="0"/>
                <a:ea typeface="Courier New" pitchFamily="34" charset="-122"/>
                <a:cs typeface="Courier New" pitchFamily="34" charset="-120"/>
              </a:rPr>
              <a:t>FC01</a:t>
            </a:r>
            <a:endParaRPr lang="en-US" sz="4000" dirty="0"/>
          </a:p>
        </p:txBody>
      </p:sp>
      <p:sp>
        <p:nvSpPr>
          <p:cNvPr id="6" name="Text 4"/>
          <p:cNvSpPr/>
          <p:nvPr/>
        </p:nvSpPr>
        <p:spPr>
          <a:xfrm>
            <a:off x="3200400" y="2148840"/>
            <a:ext cx="2606040" cy="914400"/>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Nota de crédito de una FACTURA</a:t>
            </a:r>
            <a:endParaRPr lang="en-US" sz="1500" dirty="0"/>
          </a:p>
        </p:txBody>
      </p:sp>
      <p:sp>
        <p:nvSpPr>
          <p:cNvPr id="7" name="Shape 5"/>
          <p:cNvSpPr/>
          <p:nvPr/>
        </p:nvSpPr>
        <p:spPr>
          <a:xfrm>
            <a:off x="6172200" y="1691640"/>
            <a:ext cx="5440680" cy="1783080"/>
          </a:xfrm>
          <a:prstGeom prst="roundRect">
            <a:avLst>
              <a:gd name="adj" fmla="val 4103"/>
            </a:avLst>
          </a:prstGeom>
          <a:solidFill>
            <a:srgbClr val="F0FDFA"/>
          </a:solidFill>
          <a:ln/>
          <a:effectLst>
            <a:outerShdw sx="100000" sy="100000" kx="0" ky="0" algn="bl" rotWithShape="0" blurRad="101600" dist="38100" dir="5400000">
              <a:srgbClr val="000000">
                <a:alpha val="12000"/>
              </a:srgbClr>
            </a:outerShdw>
          </a:effectLst>
        </p:spPr>
      </p:sp>
      <p:sp>
        <p:nvSpPr>
          <p:cNvPr id="8" name="Text 6"/>
          <p:cNvSpPr/>
          <p:nvPr/>
        </p:nvSpPr>
        <p:spPr>
          <a:xfrm>
            <a:off x="6492240" y="2103120"/>
            <a:ext cx="2194560" cy="914400"/>
          </a:xfrm>
          <a:prstGeom prst="rect">
            <a:avLst/>
          </a:prstGeom>
          <a:noFill/>
          <a:ln/>
        </p:spPr>
        <p:txBody>
          <a:bodyPr wrap="square" lIns="0" tIns="0" rIns="0" bIns="0" rtlCol="0" anchor="ctr"/>
          <a:lstStyle/>
          <a:p>
            <a:pPr indent="0" marL="0">
              <a:buNone/>
            </a:pPr>
            <a:r>
              <a:rPr lang="en-US" sz="4000" b="1" dirty="0">
                <a:solidFill>
                  <a:srgbClr val="14B8A6"/>
                </a:solidFill>
                <a:latin typeface="Courier New" pitchFamily="34" charset="0"/>
                <a:ea typeface="Courier New" pitchFamily="34" charset="-122"/>
                <a:cs typeface="Courier New" pitchFamily="34" charset="-120"/>
              </a:rPr>
              <a:t>BC01</a:t>
            </a:r>
            <a:endParaRPr lang="en-US" sz="4000" dirty="0"/>
          </a:p>
        </p:txBody>
      </p:sp>
      <p:sp>
        <p:nvSpPr>
          <p:cNvPr id="9" name="Text 7"/>
          <p:cNvSpPr/>
          <p:nvPr/>
        </p:nvSpPr>
        <p:spPr>
          <a:xfrm>
            <a:off x="8823960" y="2148840"/>
            <a:ext cx="2606040" cy="914400"/>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Nota de crédito de una BOLETA</a:t>
            </a:r>
            <a:endParaRPr lang="en-US" sz="1500" dirty="0"/>
          </a:p>
        </p:txBody>
      </p:sp>
      <p:sp>
        <p:nvSpPr>
          <p:cNvPr id="10" name="Shape 8"/>
          <p:cNvSpPr/>
          <p:nvPr/>
        </p:nvSpPr>
        <p:spPr>
          <a:xfrm>
            <a:off x="548640" y="3703320"/>
            <a:ext cx="5440680" cy="1783080"/>
          </a:xfrm>
          <a:prstGeom prst="roundRect">
            <a:avLst>
              <a:gd name="adj" fmla="val 4103"/>
            </a:avLst>
          </a:prstGeom>
          <a:solidFill>
            <a:srgbClr val="F0FDFA"/>
          </a:solidFill>
          <a:ln/>
          <a:effectLst>
            <a:outerShdw sx="100000" sy="100000" kx="0" ky="0" algn="bl" rotWithShape="0" blurRad="101600" dist="38100" dir="5400000">
              <a:srgbClr val="000000">
                <a:alpha val="12000"/>
              </a:srgbClr>
            </a:outerShdw>
          </a:effectLst>
        </p:spPr>
      </p:sp>
      <p:sp>
        <p:nvSpPr>
          <p:cNvPr id="11" name="Text 9"/>
          <p:cNvSpPr/>
          <p:nvPr/>
        </p:nvSpPr>
        <p:spPr>
          <a:xfrm>
            <a:off x="868680" y="4114800"/>
            <a:ext cx="2194560" cy="914400"/>
          </a:xfrm>
          <a:prstGeom prst="rect">
            <a:avLst/>
          </a:prstGeom>
          <a:noFill/>
          <a:ln/>
        </p:spPr>
        <p:txBody>
          <a:bodyPr wrap="square" lIns="0" tIns="0" rIns="0" bIns="0" rtlCol="0" anchor="ctr"/>
          <a:lstStyle/>
          <a:p>
            <a:pPr indent="0" marL="0">
              <a:buNone/>
            </a:pPr>
            <a:r>
              <a:rPr lang="en-US" sz="4000" b="1" dirty="0">
                <a:solidFill>
                  <a:srgbClr val="D97706"/>
                </a:solidFill>
                <a:latin typeface="Courier New" pitchFamily="34" charset="0"/>
                <a:ea typeface="Courier New" pitchFamily="34" charset="-122"/>
                <a:cs typeface="Courier New" pitchFamily="34" charset="-120"/>
              </a:rPr>
              <a:t>FD01</a:t>
            </a:r>
            <a:endParaRPr lang="en-US" sz="4000" dirty="0"/>
          </a:p>
        </p:txBody>
      </p:sp>
      <p:sp>
        <p:nvSpPr>
          <p:cNvPr id="12" name="Text 10"/>
          <p:cNvSpPr/>
          <p:nvPr/>
        </p:nvSpPr>
        <p:spPr>
          <a:xfrm>
            <a:off x="3200400" y="4160520"/>
            <a:ext cx="2606040" cy="914400"/>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Nota de débito de una FACTURA</a:t>
            </a:r>
            <a:endParaRPr lang="en-US" sz="1500" dirty="0"/>
          </a:p>
        </p:txBody>
      </p:sp>
      <p:sp>
        <p:nvSpPr>
          <p:cNvPr id="13" name="Shape 11"/>
          <p:cNvSpPr/>
          <p:nvPr/>
        </p:nvSpPr>
        <p:spPr>
          <a:xfrm>
            <a:off x="6172200" y="3703320"/>
            <a:ext cx="5440680" cy="1783080"/>
          </a:xfrm>
          <a:prstGeom prst="roundRect">
            <a:avLst>
              <a:gd name="adj" fmla="val 4103"/>
            </a:avLst>
          </a:prstGeom>
          <a:solidFill>
            <a:srgbClr val="0E2A2E"/>
          </a:solidFill>
          <a:ln/>
          <a:effectLst>
            <a:outerShdw sx="100000" sy="100000" kx="0" ky="0" algn="bl" rotWithShape="0" blurRad="101600" dist="38100" dir="5400000">
              <a:srgbClr val="000000">
                <a:alpha val="12000"/>
              </a:srgbClr>
            </a:outerShdw>
          </a:effectLst>
        </p:spPr>
      </p:sp>
      <p:sp>
        <p:nvSpPr>
          <p:cNvPr id="14" name="Text 12"/>
          <p:cNvSpPr/>
          <p:nvPr/>
        </p:nvSpPr>
        <p:spPr>
          <a:xfrm>
            <a:off x="6492240" y="4114800"/>
            <a:ext cx="2194560" cy="914400"/>
          </a:xfrm>
          <a:prstGeom prst="rect">
            <a:avLst/>
          </a:prstGeom>
          <a:noFill/>
          <a:ln/>
        </p:spPr>
        <p:txBody>
          <a:bodyPr wrap="square" lIns="0" tIns="0" rIns="0" bIns="0" rtlCol="0" anchor="ctr"/>
          <a:lstStyle/>
          <a:p>
            <a:pPr indent="0" marL="0">
              <a:buNone/>
            </a:pPr>
            <a:r>
              <a:rPr lang="en-US" sz="4000" b="1" dirty="0">
                <a:solidFill>
                  <a:srgbClr val="5EEAD4"/>
                </a:solidFill>
                <a:latin typeface="Courier New" pitchFamily="34" charset="0"/>
                <a:ea typeface="Courier New" pitchFamily="34" charset="-122"/>
                <a:cs typeface="Courier New" pitchFamily="34" charset="-120"/>
              </a:rPr>
              <a:t>BD01</a:t>
            </a:r>
            <a:endParaRPr lang="en-US" sz="4000" dirty="0"/>
          </a:p>
        </p:txBody>
      </p:sp>
      <p:sp>
        <p:nvSpPr>
          <p:cNvPr id="15" name="Text 13"/>
          <p:cNvSpPr/>
          <p:nvPr/>
        </p:nvSpPr>
        <p:spPr>
          <a:xfrm>
            <a:off x="8823960" y="4160520"/>
            <a:ext cx="2606040" cy="9144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Nota de débito de una BOLETA</a:t>
            </a:r>
            <a:endParaRPr lang="en-US" sz="1500" dirty="0"/>
          </a:p>
        </p:txBody>
      </p:sp>
      <p:sp>
        <p:nvSpPr>
          <p:cNvPr id="16" name="Text 14"/>
          <p:cNvSpPr/>
          <p:nvPr/>
        </p:nvSpPr>
        <p:spPr>
          <a:xfrm>
            <a:off x="548640" y="5897880"/>
            <a:ext cx="11064240" cy="548640"/>
          </a:xfrm>
          <a:prstGeom prst="rect">
            <a:avLst/>
          </a:prstGeom>
          <a:noFill/>
          <a:ln/>
        </p:spPr>
        <p:txBody>
          <a:bodyPr wrap="square" lIns="0" tIns="0" rIns="0" bIns="0" rtlCol="0" anchor="ctr"/>
          <a:lstStyle/>
          <a:p>
            <a:pPr algn="ctr" indent="0" marL="0">
              <a:buNone/>
            </a:pPr>
            <a:r>
              <a:rPr lang="en-US" sz="1400" i="1" dirty="0">
                <a:solidFill>
                  <a:srgbClr val="64748B"/>
                </a:solidFill>
                <a:latin typeface="Calibri" pitchFamily="34" charset="0"/>
                <a:ea typeface="Calibri" pitchFamily="34" charset="-122"/>
                <a:cs typeface="Calibri" pitchFamily="34" charset="-120"/>
              </a:rPr>
              <a:t>Cada serie lleva su propio correlativo: getNextCorrelativo() consulta el MAX(correlativo) de esa serie y suma 1.</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indent="0" marL="0">
              <a:buNone/>
            </a:pPr>
            <a:r>
              <a:rPr lang="en-US" sz="1300" b="1" spc="200" kern="0" dirty="0">
                <a:solidFill>
                  <a:srgbClr val="0D9488"/>
                </a:solidFill>
                <a:latin typeface="Calibri" pitchFamily="34" charset="0"/>
                <a:ea typeface="Calibri" pitchFamily="34" charset="-122"/>
                <a:cs typeface="Calibri" pitchFamily="34" charset="-120"/>
              </a:rPr>
              <a:t>LA LÓGICA</a:t>
            </a:r>
            <a:endParaRPr lang="en-US" sz="1300" dirty="0"/>
          </a:p>
        </p:txBody>
      </p:sp>
      <p:sp>
        <p:nvSpPr>
          <p:cNvPr id="3" name="Text 1"/>
          <p:cNvSpPr/>
          <p:nvPr/>
        </p:nvSpPr>
        <p:spPr>
          <a:xfrm>
            <a:off x="548640" y="658368"/>
            <a:ext cx="11064240" cy="777240"/>
          </a:xfrm>
          <a:prstGeom prst="rect">
            <a:avLst/>
          </a:prstGeom>
          <a:noFill/>
          <a:ln/>
        </p:spPr>
        <p:txBody>
          <a:bodyPr wrap="square" lIns="0" tIns="0" rIns="0" bIns="0" rtlCol="0" anchor="t"/>
          <a:lstStyle/>
          <a:p>
            <a:pPr indent="0" marL="0">
              <a:buNone/>
            </a:pPr>
            <a:r>
              <a:rPr lang="en-US" sz="3000" b="1" dirty="0">
                <a:solidFill>
                  <a:srgbClr val="1E293B"/>
                </a:solidFill>
                <a:latin typeface="Cambria" pitchFamily="34" charset="0"/>
                <a:ea typeface="Cambria" pitchFamily="34" charset="-122"/>
                <a:cs typeface="Cambria" pitchFamily="34" charset="-120"/>
              </a:rPr>
              <a:t>El flujo de NotaComprobante.php, paso a paso</a:t>
            </a:r>
            <a:endParaRPr lang="en-US" sz="3000" dirty="0"/>
          </a:p>
        </p:txBody>
      </p:sp>
      <p:sp>
        <p:nvSpPr>
          <p:cNvPr id="4" name="Shape 2"/>
          <p:cNvSpPr/>
          <p:nvPr/>
        </p:nvSpPr>
        <p:spPr>
          <a:xfrm>
            <a:off x="548640" y="1920240"/>
            <a:ext cx="2139696" cy="3108960"/>
          </a:xfrm>
          <a:prstGeom prst="roundRect">
            <a:avLst>
              <a:gd name="adj" fmla="val 3419"/>
            </a:avLst>
          </a:prstGeom>
          <a:solidFill>
            <a:srgbClr val="F0FDFA"/>
          </a:solidFill>
          <a:ln/>
          <a:effectLst>
            <a:outerShdw sx="100000" sy="100000" kx="0" ky="0" algn="bl" rotWithShape="0" blurRad="101600" dist="38100" dir="5400000">
              <a:srgbClr val="000000">
                <a:alpha val="12000"/>
              </a:srgbClr>
            </a:outerShdw>
          </a:effectLst>
        </p:spPr>
      </p:sp>
      <p:sp>
        <p:nvSpPr>
          <p:cNvPr id="5" name="Shape 3"/>
          <p:cNvSpPr/>
          <p:nvPr/>
        </p:nvSpPr>
        <p:spPr>
          <a:xfrm>
            <a:off x="1298448" y="2194560"/>
            <a:ext cx="640080" cy="640080"/>
          </a:xfrm>
          <a:prstGeom prst="ellipse">
            <a:avLst/>
          </a:prstGeom>
          <a:solidFill>
            <a:srgbClr val="0D9488"/>
          </a:solidFill>
          <a:ln/>
        </p:spPr>
      </p:sp>
      <p:sp>
        <p:nvSpPr>
          <p:cNvPr id="6" name="Text 4"/>
          <p:cNvSpPr/>
          <p:nvPr/>
        </p:nvSpPr>
        <p:spPr>
          <a:xfrm>
            <a:off x="1298448" y="219456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1</a:t>
            </a:r>
            <a:endParaRPr lang="en-US" sz="2400" dirty="0"/>
          </a:p>
        </p:txBody>
      </p:sp>
      <p:sp>
        <p:nvSpPr>
          <p:cNvPr id="7" name="Text 5"/>
          <p:cNvSpPr/>
          <p:nvPr/>
        </p:nvSpPr>
        <p:spPr>
          <a:xfrm>
            <a:off x="640080" y="3017520"/>
            <a:ext cx="1956816" cy="457200"/>
          </a:xfrm>
          <a:prstGeom prst="rect">
            <a:avLst/>
          </a:prstGeom>
          <a:noFill/>
          <a:ln/>
        </p:spPr>
        <p:txBody>
          <a:bodyPr wrap="square" lIns="0" tIns="0" rIns="0" bIns="0" rtlCol="0" anchor="ctr"/>
          <a:lstStyle/>
          <a:p>
            <a:pPr algn="ctr" indent="0" marL="0">
              <a:buNone/>
            </a:pPr>
            <a:r>
              <a:rPr lang="en-US" sz="1600" b="1" dirty="0">
                <a:solidFill>
                  <a:srgbClr val="1E293B"/>
                </a:solidFill>
                <a:latin typeface="Calibri" pitchFamily="34" charset="0"/>
                <a:ea typeface="Calibri" pitchFamily="34" charset="-122"/>
                <a:cs typeface="Calibri" pitchFamily="34" charset="-120"/>
              </a:rPr>
              <a:t>Validar</a:t>
            </a:r>
            <a:endParaRPr lang="en-US" sz="1600" dirty="0"/>
          </a:p>
        </p:txBody>
      </p:sp>
      <p:sp>
        <p:nvSpPr>
          <p:cNvPr id="8" name="Text 6"/>
          <p:cNvSpPr/>
          <p:nvPr/>
        </p:nvSpPr>
        <p:spPr>
          <a:xfrm>
            <a:off x="713232" y="3520440"/>
            <a:ext cx="1810512" cy="1371600"/>
          </a:xfrm>
          <a:prstGeom prst="rect">
            <a:avLst/>
          </a:prstGeom>
          <a:noFill/>
          <a:ln/>
        </p:spPr>
        <p:txBody>
          <a:bodyPr wrap="square" lIns="0" tIns="0" rIns="0" bIns="0" rtlCol="0" anchor="t"/>
          <a:lstStyle/>
          <a:p>
            <a:pPr algn="ctr" indent="0" marL="0">
              <a:buNone/>
            </a:pPr>
            <a:r>
              <a:rPr lang="en-US" sz="1250" dirty="0">
                <a:solidFill>
                  <a:srgbClr val="64748B"/>
                </a:solidFill>
                <a:latin typeface="Calibri" pitchFamily="34" charset="0"/>
                <a:ea typeface="Calibri" pitchFamily="34" charset="-122"/>
                <a:cs typeface="Calibri" pitchFamily="34" charset="-120"/>
              </a:rPr>
              <a:t>Motivo del catálogo, documento afectado existente y con ítems.</a:t>
            </a:r>
            <a:endParaRPr lang="en-US" sz="1250" dirty="0"/>
          </a:p>
        </p:txBody>
      </p:sp>
      <p:sp>
        <p:nvSpPr>
          <p:cNvPr id="9" name="Shape 7"/>
          <p:cNvSpPr/>
          <p:nvPr/>
        </p:nvSpPr>
        <p:spPr>
          <a:xfrm>
            <a:off x="2871216" y="1920240"/>
            <a:ext cx="2139696" cy="3108960"/>
          </a:xfrm>
          <a:prstGeom prst="roundRect">
            <a:avLst>
              <a:gd name="adj" fmla="val 3419"/>
            </a:avLst>
          </a:prstGeom>
          <a:solidFill>
            <a:srgbClr val="ECFEFF"/>
          </a:solidFill>
          <a:ln/>
          <a:effectLst>
            <a:outerShdw sx="100000" sy="100000" kx="0" ky="0" algn="bl" rotWithShape="0" blurRad="101600" dist="38100" dir="5400000">
              <a:srgbClr val="000000">
                <a:alpha val="12000"/>
              </a:srgbClr>
            </a:outerShdw>
          </a:effectLst>
        </p:spPr>
      </p:sp>
      <p:sp>
        <p:nvSpPr>
          <p:cNvPr id="10" name="Shape 8"/>
          <p:cNvSpPr/>
          <p:nvPr/>
        </p:nvSpPr>
        <p:spPr>
          <a:xfrm>
            <a:off x="3621024" y="2194560"/>
            <a:ext cx="640080" cy="640080"/>
          </a:xfrm>
          <a:prstGeom prst="ellipse">
            <a:avLst/>
          </a:prstGeom>
          <a:solidFill>
            <a:srgbClr val="0D9488"/>
          </a:solidFill>
          <a:ln/>
        </p:spPr>
      </p:sp>
      <p:sp>
        <p:nvSpPr>
          <p:cNvPr id="11" name="Text 9"/>
          <p:cNvSpPr/>
          <p:nvPr/>
        </p:nvSpPr>
        <p:spPr>
          <a:xfrm>
            <a:off x="3621024" y="219456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2</a:t>
            </a:r>
            <a:endParaRPr lang="en-US" sz="2400" dirty="0"/>
          </a:p>
        </p:txBody>
      </p:sp>
      <p:sp>
        <p:nvSpPr>
          <p:cNvPr id="12" name="Text 10"/>
          <p:cNvSpPr/>
          <p:nvPr/>
        </p:nvSpPr>
        <p:spPr>
          <a:xfrm>
            <a:off x="2962656" y="3017520"/>
            <a:ext cx="1956816" cy="457200"/>
          </a:xfrm>
          <a:prstGeom prst="rect">
            <a:avLst/>
          </a:prstGeom>
          <a:noFill/>
          <a:ln/>
        </p:spPr>
        <p:txBody>
          <a:bodyPr wrap="square" lIns="0" tIns="0" rIns="0" bIns="0" rtlCol="0" anchor="ctr"/>
          <a:lstStyle/>
          <a:p>
            <a:pPr algn="ctr" indent="0" marL="0">
              <a:buNone/>
            </a:pPr>
            <a:r>
              <a:rPr lang="en-US" sz="1600" b="1" dirty="0">
                <a:solidFill>
                  <a:srgbClr val="1E293B"/>
                </a:solidFill>
                <a:latin typeface="Calibri" pitchFamily="34" charset="0"/>
                <a:ea typeface="Calibri" pitchFamily="34" charset="-122"/>
                <a:cs typeface="Calibri" pitchFamily="34" charset="-120"/>
              </a:rPr>
              <a:t>Calcular</a:t>
            </a:r>
            <a:endParaRPr lang="en-US" sz="1600" dirty="0"/>
          </a:p>
        </p:txBody>
      </p:sp>
      <p:sp>
        <p:nvSpPr>
          <p:cNvPr id="13" name="Text 11"/>
          <p:cNvSpPr/>
          <p:nvPr/>
        </p:nvSpPr>
        <p:spPr>
          <a:xfrm>
            <a:off x="3035808" y="3520440"/>
            <a:ext cx="1810512" cy="1371600"/>
          </a:xfrm>
          <a:prstGeom prst="rect">
            <a:avLst/>
          </a:prstGeom>
          <a:noFill/>
          <a:ln/>
        </p:spPr>
        <p:txBody>
          <a:bodyPr wrap="square" lIns="0" tIns="0" rIns="0" bIns="0" rtlCol="0" anchor="t"/>
          <a:lstStyle/>
          <a:p>
            <a:pPr algn="ctr" indent="0" marL="0">
              <a:buNone/>
            </a:pPr>
            <a:r>
              <a:rPr lang="en-US" sz="1250" dirty="0">
                <a:solidFill>
                  <a:srgbClr val="64748B"/>
                </a:solidFill>
                <a:latin typeface="Calibri" pitchFamily="34" charset="0"/>
                <a:ea typeface="Calibri" pitchFamily="34" charset="-122"/>
                <a:cs typeface="Calibri" pitchFamily="34" charset="-120"/>
              </a:rPr>
              <a:t>Subtotal, IGV (18%) y total a partir del detalle.</a:t>
            </a:r>
            <a:endParaRPr lang="en-US" sz="1250" dirty="0"/>
          </a:p>
        </p:txBody>
      </p:sp>
      <p:sp>
        <p:nvSpPr>
          <p:cNvPr id="14" name="Shape 12"/>
          <p:cNvSpPr/>
          <p:nvPr/>
        </p:nvSpPr>
        <p:spPr>
          <a:xfrm>
            <a:off x="5193792" y="1920240"/>
            <a:ext cx="2139696" cy="3108960"/>
          </a:xfrm>
          <a:prstGeom prst="roundRect">
            <a:avLst>
              <a:gd name="adj" fmla="val 3419"/>
            </a:avLst>
          </a:prstGeom>
          <a:solidFill>
            <a:srgbClr val="F0FDFA"/>
          </a:solidFill>
          <a:ln/>
          <a:effectLst>
            <a:outerShdw sx="100000" sy="100000" kx="0" ky="0" algn="bl" rotWithShape="0" blurRad="101600" dist="38100" dir="5400000">
              <a:srgbClr val="000000">
                <a:alpha val="12000"/>
              </a:srgbClr>
            </a:outerShdw>
          </a:effectLst>
        </p:spPr>
      </p:sp>
      <p:sp>
        <p:nvSpPr>
          <p:cNvPr id="15" name="Shape 13"/>
          <p:cNvSpPr/>
          <p:nvPr/>
        </p:nvSpPr>
        <p:spPr>
          <a:xfrm>
            <a:off x="5943600" y="2194560"/>
            <a:ext cx="640080" cy="640080"/>
          </a:xfrm>
          <a:prstGeom prst="ellipse">
            <a:avLst/>
          </a:prstGeom>
          <a:solidFill>
            <a:srgbClr val="0D9488"/>
          </a:solidFill>
          <a:ln/>
        </p:spPr>
      </p:sp>
      <p:sp>
        <p:nvSpPr>
          <p:cNvPr id="16" name="Text 14"/>
          <p:cNvSpPr/>
          <p:nvPr/>
        </p:nvSpPr>
        <p:spPr>
          <a:xfrm>
            <a:off x="5943600" y="219456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3</a:t>
            </a:r>
            <a:endParaRPr lang="en-US" sz="2400" dirty="0"/>
          </a:p>
        </p:txBody>
      </p:sp>
      <p:sp>
        <p:nvSpPr>
          <p:cNvPr id="17" name="Text 15"/>
          <p:cNvSpPr/>
          <p:nvPr/>
        </p:nvSpPr>
        <p:spPr>
          <a:xfrm>
            <a:off x="5285232" y="3017520"/>
            <a:ext cx="1956816" cy="457200"/>
          </a:xfrm>
          <a:prstGeom prst="rect">
            <a:avLst/>
          </a:prstGeom>
          <a:noFill/>
          <a:ln/>
        </p:spPr>
        <p:txBody>
          <a:bodyPr wrap="square" lIns="0" tIns="0" rIns="0" bIns="0" rtlCol="0" anchor="ctr"/>
          <a:lstStyle/>
          <a:p>
            <a:pPr algn="ctr" indent="0" marL="0">
              <a:buNone/>
            </a:pPr>
            <a:r>
              <a:rPr lang="en-US" sz="1600" b="1" dirty="0">
                <a:solidFill>
                  <a:srgbClr val="1E293B"/>
                </a:solidFill>
                <a:latin typeface="Calibri" pitchFamily="34" charset="0"/>
                <a:ea typeface="Calibri" pitchFamily="34" charset="-122"/>
                <a:cs typeface="Calibri" pitchFamily="34" charset="-120"/>
              </a:rPr>
              <a:t>Guardar</a:t>
            </a:r>
            <a:endParaRPr lang="en-US" sz="1600" dirty="0"/>
          </a:p>
        </p:txBody>
      </p:sp>
      <p:sp>
        <p:nvSpPr>
          <p:cNvPr id="18" name="Text 16"/>
          <p:cNvSpPr/>
          <p:nvPr/>
        </p:nvSpPr>
        <p:spPr>
          <a:xfrm>
            <a:off x="5358384" y="3520440"/>
            <a:ext cx="1810512" cy="1371600"/>
          </a:xfrm>
          <a:prstGeom prst="rect">
            <a:avLst/>
          </a:prstGeom>
          <a:noFill/>
          <a:ln/>
        </p:spPr>
        <p:txBody>
          <a:bodyPr wrap="square" lIns="0" tIns="0" rIns="0" bIns="0" rtlCol="0" anchor="t"/>
          <a:lstStyle/>
          <a:p>
            <a:pPr algn="ctr" indent="0" marL="0">
              <a:buNone/>
            </a:pPr>
            <a:r>
              <a:rPr lang="en-US" sz="1250" dirty="0">
                <a:solidFill>
                  <a:srgbClr val="64748B"/>
                </a:solidFill>
                <a:latin typeface="Calibri" pitchFamily="34" charset="0"/>
                <a:ea typeface="Calibri" pitchFamily="34" charset="-122"/>
                <a:cs typeface="Calibri" pitchFamily="34" charset="-120"/>
              </a:rPr>
              <a:t>Inserta cabecera + detalle en 'ventas' dentro de una transacción.</a:t>
            </a:r>
            <a:endParaRPr lang="en-US" sz="1250" dirty="0"/>
          </a:p>
        </p:txBody>
      </p:sp>
      <p:sp>
        <p:nvSpPr>
          <p:cNvPr id="19" name="Shape 17"/>
          <p:cNvSpPr/>
          <p:nvPr/>
        </p:nvSpPr>
        <p:spPr>
          <a:xfrm>
            <a:off x="7516368" y="1920240"/>
            <a:ext cx="2139696" cy="3108960"/>
          </a:xfrm>
          <a:prstGeom prst="roundRect">
            <a:avLst>
              <a:gd name="adj" fmla="val 3419"/>
            </a:avLst>
          </a:prstGeom>
          <a:solidFill>
            <a:srgbClr val="ECFEFF"/>
          </a:solidFill>
          <a:ln/>
          <a:effectLst>
            <a:outerShdw sx="100000" sy="100000" kx="0" ky="0" algn="bl" rotWithShape="0" blurRad="101600" dist="38100" dir="5400000">
              <a:srgbClr val="000000">
                <a:alpha val="12000"/>
              </a:srgbClr>
            </a:outerShdw>
          </a:effectLst>
        </p:spPr>
      </p:sp>
      <p:sp>
        <p:nvSpPr>
          <p:cNvPr id="20" name="Shape 18"/>
          <p:cNvSpPr/>
          <p:nvPr/>
        </p:nvSpPr>
        <p:spPr>
          <a:xfrm>
            <a:off x="8266176" y="2194560"/>
            <a:ext cx="640080" cy="640080"/>
          </a:xfrm>
          <a:prstGeom prst="ellipse">
            <a:avLst/>
          </a:prstGeom>
          <a:solidFill>
            <a:srgbClr val="0D9488"/>
          </a:solidFill>
          <a:ln/>
        </p:spPr>
      </p:sp>
      <p:sp>
        <p:nvSpPr>
          <p:cNvPr id="21" name="Text 19"/>
          <p:cNvSpPr/>
          <p:nvPr/>
        </p:nvSpPr>
        <p:spPr>
          <a:xfrm>
            <a:off x="8266176" y="219456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4</a:t>
            </a:r>
            <a:endParaRPr lang="en-US" sz="2400" dirty="0"/>
          </a:p>
        </p:txBody>
      </p:sp>
      <p:sp>
        <p:nvSpPr>
          <p:cNvPr id="22" name="Text 20"/>
          <p:cNvSpPr/>
          <p:nvPr/>
        </p:nvSpPr>
        <p:spPr>
          <a:xfrm>
            <a:off x="7607808" y="3017520"/>
            <a:ext cx="1956816" cy="457200"/>
          </a:xfrm>
          <a:prstGeom prst="rect">
            <a:avLst/>
          </a:prstGeom>
          <a:noFill/>
          <a:ln/>
        </p:spPr>
        <p:txBody>
          <a:bodyPr wrap="square" lIns="0" tIns="0" rIns="0" bIns="0" rtlCol="0" anchor="ctr"/>
          <a:lstStyle/>
          <a:p>
            <a:pPr algn="ctr" indent="0" marL="0">
              <a:buNone/>
            </a:pPr>
            <a:r>
              <a:rPr lang="en-US" sz="1600" b="1" dirty="0">
                <a:solidFill>
                  <a:srgbClr val="1E293B"/>
                </a:solidFill>
                <a:latin typeface="Calibri" pitchFamily="34" charset="0"/>
                <a:ea typeface="Calibri" pitchFamily="34" charset="-122"/>
                <a:cs typeface="Calibri" pitchFamily="34" charset="-120"/>
              </a:rPr>
              <a:t>Enviar</a:t>
            </a:r>
            <a:endParaRPr lang="en-US" sz="1600" dirty="0"/>
          </a:p>
        </p:txBody>
      </p:sp>
      <p:sp>
        <p:nvSpPr>
          <p:cNvPr id="23" name="Text 21"/>
          <p:cNvSpPr/>
          <p:nvPr/>
        </p:nvSpPr>
        <p:spPr>
          <a:xfrm>
            <a:off x="7680960" y="3520440"/>
            <a:ext cx="1810512" cy="1371600"/>
          </a:xfrm>
          <a:prstGeom prst="rect">
            <a:avLst/>
          </a:prstGeom>
          <a:noFill/>
          <a:ln/>
        </p:spPr>
        <p:txBody>
          <a:bodyPr wrap="square" lIns="0" tIns="0" rIns="0" bIns="0" rtlCol="0" anchor="t"/>
          <a:lstStyle/>
          <a:p>
            <a:pPr algn="ctr" indent="0" marL="0">
              <a:buNone/>
            </a:pPr>
            <a:r>
              <a:rPr lang="en-US" sz="1250" dirty="0">
                <a:solidFill>
                  <a:srgbClr val="64748B"/>
                </a:solidFill>
                <a:latin typeface="Calibri" pitchFamily="34" charset="0"/>
                <a:ea typeface="Calibri" pitchFamily="34" charset="-122"/>
                <a:cs typeface="Calibri" pitchFamily="34" charset="-120"/>
              </a:rPr>
              <a:t>Llama a Facturalaya-&gt;enviarNota() fuera de la transacción.</a:t>
            </a:r>
            <a:endParaRPr lang="en-US" sz="1250" dirty="0"/>
          </a:p>
        </p:txBody>
      </p:sp>
      <p:sp>
        <p:nvSpPr>
          <p:cNvPr id="24" name="Shape 22"/>
          <p:cNvSpPr/>
          <p:nvPr/>
        </p:nvSpPr>
        <p:spPr>
          <a:xfrm>
            <a:off x="9838944" y="1920240"/>
            <a:ext cx="2139696" cy="3108960"/>
          </a:xfrm>
          <a:prstGeom prst="roundRect">
            <a:avLst>
              <a:gd name="adj" fmla="val 3419"/>
            </a:avLst>
          </a:prstGeom>
          <a:solidFill>
            <a:srgbClr val="F0FDFA"/>
          </a:solidFill>
          <a:ln/>
          <a:effectLst>
            <a:outerShdw sx="100000" sy="100000" kx="0" ky="0" algn="bl" rotWithShape="0" blurRad="101600" dist="38100" dir="5400000">
              <a:srgbClr val="000000">
                <a:alpha val="12000"/>
              </a:srgbClr>
            </a:outerShdw>
          </a:effectLst>
        </p:spPr>
      </p:sp>
      <p:sp>
        <p:nvSpPr>
          <p:cNvPr id="25" name="Shape 23"/>
          <p:cNvSpPr/>
          <p:nvPr/>
        </p:nvSpPr>
        <p:spPr>
          <a:xfrm>
            <a:off x="10588752" y="2194560"/>
            <a:ext cx="640080" cy="640080"/>
          </a:xfrm>
          <a:prstGeom prst="ellipse">
            <a:avLst/>
          </a:prstGeom>
          <a:solidFill>
            <a:srgbClr val="0D9488"/>
          </a:solidFill>
          <a:ln/>
        </p:spPr>
      </p:sp>
      <p:sp>
        <p:nvSpPr>
          <p:cNvPr id="26" name="Text 24"/>
          <p:cNvSpPr/>
          <p:nvPr/>
        </p:nvSpPr>
        <p:spPr>
          <a:xfrm>
            <a:off x="10588752" y="219456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5</a:t>
            </a:r>
            <a:endParaRPr lang="en-US" sz="2400" dirty="0"/>
          </a:p>
        </p:txBody>
      </p:sp>
      <p:sp>
        <p:nvSpPr>
          <p:cNvPr id="27" name="Text 25"/>
          <p:cNvSpPr/>
          <p:nvPr/>
        </p:nvSpPr>
        <p:spPr>
          <a:xfrm>
            <a:off x="9930384" y="3017520"/>
            <a:ext cx="1956816" cy="457200"/>
          </a:xfrm>
          <a:prstGeom prst="rect">
            <a:avLst/>
          </a:prstGeom>
          <a:noFill/>
          <a:ln/>
        </p:spPr>
        <p:txBody>
          <a:bodyPr wrap="square" lIns="0" tIns="0" rIns="0" bIns="0" rtlCol="0" anchor="ctr"/>
          <a:lstStyle/>
          <a:p>
            <a:pPr algn="ctr" indent="0" marL="0">
              <a:buNone/>
            </a:pPr>
            <a:r>
              <a:rPr lang="en-US" sz="1600" b="1" dirty="0">
                <a:solidFill>
                  <a:srgbClr val="1E293B"/>
                </a:solidFill>
                <a:latin typeface="Calibri" pitchFamily="34" charset="0"/>
                <a:ea typeface="Calibri" pitchFamily="34" charset="-122"/>
                <a:cs typeface="Calibri" pitchFamily="34" charset="-120"/>
              </a:rPr>
              <a:t>Registrar</a:t>
            </a:r>
            <a:endParaRPr lang="en-US" sz="1600" dirty="0"/>
          </a:p>
        </p:txBody>
      </p:sp>
      <p:sp>
        <p:nvSpPr>
          <p:cNvPr id="28" name="Text 26"/>
          <p:cNvSpPr/>
          <p:nvPr/>
        </p:nvSpPr>
        <p:spPr>
          <a:xfrm>
            <a:off x="10003536" y="3520440"/>
            <a:ext cx="1810512" cy="1371600"/>
          </a:xfrm>
          <a:prstGeom prst="rect">
            <a:avLst/>
          </a:prstGeom>
          <a:noFill/>
          <a:ln/>
        </p:spPr>
        <p:txBody>
          <a:bodyPr wrap="square" lIns="0" tIns="0" rIns="0" bIns="0" rtlCol="0" anchor="t"/>
          <a:lstStyle/>
          <a:p>
            <a:pPr algn="ctr" indent="0" marL="0">
              <a:buNone/>
            </a:pPr>
            <a:r>
              <a:rPr lang="en-US" sz="1250" dirty="0">
                <a:solidFill>
                  <a:srgbClr val="64748B"/>
                </a:solidFill>
                <a:latin typeface="Calibri" pitchFamily="34" charset="0"/>
                <a:ea typeface="Calibri" pitchFamily="34" charset="-122"/>
                <a:cs typeface="Calibri" pitchFamily="34" charset="-120"/>
              </a:rPr>
              <a:t>Guarda ticket, estado y CDR que devuelve SUNAT.</a:t>
            </a:r>
            <a:endParaRPr lang="en-US" sz="1250" dirty="0"/>
          </a:p>
        </p:txBody>
      </p:sp>
      <p:sp>
        <p:nvSpPr>
          <p:cNvPr id="29" name="Text 27"/>
          <p:cNvSpPr/>
          <p:nvPr/>
        </p:nvSpPr>
        <p:spPr>
          <a:xfrm>
            <a:off x="548640" y="5257800"/>
            <a:ext cx="11064240" cy="914400"/>
          </a:xfrm>
          <a:prstGeom prst="rect">
            <a:avLst/>
          </a:prstGeom>
          <a:noFill/>
          <a:ln/>
        </p:spPr>
        <p:txBody>
          <a:bodyPr wrap="square" lIns="0" tIns="0" rIns="0" bIns="0" rtlCol="0" anchor="t"/>
          <a:lstStyle/>
          <a:p>
            <a:pPr indent="0" marL="0">
              <a:buNone/>
            </a:pPr>
            <a:r>
              <a:rPr lang="en-US" sz="1450" b="1" dirty="0">
                <a:solidFill>
                  <a:srgbClr val="1E293B"/>
                </a:solidFill>
                <a:latin typeface="Calibri" pitchFamily="34" charset="0"/>
                <a:ea typeface="Calibri" pitchFamily="34" charset="-122"/>
                <a:cs typeface="Calibri" pitchFamily="34" charset="-120"/>
              </a:rPr>
              <a:t>¿Por qué enviar a SUNAT FUERA de la transacción?  </a:t>
            </a:r>
            <a:pPr indent="0" marL="0">
              <a:buNone/>
            </a:pPr>
            <a:r>
              <a:rPr lang="en-US" sz="1450" dirty="0">
                <a:solidFill>
                  <a:srgbClr val="1E293B"/>
                </a:solidFill>
                <a:latin typeface="Calibri" pitchFamily="34" charset="0"/>
                <a:ea typeface="Calibri" pitchFamily="34" charset="-122"/>
                <a:cs typeface="Calibri" pitchFamily="34" charset="-120"/>
              </a:rPr>
              <a:t>Porque una llamada de red es lenta; primero aseguramos el dato en la BD (commit) y recién entonces hablamos con SUNAT.</a:t>
            </a:r>
            <a:endParaRPr lang="en-US" sz="14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indent="0" marL="0">
              <a:buNone/>
            </a:pPr>
            <a:r>
              <a:rPr lang="en-US" sz="1300" b="1" spc="200" kern="0" dirty="0">
                <a:solidFill>
                  <a:srgbClr val="0D9488"/>
                </a:solidFill>
                <a:latin typeface="Calibri" pitchFamily="34" charset="0"/>
                <a:ea typeface="Calibri" pitchFamily="34" charset="-122"/>
                <a:cs typeface="Calibri" pitchFamily="34" charset="-120"/>
              </a:rPr>
              <a:t>REPRESENTACIÓN IMPRESA</a:t>
            </a:r>
            <a:endParaRPr lang="en-US" sz="1300" dirty="0"/>
          </a:p>
        </p:txBody>
      </p:sp>
      <p:sp>
        <p:nvSpPr>
          <p:cNvPr id="3" name="Text 1"/>
          <p:cNvSpPr/>
          <p:nvPr/>
        </p:nvSpPr>
        <p:spPr>
          <a:xfrm>
            <a:off x="548640" y="658368"/>
            <a:ext cx="11064240" cy="777240"/>
          </a:xfrm>
          <a:prstGeom prst="rect">
            <a:avLst/>
          </a:prstGeom>
          <a:noFill/>
          <a:ln/>
        </p:spPr>
        <p:txBody>
          <a:bodyPr wrap="square" lIns="0" tIns="0" rIns="0" bIns="0" rtlCol="0" anchor="t"/>
          <a:lstStyle/>
          <a:p>
            <a:pPr indent="0" marL="0">
              <a:buNone/>
            </a:pPr>
            <a:r>
              <a:rPr lang="en-US" sz="3000" b="1" dirty="0">
                <a:solidFill>
                  <a:srgbClr val="1E293B"/>
                </a:solidFill>
                <a:latin typeface="Cambria" pitchFamily="34" charset="0"/>
                <a:ea typeface="Cambria" pitchFamily="34" charset="-122"/>
                <a:cs typeface="Cambria" pitchFamily="34" charset="-120"/>
              </a:rPr>
              <a:t>Código QR: qué guarda y por qué</a:t>
            </a:r>
            <a:endParaRPr lang="en-US" sz="3000" dirty="0"/>
          </a:p>
        </p:txBody>
      </p:sp>
      <p:sp>
        <p:nvSpPr>
          <p:cNvPr id="4" name="Text 2"/>
          <p:cNvSpPr/>
          <p:nvPr/>
        </p:nvSpPr>
        <p:spPr>
          <a:xfrm>
            <a:off x="548640" y="1600200"/>
            <a:ext cx="11064240" cy="640080"/>
          </a:xfrm>
          <a:prstGeom prst="rect">
            <a:avLst/>
          </a:prstGeom>
          <a:noFill/>
          <a:ln/>
        </p:spPr>
        <p:txBody>
          <a:bodyPr wrap="square" lIns="0" tIns="0" rIns="0" bIns="0" rtlCol="0" anchor="t"/>
          <a:lstStyle/>
          <a:p>
            <a:pPr indent="0" marL="0">
              <a:buNone/>
            </a:pPr>
            <a:r>
              <a:rPr lang="en-US" sz="1600" dirty="0">
                <a:solidFill>
                  <a:srgbClr val="000000"/>
                </a:solidFill>
                <a:latin typeface="Calibri" pitchFamily="34" charset="0"/>
                <a:ea typeface="Calibri" pitchFamily="34" charset="-122"/>
                <a:cs typeface="Calibri" pitchFamily="34" charset="-120"/>
              </a:rPr>
              <a:t>El QR resume el comprobante en una sola cadena, separada por barras (|). Permite verificar el documento sin sistemas extra.</a:t>
            </a:r>
            <a:endParaRPr lang="en-US" sz="1600" dirty="0"/>
          </a:p>
        </p:txBody>
      </p:sp>
      <p:sp>
        <p:nvSpPr>
          <p:cNvPr id="5" name="Shape 3"/>
          <p:cNvSpPr/>
          <p:nvPr/>
        </p:nvSpPr>
        <p:spPr>
          <a:xfrm>
            <a:off x="548640" y="2331720"/>
            <a:ext cx="7680960" cy="2286000"/>
          </a:xfrm>
          <a:prstGeom prst="roundRect">
            <a:avLst>
              <a:gd name="adj" fmla="val 2400"/>
            </a:avLst>
          </a:prstGeom>
          <a:solidFill>
            <a:srgbClr val="0F172A"/>
          </a:solidFill>
          <a:ln/>
          <a:effectLst>
            <a:outerShdw sx="100000" sy="100000" kx="0" ky="0" algn="bl" rotWithShape="0" blurRad="101600" dist="38100" dir="5400000">
              <a:srgbClr val="000000">
                <a:alpha val="12000"/>
              </a:srgbClr>
            </a:outerShdw>
          </a:effectLst>
        </p:spPr>
      </p:sp>
      <p:sp>
        <p:nvSpPr>
          <p:cNvPr id="6" name="Text 4"/>
          <p:cNvSpPr/>
          <p:nvPr/>
        </p:nvSpPr>
        <p:spPr>
          <a:xfrm>
            <a:off x="777240" y="2496312"/>
            <a:ext cx="7223760" cy="1956816"/>
          </a:xfrm>
          <a:prstGeom prst="rect">
            <a:avLst/>
          </a:prstGeom>
          <a:noFill/>
          <a:ln/>
        </p:spPr>
        <p:txBody>
          <a:bodyPr wrap="square" lIns="0" tIns="0" rIns="0" bIns="0" rtlCol="0" anchor="t"/>
          <a:lstStyle/>
          <a:p>
            <a:pPr indent="0" marL="0">
              <a:lnSpc>
                <a:spcPct val="108000"/>
              </a:lnSpc>
              <a:buNone/>
            </a:pPr>
            <a:r>
              <a:rPr lang="en-US" sz="1250" dirty="0">
                <a:solidFill>
                  <a:srgbClr val="64748B"/>
                </a:solidFill>
                <a:latin typeface="Courier New" pitchFamily="34" charset="0"/>
                <a:ea typeface="Courier New" pitchFamily="34" charset="-122"/>
                <a:cs typeface="Courier New" pitchFamily="34" charset="-120"/>
              </a:rPr>
              <a:t>// Cadena QR según SUNAT (print_venta.php)</a:t>
            </a:r>
            <a:endParaRPr lang="en-US" sz="1250" dirty="0"/>
          </a:p>
          <a:p>
            <a:pPr indent="0" marL="0">
              <a:lnSpc>
                <a:spcPct val="108000"/>
              </a:lnSpc>
              <a:buNone/>
            </a:pPr>
            <a:r>
              <a:rPr lang="en-US" sz="1250" dirty="0">
                <a:solidFill>
                  <a:srgbClr val="5EEAD4"/>
                </a:solidFill>
                <a:latin typeface="Courier New" pitchFamily="34" charset="0"/>
                <a:ea typeface="Courier New" pitchFamily="34" charset="-122"/>
                <a:cs typeface="Courier New" pitchFamily="34" charset="-120"/>
              </a:rPr>
              <a:t>RUC | tipoDoc | serie | numero |</a:t>
            </a:r>
            <a:endParaRPr lang="en-US" sz="1250" dirty="0"/>
          </a:p>
          <a:p>
            <a:pPr indent="0" marL="0">
              <a:lnSpc>
                <a:spcPct val="108000"/>
              </a:lnSpc>
              <a:buNone/>
            </a:pPr>
            <a:r>
              <a:rPr lang="en-US" sz="1250" dirty="0">
                <a:solidFill>
                  <a:srgbClr val="5EEAD4"/>
                </a:solidFill>
                <a:latin typeface="Courier New" pitchFamily="34" charset="0"/>
                <a:ea typeface="Courier New" pitchFamily="34" charset="-122"/>
                <a:cs typeface="Courier New" pitchFamily="34" charset="-120"/>
              </a:rPr>
              <a:t>IGV | total | fecha |</a:t>
            </a:r>
            <a:endParaRPr lang="en-US" sz="1250" dirty="0"/>
          </a:p>
          <a:p>
            <a:pPr indent="0" marL="0">
              <a:lnSpc>
                <a:spcPct val="108000"/>
              </a:lnSpc>
              <a:buNone/>
            </a:pPr>
            <a:r>
              <a:rPr lang="en-US" sz="1250" dirty="0">
                <a:solidFill>
                  <a:srgbClr val="5EEAD4"/>
                </a:solidFill>
                <a:latin typeface="Courier New" pitchFamily="34" charset="0"/>
                <a:ea typeface="Courier New" pitchFamily="34" charset="-122"/>
                <a:cs typeface="Courier New" pitchFamily="34" charset="-120"/>
              </a:rPr>
              <a:t>tipoDocCliente | numDocCliente</a:t>
            </a:r>
            <a:endParaRPr lang="en-US" sz="1250" dirty="0"/>
          </a:p>
          <a:p>
            <a:pPr indent="0" marL="0">
              <a:lnSpc>
                <a:spcPct val="108000"/>
              </a:lnSpc>
              <a:buNone/>
            </a:pPr>
            <a:endParaRPr lang="en-US" sz="1250" dirty="0"/>
          </a:p>
          <a:p>
            <a:pPr indent="0" marL="0">
              <a:lnSpc>
                <a:spcPct val="108000"/>
              </a:lnSpc>
              <a:buNone/>
            </a:pPr>
            <a:r>
              <a:rPr lang="en-US" sz="1250" dirty="0">
                <a:solidFill>
                  <a:srgbClr val="E2E8F0"/>
                </a:solidFill>
                <a:latin typeface="Courier New" pitchFamily="34" charset="0"/>
                <a:ea typeface="Courier New" pitchFamily="34" charset="-122"/>
                <a:cs typeface="Courier New" pitchFamily="34" charset="-120"/>
              </a:rPr>
              <a:t>20123456789|03|B001|1|1.98|12.98|2026-06-24|1|45678912</a:t>
            </a:r>
            <a:endParaRPr lang="en-US" sz="1250" dirty="0"/>
          </a:p>
        </p:txBody>
      </p:sp>
      <p:sp>
        <p:nvSpPr>
          <p:cNvPr id="7" name="Shape 5"/>
          <p:cNvSpPr/>
          <p:nvPr/>
        </p:nvSpPr>
        <p:spPr>
          <a:xfrm>
            <a:off x="8503920" y="2331720"/>
            <a:ext cx="3108960" cy="3108960"/>
          </a:xfrm>
          <a:prstGeom prst="roundRect">
            <a:avLst>
              <a:gd name="adj" fmla="val 2353"/>
            </a:avLst>
          </a:prstGeom>
          <a:solidFill>
            <a:srgbClr val="FFFFFF"/>
          </a:solidFill>
          <a:ln/>
          <a:effectLst>
            <a:outerShdw sx="100000" sy="100000" kx="0" ky="0" algn="bl" rotWithShape="0" blurRad="101600" dist="38100" dir="5400000">
              <a:srgbClr val="000000">
                <a:alpha val="12000"/>
              </a:srgbClr>
            </a:outerShdw>
          </a:effectLst>
        </p:spPr>
      </p:sp>
      <p:sp>
        <p:nvSpPr>
          <p:cNvPr id="8" name="Shape 6"/>
          <p:cNvSpPr/>
          <p:nvPr/>
        </p:nvSpPr>
        <p:spPr>
          <a:xfrm>
            <a:off x="8503920" y="2331720"/>
            <a:ext cx="3108960" cy="3108960"/>
          </a:xfrm>
          <a:prstGeom prst="roundRect">
            <a:avLst>
              <a:gd name="adj" fmla="val 1765"/>
            </a:avLst>
          </a:prstGeom>
          <a:solidFill>
            <a:srgbClr val="FFFFFF"/>
          </a:solidFill>
          <a:ln w="12700">
            <a:solidFill>
              <a:srgbClr val="CBD5E1"/>
            </a:solidFill>
            <a:prstDash val="solid"/>
          </a:ln>
        </p:spPr>
      </p:sp>
      <p:sp>
        <p:nvSpPr>
          <p:cNvPr id="9" name="Shape 7"/>
          <p:cNvSpPr/>
          <p:nvPr/>
        </p:nvSpPr>
        <p:spPr>
          <a:xfrm>
            <a:off x="9006840" y="2834640"/>
            <a:ext cx="365760" cy="365760"/>
          </a:xfrm>
          <a:prstGeom prst="rect">
            <a:avLst/>
          </a:prstGeom>
          <a:solidFill>
            <a:srgbClr val="1E293B"/>
          </a:solidFill>
          <a:ln/>
        </p:spPr>
      </p:sp>
      <p:sp>
        <p:nvSpPr>
          <p:cNvPr id="10" name="Shape 8"/>
          <p:cNvSpPr/>
          <p:nvPr/>
        </p:nvSpPr>
        <p:spPr>
          <a:xfrm>
            <a:off x="9427464" y="2834640"/>
            <a:ext cx="365760" cy="365760"/>
          </a:xfrm>
          <a:prstGeom prst="rect">
            <a:avLst/>
          </a:prstGeom>
          <a:solidFill>
            <a:srgbClr val="1E293B"/>
          </a:solidFill>
          <a:ln/>
        </p:spPr>
      </p:sp>
      <p:sp>
        <p:nvSpPr>
          <p:cNvPr id="11" name="Shape 9"/>
          <p:cNvSpPr/>
          <p:nvPr/>
        </p:nvSpPr>
        <p:spPr>
          <a:xfrm>
            <a:off x="9848088" y="2834640"/>
            <a:ext cx="365760" cy="365760"/>
          </a:xfrm>
          <a:prstGeom prst="rect">
            <a:avLst/>
          </a:prstGeom>
          <a:solidFill>
            <a:srgbClr val="1E293B"/>
          </a:solidFill>
          <a:ln/>
        </p:spPr>
      </p:sp>
      <p:sp>
        <p:nvSpPr>
          <p:cNvPr id="12" name="Shape 10"/>
          <p:cNvSpPr/>
          <p:nvPr/>
        </p:nvSpPr>
        <p:spPr>
          <a:xfrm>
            <a:off x="10689336" y="2834640"/>
            <a:ext cx="365760" cy="365760"/>
          </a:xfrm>
          <a:prstGeom prst="rect">
            <a:avLst/>
          </a:prstGeom>
          <a:solidFill>
            <a:srgbClr val="1E293B"/>
          </a:solidFill>
          <a:ln/>
        </p:spPr>
      </p:sp>
      <p:sp>
        <p:nvSpPr>
          <p:cNvPr id="13" name="Shape 11"/>
          <p:cNvSpPr/>
          <p:nvPr/>
        </p:nvSpPr>
        <p:spPr>
          <a:xfrm>
            <a:off x="9006840" y="3255264"/>
            <a:ext cx="365760" cy="365760"/>
          </a:xfrm>
          <a:prstGeom prst="rect">
            <a:avLst/>
          </a:prstGeom>
          <a:solidFill>
            <a:srgbClr val="1E293B"/>
          </a:solidFill>
          <a:ln/>
        </p:spPr>
      </p:sp>
      <p:sp>
        <p:nvSpPr>
          <p:cNvPr id="14" name="Shape 12"/>
          <p:cNvSpPr/>
          <p:nvPr/>
        </p:nvSpPr>
        <p:spPr>
          <a:xfrm>
            <a:off x="9848088" y="3255264"/>
            <a:ext cx="365760" cy="365760"/>
          </a:xfrm>
          <a:prstGeom prst="rect">
            <a:avLst/>
          </a:prstGeom>
          <a:solidFill>
            <a:srgbClr val="1E293B"/>
          </a:solidFill>
          <a:ln/>
        </p:spPr>
      </p:sp>
      <p:sp>
        <p:nvSpPr>
          <p:cNvPr id="15" name="Shape 13"/>
          <p:cNvSpPr/>
          <p:nvPr/>
        </p:nvSpPr>
        <p:spPr>
          <a:xfrm>
            <a:off x="10689336" y="3255264"/>
            <a:ext cx="365760" cy="365760"/>
          </a:xfrm>
          <a:prstGeom prst="rect">
            <a:avLst/>
          </a:prstGeom>
          <a:solidFill>
            <a:srgbClr val="1E293B"/>
          </a:solidFill>
          <a:ln/>
        </p:spPr>
      </p:sp>
      <p:sp>
        <p:nvSpPr>
          <p:cNvPr id="16" name="Shape 14"/>
          <p:cNvSpPr/>
          <p:nvPr/>
        </p:nvSpPr>
        <p:spPr>
          <a:xfrm>
            <a:off x="9006840" y="3675888"/>
            <a:ext cx="365760" cy="365760"/>
          </a:xfrm>
          <a:prstGeom prst="rect">
            <a:avLst/>
          </a:prstGeom>
          <a:solidFill>
            <a:srgbClr val="1E293B"/>
          </a:solidFill>
          <a:ln/>
        </p:spPr>
      </p:sp>
      <p:sp>
        <p:nvSpPr>
          <p:cNvPr id="17" name="Shape 15"/>
          <p:cNvSpPr/>
          <p:nvPr/>
        </p:nvSpPr>
        <p:spPr>
          <a:xfrm>
            <a:off x="9427464" y="3675888"/>
            <a:ext cx="365760" cy="365760"/>
          </a:xfrm>
          <a:prstGeom prst="rect">
            <a:avLst/>
          </a:prstGeom>
          <a:solidFill>
            <a:srgbClr val="1E293B"/>
          </a:solidFill>
          <a:ln/>
        </p:spPr>
      </p:sp>
      <p:sp>
        <p:nvSpPr>
          <p:cNvPr id="18" name="Shape 16"/>
          <p:cNvSpPr/>
          <p:nvPr/>
        </p:nvSpPr>
        <p:spPr>
          <a:xfrm>
            <a:off x="9848088" y="3675888"/>
            <a:ext cx="365760" cy="365760"/>
          </a:xfrm>
          <a:prstGeom prst="rect">
            <a:avLst/>
          </a:prstGeom>
          <a:solidFill>
            <a:srgbClr val="1E293B"/>
          </a:solidFill>
          <a:ln/>
        </p:spPr>
      </p:sp>
      <p:sp>
        <p:nvSpPr>
          <p:cNvPr id="19" name="Shape 17"/>
          <p:cNvSpPr/>
          <p:nvPr/>
        </p:nvSpPr>
        <p:spPr>
          <a:xfrm>
            <a:off x="10268712" y="3675888"/>
            <a:ext cx="365760" cy="365760"/>
          </a:xfrm>
          <a:prstGeom prst="rect">
            <a:avLst/>
          </a:prstGeom>
          <a:solidFill>
            <a:srgbClr val="1E293B"/>
          </a:solidFill>
          <a:ln/>
        </p:spPr>
      </p:sp>
      <p:sp>
        <p:nvSpPr>
          <p:cNvPr id="20" name="Shape 18"/>
          <p:cNvSpPr/>
          <p:nvPr/>
        </p:nvSpPr>
        <p:spPr>
          <a:xfrm>
            <a:off x="9006840" y="4517136"/>
            <a:ext cx="365760" cy="365760"/>
          </a:xfrm>
          <a:prstGeom prst="rect">
            <a:avLst/>
          </a:prstGeom>
          <a:solidFill>
            <a:srgbClr val="1E293B"/>
          </a:solidFill>
          <a:ln/>
        </p:spPr>
      </p:sp>
      <p:sp>
        <p:nvSpPr>
          <p:cNvPr id="21" name="Shape 19"/>
          <p:cNvSpPr/>
          <p:nvPr/>
        </p:nvSpPr>
        <p:spPr>
          <a:xfrm>
            <a:off x="9848088" y="4517136"/>
            <a:ext cx="365760" cy="365760"/>
          </a:xfrm>
          <a:prstGeom prst="rect">
            <a:avLst/>
          </a:prstGeom>
          <a:solidFill>
            <a:srgbClr val="1E293B"/>
          </a:solidFill>
          <a:ln/>
        </p:spPr>
      </p:sp>
      <p:sp>
        <p:nvSpPr>
          <p:cNvPr id="22" name="Shape 20"/>
          <p:cNvSpPr/>
          <p:nvPr/>
        </p:nvSpPr>
        <p:spPr>
          <a:xfrm>
            <a:off x="10268712" y="4517136"/>
            <a:ext cx="365760" cy="365760"/>
          </a:xfrm>
          <a:prstGeom prst="rect">
            <a:avLst/>
          </a:prstGeom>
          <a:solidFill>
            <a:srgbClr val="1E293B"/>
          </a:solidFill>
          <a:ln/>
        </p:spPr>
      </p:sp>
      <p:sp>
        <p:nvSpPr>
          <p:cNvPr id="23" name="Shape 21"/>
          <p:cNvSpPr/>
          <p:nvPr/>
        </p:nvSpPr>
        <p:spPr>
          <a:xfrm>
            <a:off x="10689336" y="4517136"/>
            <a:ext cx="365760" cy="365760"/>
          </a:xfrm>
          <a:prstGeom prst="rect">
            <a:avLst/>
          </a:prstGeom>
          <a:solidFill>
            <a:srgbClr val="1E293B"/>
          </a:solidFill>
          <a:ln/>
        </p:spPr>
      </p:sp>
      <p:sp>
        <p:nvSpPr>
          <p:cNvPr id="24" name="Shape 22"/>
          <p:cNvSpPr/>
          <p:nvPr/>
        </p:nvSpPr>
        <p:spPr>
          <a:xfrm>
            <a:off x="9427464" y="4096512"/>
            <a:ext cx="365760" cy="365760"/>
          </a:xfrm>
          <a:prstGeom prst="rect">
            <a:avLst/>
          </a:prstGeom>
          <a:solidFill>
            <a:srgbClr val="1E293B"/>
          </a:solidFill>
          <a:ln/>
        </p:spPr>
      </p:sp>
      <p:sp>
        <p:nvSpPr>
          <p:cNvPr id="25" name="Shape 23"/>
          <p:cNvSpPr/>
          <p:nvPr/>
        </p:nvSpPr>
        <p:spPr>
          <a:xfrm>
            <a:off x="10689336" y="4096512"/>
            <a:ext cx="365760" cy="365760"/>
          </a:xfrm>
          <a:prstGeom prst="rect">
            <a:avLst/>
          </a:prstGeom>
          <a:solidFill>
            <a:srgbClr val="1E293B"/>
          </a:solidFill>
          <a:ln/>
        </p:spPr>
      </p:sp>
      <p:sp>
        <p:nvSpPr>
          <p:cNvPr id="26" name="Shape 24"/>
          <p:cNvSpPr/>
          <p:nvPr/>
        </p:nvSpPr>
        <p:spPr>
          <a:xfrm>
            <a:off x="10268712" y="3255264"/>
            <a:ext cx="365760" cy="365760"/>
          </a:xfrm>
          <a:prstGeom prst="rect">
            <a:avLst/>
          </a:prstGeom>
          <a:solidFill>
            <a:srgbClr val="1E293B"/>
          </a:solidFill>
          <a:ln/>
        </p:spPr>
      </p:sp>
      <p:sp>
        <p:nvSpPr>
          <p:cNvPr id="27" name="Text 25"/>
          <p:cNvSpPr/>
          <p:nvPr/>
        </p:nvSpPr>
        <p:spPr>
          <a:xfrm>
            <a:off x="548640" y="4937760"/>
            <a:ext cx="7680960" cy="822960"/>
          </a:xfrm>
          <a:prstGeom prst="rect">
            <a:avLst/>
          </a:prstGeom>
          <a:noFill/>
          <a:ln/>
        </p:spPr>
        <p:txBody>
          <a:bodyPr wrap="square" lIns="0" tIns="0" rIns="0" bIns="0" rtlCol="0" anchor="t"/>
          <a:lstStyle/>
          <a:p>
            <a:pPr indent="0" marL="0">
              <a:buNone/>
            </a:pPr>
            <a:r>
              <a:rPr lang="en-US" sz="1400" i="1" dirty="0">
                <a:solidFill>
                  <a:srgbClr val="64748B"/>
                </a:solidFill>
                <a:latin typeface="Calibri" pitchFamily="34" charset="0"/>
                <a:ea typeface="Calibri" pitchFamily="34" charset="-122"/>
                <a:cs typeface="Calibri" pitchFamily="34" charset="-120"/>
              </a:rPr>
              <a:t>Se genera con qrcodejs (CDN), sin librerías PHP. El mismo formato sirve para boleta, factura y notas.</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indent="0" marL="0">
              <a:buNone/>
            </a:pPr>
            <a:r>
              <a:rPr lang="en-US" sz="1300" b="1" spc="200" kern="0" dirty="0">
                <a:solidFill>
                  <a:srgbClr val="0D9488"/>
                </a:solidFill>
                <a:latin typeface="Calibri" pitchFamily="34" charset="0"/>
                <a:ea typeface="Calibri" pitchFamily="34" charset="-122"/>
                <a:cs typeface="Calibri" pitchFamily="34" charset="-120"/>
              </a:rPr>
              <a:t>DOS CAMINOS</a:t>
            </a:r>
            <a:endParaRPr lang="en-US" sz="1300" dirty="0"/>
          </a:p>
        </p:txBody>
      </p:sp>
      <p:sp>
        <p:nvSpPr>
          <p:cNvPr id="3" name="Text 1"/>
          <p:cNvSpPr/>
          <p:nvPr/>
        </p:nvSpPr>
        <p:spPr>
          <a:xfrm>
            <a:off x="548640" y="658368"/>
            <a:ext cx="11064240" cy="777240"/>
          </a:xfrm>
          <a:prstGeom prst="rect">
            <a:avLst/>
          </a:prstGeom>
          <a:noFill/>
          <a:ln/>
        </p:spPr>
        <p:txBody>
          <a:bodyPr wrap="square" lIns="0" tIns="0" rIns="0" bIns="0" rtlCol="0" anchor="t"/>
          <a:lstStyle/>
          <a:p>
            <a:pPr indent="0" marL="0">
              <a:buNone/>
            </a:pPr>
            <a:r>
              <a:rPr lang="en-US" sz="3000" b="1" dirty="0">
                <a:solidFill>
                  <a:srgbClr val="1E293B"/>
                </a:solidFill>
                <a:latin typeface="Cambria" pitchFamily="34" charset="0"/>
                <a:ea typeface="Cambria" pitchFamily="34" charset="-122"/>
                <a:cs typeface="Cambria" pitchFamily="34" charset="-120"/>
              </a:rPr>
              <a:t>Anular ante SUNAT: baja vs. resumen</a:t>
            </a:r>
            <a:endParaRPr lang="en-US" sz="3000" dirty="0"/>
          </a:p>
        </p:txBody>
      </p:sp>
      <p:sp>
        <p:nvSpPr>
          <p:cNvPr id="4" name="Shape 2"/>
          <p:cNvSpPr/>
          <p:nvPr/>
        </p:nvSpPr>
        <p:spPr>
          <a:xfrm>
            <a:off x="548640" y="1737360"/>
            <a:ext cx="5349240" cy="4023360"/>
          </a:xfrm>
          <a:prstGeom prst="roundRect">
            <a:avLst>
              <a:gd name="adj" fmla="val 1818"/>
            </a:avLst>
          </a:prstGeom>
          <a:solidFill>
            <a:srgbClr val="F0FDFA"/>
          </a:solidFill>
          <a:ln/>
          <a:effectLst>
            <a:outerShdw sx="100000" sy="100000" kx="0" ky="0" algn="bl" rotWithShape="0" blurRad="101600" dist="38100" dir="5400000">
              <a:srgbClr val="000000">
                <a:alpha val="12000"/>
              </a:srgbClr>
            </a:outerShdw>
          </a:effectLst>
        </p:spPr>
      </p:sp>
      <p:sp>
        <p:nvSpPr>
          <p:cNvPr id="5" name="Shape 3"/>
          <p:cNvSpPr/>
          <p:nvPr/>
        </p:nvSpPr>
        <p:spPr>
          <a:xfrm>
            <a:off x="841248" y="1965960"/>
            <a:ext cx="566928" cy="566928"/>
          </a:xfrm>
          <a:prstGeom prst="ellipse">
            <a:avLst/>
          </a:prstGeom>
          <a:solidFill>
            <a:srgbClr val="0D9488"/>
          </a:solidFill>
          <a:ln/>
        </p:spPr>
      </p:sp>
      <p:sp>
        <p:nvSpPr>
          <p:cNvPr id="6" name="Text 4"/>
          <p:cNvSpPr/>
          <p:nvPr/>
        </p:nvSpPr>
        <p:spPr>
          <a:xfrm>
            <a:off x="841248" y="196596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F</a:t>
            </a:r>
            <a:endParaRPr lang="en-US" sz="2000" dirty="0"/>
          </a:p>
        </p:txBody>
      </p:sp>
      <p:sp>
        <p:nvSpPr>
          <p:cNvPr id="7" name="Text 5"/>
          <p:cNvSpPr/>
          <p:nvPr/>
        </p:nvSpPr>
        <p:spPr>
          <a:xfrm>
            <a:off x="1554480" y="1993392"/>
            <a:ext cx="4114800" cy="502920"/>
          </a:xfrm>
          <a:prstGeom prst="rect">
            <a:avLst/>
          </a:prstGeom>
          <a:noFill/>
          <a:ln/>
        </p:spPr>
        <p:txBody>
          <a:bodyPr wrap="square" lIns="0" tIns="0" rIns="0" bIns="0" rtlCol="0" anchor="ctr"/>
          <a:lstStyle/>
          <a:p>
            <a:pPr indent="0" marL="0">
              <a:buNone/>
            </a:pPr>
            <a:r>
              <a:rPr lang="en-US" sz="1800" b="1" dirty="0">
                <a:solidFill>
                  <a:srgbClr val="1E293B"/>
                </a:solidFill>
                <a:latin typeface="Calibri" pitchFamily="34" charset="0"/>
                <a:ea typeface="Calibri" pitchFamily="34" charset="-122"/>
                <a:cs typeface="Calibri" pitchFamily="34" charset="-120"/>
              </a:rPr>
              <a:t>Factura y Notas</a:t>
            </a:r>
            <a:endParaRPr lang="en-US" sz="1800" dirty="0"/>
          </a:p>
        </p:txBody>
      </p:sp>
      <p:sp>
        <p:nvSpPr>
          <p:cNvPr id="8" name="Text 6"/>
          <p:cNvSpPr/>
          <p:nvPr/>
        </p:nvSpPr>
        <p:spPr>
          <a:xfrm>
            <a:off x="841248" y="2697480"/>
            <a:ext cx="4800600" cy="2834640"/>
          </a:xfrm>
          <a:prstGeom prst="rect">
            <a:avLst/>
          </a:prstGeom>
          <a:noFill/>
          <a:ln/>
        </p:spPr>
        <p:txBody>
          <a:bodyPr wrap="square" lIns="0" tIns="0" rIns="0" bIns="0" rtlCol="0" anchor="t"/>
          <a:lstStyle/>
          <a:p>
            <a:pPr indent="0" marL="0">
              <a:spcAft>
                <a:spcPts val="600"/>
              </a:spcAft>
              <a:buNone/>
            </a:pPr>
            <a:r>
              <a:rPr lang="en-US" sz="1450" b="1" dirty="0">
                <a:solidFill>
                  <a:srgbClr val="0D9488"/>
                </a:solidFill>
                <a:latin typeface="Calibri" pitchFamily="34" charset="0"/>
                <a:ea typeface="Calibri" pitchFamily="34" charset="-122"/>
                <a:cs typeface="Calibri" pitchFamily="34" charset="-120"/>
              </a:rPr>
              <a:t>Comunicación de baja</a:t>
            </a:r>
            <a:endParaRPr lang="en-US" sz="1450" dirty="0"/>
          </a:p>
          <a:p>
            <a:pPr indent="0" marL="0">
              <a:spcAft>
                <a:spcPts val="600"/>
              </a:spcAft>
              <a:buNone/>
            </a:pPr>
            <a:r>
              <a:rPr lang="en-US" sz="1450" dirty="0">
                <a:solidFill>
                  <a:srgbClr val="1E293B"/>
                </a:solidFill>
                <a:latin typeface="Calibri" pitchFamily="34" charset="0"/>
                <a:ea typeface="Calibri" pitchFamily="34" charset="-122"/>
                <a:cs typeface="Calibri" pitchFamily="34" charset="-120"/>
              </a:rPr>
              <a:t>Se anula documento por documento, enviando la baja a SUNAT.</a:t>
            </a:r>
            <a:endParaRPr lang="en-US" sz="1450" dirty="0"/>
          </a:p>
          <a:p>
            <a:pPr indent="0" marL="0">
              <a:spcAft>
                <a:spcPts val="600"/>
              </a:spcAft>
              <a:buNone/>
            </a:pPr>
            <a:r>
              <a:rPr lang="en-US" sz="800" dirty="0">
                <a:solidFill>
                  <a:srgbClr val="1E293B"/>
                </a:solidFill>
                <a:latin typeface="Calibri" pitchFamily="34" charset="0"/>
                <a:ea typeface="Calibri" pitchFamily="34" charset="-122"/>
                <a:cs typeface="Calibri" pitchFamily="34" charset="-120"/>
              </a:rPr>
              <a:t> </a:t>
            </a:r>
            <a:endParaRPr lang="en-US" sz="1450" dirty="0"/>
          </a:p>
          <a:p>
            <a:pPr indent="0" marL="0">
              <a:spcAft>
                <a:spcPts val="600"/>
              </a:spcAft>
              <a:buNone/>
            </a:pPr>
            <a:r>
              <a:rPr lang="en-US" sz="1450" dirty="0">
                <a:solidFill>
                  <a:srgbClr val="0D9488"/>
                </a:solidFill>
                <a:latin typeface="Courier New" pitchFamily="34" charset="0"/>
                <a:ea typeface="Courier New" pitchFamily="34" charset="-122"/>
                <a:cs typeface="Courier New" pitchFamily="34" charset="-120"/>
              </a:rPr>
              <a:t>Facturalaya-&gt;enviarBaja()</a:t>
            </a:r>
            <a:endParaRPr lang="en-US" sz="1450" dirty="0"/>
          </a:p>
        </p:txBody>
      </p:sp>
      <p:sp>
        <p:nvSpPr>
          <p:cNvPr id="9" name="Shape 7"/>
          <p:cNvSpPr/>
          <p:nvPr/>
        </p:nvSpPr>
        <p:spPr>
          <a:xfrm>
            <a:off x="6355080" y="1737360"/>
            <a:ext cx="5257800" cy="4023360"/>
          </a:xfrm>
          <a:prstGeom prst="roundRect">
            <a:avLst>
              <a:gd name="adj" fmla="val 1818"/>
            </a:avLst>
          </a:prstGeom>
          <a:solidFill>
            <a:srgbClr val="0E2A2E"/>
          </a:solidFill>
          <a:ln/>
          <a:effectLst>
            <a:outerShdw sx="100000" sy="100000" kx="0" ky="0" algn="bl" rotWithShape="0" blurRad="101600" dist="38100" dir="5400000">
              <a:srgbClr val="000000">
                <a:alpha val="12000"/>
              </a:srgbClr>
            </a:outerShdw>
          </a:effectLst>
        </p:spPr>
      </p:sp>
      <p:sp>
        <p:nvSpPr>
          <p:cNvPr id="10" name="Shape 8"/>
          <p:cNvSpPr/>
          <p:nvPr/>
        </p:nvSpPr>
        <p:spPr>
          <a:xfrm>
            <a:off x="6647688" y="1965960"/>
            <a:ext cx="566928" cy="566928"/>
          </a:xfrm>
          <a:prstGeom prst="ellipse">
            <a:avLst/>
          </a:prstGeom>
          <a:solidFill>
            <a:srgbClr val="D97706"/>
          </a:solidFill>
          <a:ln/>
        </p:spPr>
      </p:sp>
      <p:sp>
        <p:nvSpPr>
          <p:cNvPr id="11" name="Text 9"/>
          <p:cNvSpPr/>
          <p:nvPr/>
        </p:nvSpPr>
        <p:spPr>
          <a:xfrm>
            <a:off x="6647688" y="196596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7360920" y="1993392"/>
            <a:ext cx="4023360" cy="5029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Boletas</a:t>
            </a:r>
            <a:endParaRPr lang="en-US" sz="1800" dirty="0"/>
          </a:p>
        </p:txBody>
      </p:sp>
      <p:sp>
        <p:nvSpPr>
          <p:cNvPr id="13" name="Text 11"/>
          <p:cNvSpPr/>
          <p:nvPr/>
        </p:nvSpPr>
        <p:spPr>
          <a:xfrm>
            <a:off x="6647688" y="2697480"/>
            <a:ext cx="4709160" cy="2834640"/>
          </a:xfrm>
          <a:prstGeom prst="rect">
            <a:avLst/>
          </a:prstGeom>
          <a:noFill/>
          <a:ln/>
        </p:spPr>
        <p:txBody>
          <a:bodyPr wrap="square" lIns="0" tIns="0" rIns="0" bIns="0" rtlCol="0" anchor="t"/>
          <a:lstStyle/>
          <a:p>
            <a:pPr indent="0" marL="0">
              <a:spcAft>
                <a:spcPts val="600"/>
              </a:spcAft>
              <a:buNone/>
            </a:pPr>
            <a:r>
              <a:rPr lang="en-US" sz="1450" b="1" dirty="0">
                <a:solidFill>
                  <a:srgbClr val="5EEAD4"/>
                </a:solidFill>
                <a:latin typeface="Calibri" pitchFamily="34" charset="0"/>
                <a:ea typeface="Calibri" pitchFamily="34" charset="-122"/>
                <a:cs typeface="Calibri" pitchFamily="34" charset="-120"/>
              </a:rPr>
              <a:t>Resumen diario</a:t>
            </a:r>
            <a:endParaRPr lang="en-US" sz="1450" dirty="0"/>
          </a:p>
          <a:p>
            <a:pPr indent="0" marL="0">
              <a:spcAft>
                <a:spcPts val="600"/>
              </a:spcAft>
              <a:buNone/>
            </a:pPr>
            <a:r>
              <a:rPr lang="en-US" sz="1450" dirty="0">
                <a:solidFill>
                  <a:srgbClr val="E2E8F0"/>
                </a:solidFill>
                <a:latin typeface="Calibri" pitchFamily="34" charset="0"/>
                <a:ea typeface="Calibri" pitchFamily="34" charset="-122"/>
                <a:cs typeface="Calibri" pitchFamily="34" charset="-120"/>
              </a:rPr>
              <a:t>Las boletas NO se dan de baja una por una: se informan (y se anulan) en el resumen del día.</a:t>
            </a:r>
            <a:endParaRPr lang="en-US" sz="1450" dirty="0"/>
          </a:p>
          <a:p>
            <a:pPr indent="0" marL="0">
              <a:spcAft>
                <a:spcPts val="600"/>
              </a:spcAft>
              <a:buNone/>
            </a:pPr>
            <a:r>
              <a:rPr lang="en-US" sz="800" dirty="0">
                <a:solidFill>
                  <a:srgbClr val="000000"/>
                </a:solidFill>
                <a:latin typeface="Calibri" pitchFamily="34" charset="0"/>
                <a:ea typeface="Calibri" pitchFamily="34" charset="-122"/>
                <a:cs typeface="Calibri" pitchFamily="34" charset="-120"/>
              </a:rPr>
              <a:t> </a:t>
            </a:r>
            <a:endParaRPr lang="en-US" sz="1450" dirty="0"/>
          </a:p>
          <a:p>
            <a:pPr indent="0" marL="0">
              <a:spcAft>
                <a:spcPts val="600"/>
              </a:spcAft>
              <a:buNone/>
            </a:pPr>
            <a:r>
              <a:rPr lang="en-US" sz="1450" dirty="0">
                <a:solidFill>
                  <a:srgbClr val="5EEAD4"/>
                </a:solidFill>
                <a:latin typeface="Courier New" pitchFamily="34" charset="0"/>
                <a:ea typeface="Courier New" pitchFamily="34" charset="-122"/>
                <a:cs typeface="Courier New" pitchFamily="34" charset="-120"/>
              </a:rPr>
              <a:t>Facturalaya-&gt;enviarResumen()</a:t>
            </a:r>
            <a:endParaRPr lang="en-US" sz="1450" dirty="0"/>
          </a:p>
        </p:txBody>
      </p:sp>
      <p:sp>
        <p:nvSpPr>
          <p:cNvPr id="14" name="Text 12"/>
          <p:cNvSpPr/>
          <p:nvPr/>
        </p:nvSpPr>
        <p:spPr>
          <a:xfrm>
            <a:off x="548640" y="5943600"/>
            <a:ext cx="11064240" cy="548640"/>
          </a:xfrm>
          <a:prstGeom prst="rect">
            <a:avLst/>
          </a:prstGeom>
          <a:noFill/>
          <a:ln/>
        </p:spPr>
        <p:txBody>
          <a:bodyPr wrap="square" lIns="0" tIns="0" rIns="0" bIns="0" rtlCol="0" anchor="ctr"/>
          <a:lstStyle/>
          <a:p>
            <a:pPr algn="ctr" indent="0" marL="0">
              <a:buNone/>
            </a:pPr>
            <a:r>
              <a:rPr lang="en-US" sz="1350" i="1" dirty="0">
                <a:solidFill>
                  <a:srgbClr val="64748B"/>
                </a:solidFill>
                <a:latin typeface="Calibri" pitchFamily="34" charset="0"/>
                <a:ea typeface="Calibri" pitchFamily="34" charset="-122"/>
                <a:cs typeface="Calibri" pitchFamily="34" charset="-120"/>
              </a:rPr>
              <a:t>¿Por qué distinto? Son reglas de SUNAT: la factura se identifica una a una; la boleta es consumo masivo y se reporta agregada.</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indent="0" marL="0">
              <a:buNone/>
            </a:pPr>
            <a:r>
              <a:rPr lang="en-US" sz="1300" b="1" spc="200" kern="0" dirty="0">
                <a:solidFill>
                  <a:srgbClr val="0D9488"/>
                </a:solidFill>
                <a:latin typeface="Calibri" pitchFamily="34" charset="0"/>
                <a:ea typeface="Calibri" pitchFamily="34" charset="-122"/>
                <a:cs typeface="Calibri" pitchFamily="34" charset="-120"/>
              </a:rPr>
              <a:t>ASÍNCRONO</a:t>
            </a:r>
            <a:endParaRPr lang="en-US" sz="1300" dirty="0"/>
          </a:p>
        </p:txBody>
      </p:sp>
      <p:sp>
        <p:nvSpPr>
          <p:cNvPr id="3" name="Text 1"/>
          <p:cNvSpPr/>
          <p:nvPr/>
        </p:nvSpPr>
        <p:spPr>
          <a:xfrm>
            <a:off x="548640" y="658368"/>
            <a:ext cx="11064240" cy="777240"/>
          </a:xfrm>
          <a:prstGeom prst="rect">
            <a:avLst/>
          </a:prstGeom>
          <a:noFill/>
          <a:ln/>
        </p:spPr>
        <p:txBody>
          <a:bodyPr wrap="square" lIns="0" tIns="0" rIns="0" bIns="0" rtlCol="0" anchor="t"/>
          <a:lstStyle/>
          <a:p>
            <a:pPr indent="0" marL="0">
              <a:buNone/>
            </a:pPr>
            <a:r>
              <a:rPr lang="en-US" sz="3000" b="1" dirty="0">
                <a:solidFill>
                  <a:srgbClr val="1E293B"/>
                </a:solidFill>
                <a:latin typeface="Cambria" pitchFamily="34" charset="0"/>
                <a:ea typeface="Cambria" pitchFamily="34" charset="-122"/>
                <a:cs typeface="Cambria" pitchFamily="34" charset="-120"/>
              </a:rPr>
              <a:t>Consulta de estado: ¿por qué un 'ticket'?</a:t>
            </a:r>
            <a:endParaRPr lang="en-US" sz="3000" dirty="0"/>
          </a:p>
        </p:txBody>
      </p:sp>
      <p:sp>
        <p:nvSpPr>
          <p:cNvPr id="4" name="Shape 2"/>
          <p:cNvSpPr/>
          <p:nvPr/>
        </p:nvSpPr>
        <p:spPr>
          <a:xfrm>
            <a:off x="548640" y="2103120"/>
            <a:ext cx="2651760" cy="1828800"/>
          </a:xfrm>
          <a:prstGeom prst="roundRect">
            <a:avLst>
              <a:gd name="adj" fmla="val 4000"/>
            </a:avLst>
          </a:prstGeom>
          <a:solidFill>
            <a:srgbClr val="F0FDFA"/>
          </a:solidFill>
          <a:ln/>
          <a:effectLst>
            <a:outerShdw sx="100000" sy="100000" kx="0" ky="0" algn="bl" rotWithShape="0" blurRad="101600" dist="38100" dir="5400000">
              <a:srgbClr val="000000">
                <a:alpha val="12000"/>
              </a:srgbClr>
            </a:outerShdw>
          </a:effectLst>
        </p:spPr>
      </p:sp>
      <p:sp>
        <p:nvSpPr>
          <p:cNvPr id="5" name="Shape 3"/>
          <p:cNvSpPr/>
          <p:nvPr/>
        </p:nvSpPr>
        <p:spPr>
          <a:xfrm>
            <a:off x="777240" y="2286000"/>
            <a:ext cx="502920" cy="502920"/>
          </a:xfrm>
          <a:prstGeom prst="ellipse">
            <a:avLst/>
          </a:prstGeom>
          <a:solidFill>
            <a:srgbClr val="14B8A6"/>
          </a:solidFill>
          <a:ln/>
        </p:spPr>
      </p:sp>
      <p:sp>
        <p:nvSpPr>
          <p:cNvPr id="6" name="Text 4"/>
          <p:cNvSpPr/>
          <p:nvPr/>
        </p:nvSpPr>
        <p:spPr>
          <a:xfrm>
            <a:off x="777240" y="22860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p:nvPr/>
        </p:nvSpPr>
        <p:spPr>
          <a:xfrm>
            <a:off x="1417320" y="2286000"/>
            <a:ext cx="1645920" cy="502920"/>
          </a:xfrm>
          <a:prstGeom prst="rect">
            <a:avLst/>
          </a:prstGeom>
          <a:noFill/>
          <a:ln/>
        </p:spPr>
        <p:txBody>
          <a:bodyPr wrap="square" lIns="0" tIns="0" rIns="0" bIns="0" rtlCol="0" anchor="ctr"/>
          <a:lstStyle/>
          <a:p>
            <a:pPr indent="0" marL="0">
              <a:buNone/>
            </a:pPr>
            <a:r>
              <a:rPr lang="en-US" sz="1600" b="1" dirty="0">
                <a:solidFill>
                  <a:srgbClr val="1E293B"/>
                </a:solidFill>
                <a:latin typeface="Calibri" pitchFamily="34" charset="0"/>
                <a:ea typeface="Calibri" pitchFamily="34" charset="-122"/>
                <a:cs typeface="Calibri" pitchFamily="34" charset="-120"/>
              </a:rPr>
              <a:t>Enviamos</a:t>
            </a:r>
            <a:endParaRPr lang="en-US" sz="1600" dirty="0"/>
          </a:p>
        </p:txBody>
      </p:sp>
      <p:sp>
        <p:nvSpPr>
          <p:cNvPr id="8" name="Text 6"/>
          <p:cNvSpPr/>
          <p:nvPr/>
        </p:nvSpPr>
        <p:spPr>
          <a:xfrm>
            <a:off x="804672" y="2926080"/>
            <a:ext cx="2194560" cy="86868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El comprobante sale a SUNAT</a:t>
            </a:r>
            <a:endParaRPr lang="en-US" sz="1300" dirty="0"/>
          </a:p>
        </p:txBody>
      </p:sp>
      <p:sp>
        <p:nvSpPr>
          <p:cNvPr id="9" name="Text 7"/>
          <p:cNvSpPr/>
          <p:nvPr/>
        </p:nvSpPr>
        <p:spPr>
          <a:xfrm>
            <a:off x="3090672" y="2468880"/>
            <a:ext cx="457200" cy="914400"/>
          </a:xfrm>
          <a:prstGeom prst="rect">
            <a:avLst/>
          </a:prstGeom>
          <a:noFill/>
          <a:ln/>
        </p:spPr>
        <p:txBody>
          <a:bodyPr wrap="square" lIns="0" tIns="0" rIns="0" bIns="0" rtlCol="0" anchor="ctr"/>
          <a:lstStyle/>
          <a:p>
            <a:pPr algn="ctr" indent="0" marL="0">
              <a:buNone/>
            </a:pPr>
            <a:r>
              <a:rPr lang="en-US" sz="2400" b="1" dirty="0">
                <a:solidFill>
                  <a:srgbClr val="0D9488"/>
                </a:solidFill>
                <a:latin typeface="Calibri" pitchFamily="34" charset="0"/>
                <a:ea typeface="Calibri" pitchFamily="34" charset="-122"/>
                <a:cs typeface="Calibri" pitchFamily="34" charset="-120"/>
              </a:rPr>
              <a:t>➜</a:t>
            </a:r>
            <a:endParaRPr lang="en-US" sz="2400" dirty="0"/>
          </a:p>
        </p:txBody>
      </p:sp>
      <p:sp>
        <p:nvSpPr>
          <p:cNvPr id="10" name="Shape 8"/>
          <p:cNvSpPr/>
          <p:nvPr/>
        </p:nvSpPr>
        <p:spPr>
          <a:xfrm>
            <a:off x="3410712" y="2103120"/>
            <a:ext cx="2651760" cy="1828800"/>
          </a:xfrm>
          <a:prstGeom prst="roundRect">
            <a:avLst>
              <a:gd name="adj" fmla="val 4000"/>
            </a:avLst>
          </a:prstGeom>
          <a:solidFill>
            <a:srgbClr val="F0FDFA"/>
          </a:solidFill>
          <a:ln/>
          <a:effectLst>
            <a:outerShdw sx="100000" sy="100000" kx="0" ky="0" algn="bl" rotWithShape="0" blurRad="101600" dist="38100" dir="5400000">
              <a:srgbClr val="000000">
                <a:alpha val="12000"/>
              </a:srgbClr>
            </a:outerShdw>
          </a:effectLst>
        </p:spPr>
      </p:sp>
      <p:sp>
        <p:nvSpPr>
          <p:cNvPr id="11" name="Shape 9"/>
          <p:cNvSpPr/>
          <p:nvPr/>
        </p:nvSpPr>
        <p:spPr>
          <a:xfrm>
            <a:off x="3639312" y="2286000"/>
            <a:ext cx="502920" cy="502920"/>
          </a:xfrm>
          <a:prstGeom prst="ellipse">
            <a:avLst/>
          </a:prstGeom>
          <a:solidFill>
            <a:srgbClr val="14B8A6"/>
          </a:solidFill>
          <a:ln/>
        </p:spPr>
      </p:sp>
      <p:sp>
        <p:nvSpPr>
          <p:cNvPr id="12" name="Text 10"/>
          <p:cNvSpPr/>
          <p:nvPr/>
        </p:nvSpPr>
        <p:spPr>
          <a:xfrm>
            <a:off x="3639312" y="22860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3" name="Text 11"/>
          <p:cNvSpPr/>
          <p:nvPr/>
        </p:nvSpPr>
        <p:spPr>
          <a:xfrm>
            <a:off x="4279392" y="2286000"/>
            <a:ext cx="1645920" cy="502920"/>
          </a:xfrm>
          <a:prstGeom prst="rect">
            <a:avLst/>
          </a:prstGeom>
          <a:noFill/>
          <a:ln/>
        </p:spPr>
        <p:txBody>
          <a:bodyPr wrap="square" lIns="0" tIns="0" rIns="0" bIns="0" rtlCol="0" anchor="ctr"/>
          <a:lstStyle/>
          <a:p>
            <a:pPr indent="0" marL="0">
              <a:buNone/>
            </a:pPr>
            <a:r>
              <a:rPr lang="en-US" sz="1600" b="1" dirty="0">
                <a:solidFill>
                  <a:srgbClr val="1E293B"/>
                </a:solidFill>
                <a:latin typeface="Calibri" pitchFamily="34" charset="0"/>
                <a:ea typeface="Calibri" pitchFamily="34" charset="-122"/>
                <a:cs typeface="Calibri" pitchFamily="34" charset="-120"/>
              </a:rPr>
              <a:t>Ticket</a:t>
            </a:r>
            <a:endParaRPr lang="en-US" sz="1600" dirty="0"/>
          </a:p>
        </p:txBody>
      </p:sp>
      <p:sp>
        <p:nvSpPr>
          <p:cNvPr id="14" name="Text 12"/>
          <p:cNvSpPr/>
          <p:nvPr/>
        </p:nvSpPr>
        <p:spPr>
          <a:xfrm>
            <a:off x="3666744" y="2926080"/>
            <a:ext cx="2194560" cy="86868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SUNAT responde un número de ticket</a:t>
            </a:r>
            <a:endParaRPr lang="en-US" sz="1300" dirty="0"/>
          </a:p>
        </p:txBody>
      </p:sp>
      <p:sp>
        <p:nvSpPr>
          <p:cNvPr id="15" name="Text 13"/>
          <p:cNvSpPr/>
          <p:nvPr/>
        </p:nvSpPr>
        <p:spPr>
          <a:xfrm>
            <a:off x="5952744" y="2468880"/>
            <a:ext cx="457200" cy="914400"/>
          </a:xfrm>
          <a:prstGeom prst="rect">
            <a:avLst/>
          </a:prstGeom>
          <a:noFill/>
          <a:ln/>
        </p:spPr>
        <p:txBody>
          <a:bodyPr wrap="square" lIns="0" tIns="0" rIns="0" bIns="0" rtlCol="0" anchor="ctr"/>
          <a:lstStyle/>
          <a:p>
            <a:pPr algn="ctr" indent="0" marL="0">
              <a:buNone/>
            </a:pPr>
            <a:r>
              <a:rPr lang="en-US" sz="2400" b="1" dirty="0">
                <a:solidFill>
                  <a:srgbClr val="0D9488"/>
                </a:solidFill>
                <a:latin typeface="Calibri" pitchFamily="34" charset="0"/>
                <a:ea typeface="Calibri" pitchFamily="34" charset="-122"/>
                <a:cs typeface="Calibri" pitchFamily="34" charset="-120"/>
              </a:rPr>
              <a:t>➜</a:t>
            </a:r>
            <a:endParaRPr lang="en-US" sz="2400" dirty="0"/>
          </a:p>
        </p:txBody>
      </p:sp>
      <p:sp>
        <p:nvSpPr>
          <p:cNvPr id="16" name="Shape 14"/>
          <p:cNvSpPr/>
          <p:nvPr/>
        </p:nvSpPr>
        <p:spPr>
          <a:xfrm>
            <a:off x="6272784" y="2103120"/>
            <a:ext cx="2651760" cy="1828800"/>
          </a:xfrm>
          <a:prstGeom prst="roundRect">
            <a:avLst>
              <a:gd name="adj" fmla="val 4000"/>
            </a:avLst>
          </a:prstGeom>
          <a:solidFill>
            <a:srgbClr val="F0FDFA"/>
          </a:solidFill>
          <a:ln/>
          <a:effectLst>
            <a:outerShdw sx="100000" sy="100000" kx="0" ky="0" algn="bl" rotWithShape="0" blurRad="101600" dist="38100" dir="5400000">
              <a:srgbClr val="000000">
                <a:alpha val="12000"/>
              </a:srgbClr>
            </a:outerShdw>
          </a:effectLst>
        </p:spPr>
      </p:sp>
      <p:sp>
        <p:nvSpPr>
          <p:cNvPr id="17" name="Shape 15"/>
          <p:cNvSpPr/>
          <p:nvPr/>
        </p:nvSpPr>
        <p:spPr>
          <a:xfrm>
            <a:off x="6501384" y="2286000"/>
            <a:ext cx="502920" cy="502920"/>
          </a:xfrm>
          <a:prstGeom prst="ellipse">
            <a:avLst/>
          </a:prstGeom>
          <a:solidFill>
            <a:srgbClr val="14B8A6"/>
          </a:solidFill>
          <a:ln/>
        </p:spPr>
      </p:sp>
      <p:sp>
        <p:nvSpPr>
          <p:cNvPr id="18" name="Text 16"/>
          <p:cNvSpPr/>
          <p:nvPr/>
        </p:nvSpPr>
        <p:spPr>
          <a:xfrm>
            <a:off x="6501384" y="22860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9" name="Text 17"/>
          <p:cNvSpPr/>
          <p:nvPr/>
        </p:nvSpPr>
        <p:spPr>
          <a:xfrm>
            <a:off x="7141464" y="2286000"/>
            <a:ext cx="1645920" cy="502920"/>
          </a:xfrm>
          <a:prstGeom prst="rect">
            <a:avLst/>
          </a:prstGeom>
          <a:noFill/>
          <a:ln/>
        </p:spPr>
        <p:txBody>
          <a:bodyPr wrap="square" lIns="0" tIns="0" rIns="0" bIns="0" rtlCol="0" anchor="ctr"/>
          <a:lstStyle/>
          <a:p>
            <a:pPr indent="0" marL="0">
              <a:buNone/>
            </a:pPr>
            <a:r>
              <a:rPr lang="en-US" sz="1600" b="1" dirty="0">
                <a:solidFill>
                  <a:srgbClr val="1E293B"/>
                </a:solidFill>
                <a:latin typeface="Calibri" pitchFamily="34" charset="0"/>
                <a:ea typeface="Calibri" pitchFamily="34" charset="-122"/>
                <a:cs typeface="Calibri" pitchFamily="34" charset="-120"/>
              </a:rPr>
              <a:t>Consultamos</a:t>
            </a:r>
            <a:endParaRPr lang="en-US" sz="1600" dirty="0"/>
          </a:p>
        </p:txBody>
      </p:sp>
      <p:sp>
        <p:nvSpPr>
          <p:cNvPr id="20" name="Text 18"/>
          <p:cNvSpPr/>
          <p:nvPr/>
        </p:nvSpPr>
        <p:spPr>
          <a:xfrm>
            <a:off x="6528816" y="2926080"/>
            <a:ext cx="2194560" cy="86868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Preguntamos por ese ticket</a:t>
            </a:r>
            <a:endParaRPr lang="en-US" sz="1300" dirty="0"/>
          </a:p>
        </p:txBody>
      </p:sp>
      <p:sp>
        <p:nvSpPr>
          <p:cNvPr id="21" name="Text 19"/>
          <p:cNvSpPr/>
          <p:nvPr/>
        </p:nvSpPr>
        <p:spPr>
          <a:xfrm>
            <a:off x="8814816" y="2468880"/>
            <a:ext cx="457200" cy="914400"/>
          </a:xfrm>
          <a:prstGeom prst="rect">
            <a:avLst/>
          </a:prstGeom>
          <a:noFill/>
          <a:ln/>
        </p:spPr>
        <p:txBody>
          <a:bodyPr wrap="square" lIns="0" tIns="0" rIns="0" bIns="0" rtlCol="0" anchor="ctr"/>
          <a:lstStyle/>
          <a:p>
            <a:pPr algn="ctr" indent="0" marL="0">
              <a:buNone/>
            </a:pPr>
            <a:r>
              <a:rPr lang="en-US" sz="2400" b="1" dirty="0">
                <a:solidFill>
                  <a:srgbClr val="0D9488"/>
                </a:solidFill>
                <a:latin typeface="Calibri" pitchFamily="34" charset="0"/>
                <a:ea typeface="Calibri" pitchFamily="34" charset="-122"/>
                <a:cs typeface="Calibri" pitchFamily="34" charset="-120"/>
              </a:rPr>
              <a:t>➜</a:t>
            </a:r>
            <a:endParaRPr lang="en-US" sz="2400" dirty="0"/>
          </a:p>
        </p:txBody>
      </p:sp>
      <p:sp>
        <p:nvSpPr>
          <p:cNvPr id="22" name="Shape 20"/>
          <p:cNvSpPr/>
          <p:nvPr/>
        </p:nvSpPr>
        <p:spPr>
          <a:xfrm>
            <a:off x="9134856" y="2103120"/>
            <a:ext cx="2651760" cy="1828800"/>
          </a:xfrm>
          <a:prstGeom prst="roundRect">
            <a:avLst>
              <a:gd name="adj" fmla="val 4000"/>
            </a:avLst>
          </a:prstGeom>
          <a:solidFill>
            <a:srgbClr val="F0FDFA"/>
          </a:solidFill>
          <a:ln/>
          <a:effectLst>
            <a:outerShdw sx="100000" sy="100000" kx="0" ky="0" algn="bl" rotWithShape="0" blurRad="101600" dist="38100" dir="5400000">
              <a:srgbClr val="000000">
                <a:alpha val="12000"/>
              </a:srgbClr>
            </a:outerShdw>
          </a:effectLst>
        </p:spPr>
      </p:sp>
      <p:sp>
        <p:nvSpPr>
          <p:cNvPr id="23" name="Shape 21"/>
          <p:cNvSpPr/>
          <p:nvPr/>
        </p:nvSpPr>
        <p:spPr>
          <a:xfrm>
            <a:off x="9363456" y="2286000"/>
            <a:ext cx="502920" cy="502920"/>
          </a:xfrm>
          <a:prstGeom prst="ellipse">
            <a:avLst/>
          </a:prstGeom>
          <a:solidFill>
            <a:srgbClr val="14B8A6"/>
          </a:solidFill>
          <a:ln/>
        </p:spPr>
      </p:sp>
      <p:sp>
        <p:nvSpPr>
          <p:cNvPr id="24" name="Text 22"/>
          <p:cNvSpPr/>
          <p:nvPr/>
        </p:nvSpPr>
        <p:spPr>
          <a:xfrm>
            <a:off x="9363456" y="22860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5" name="Text 23"/>
          <p:cNvSpPr/>
          <p:nvPr/>
        </p:nvSpPr>
        <p:spPr>
          <a:xfrm>
            <a:off x="10003536" y="2286000"/>
            <a:ext cx="1645920" cy="502920"/>
          </a:xfrm>
          <a:prstGeom prst="rect">
            <a:avLst/>
          </a:prstGeom>
          <a:noFill/>
          <a:ln/>
        </p:spPr>
        <p:txBody>
          <a:bodyPr wrap="square" lIns="0" tIns="0" rIns="0" bIns="0" rtlCol="0" anchor="ctr"/>
          <a:lstStyle/>
          <a:p>
            <a:pPr indent="0" marL="0">
              <a:buNone/>
            </a:pPr>
            <a:r>
              <a:rPr lang="en-US" sz="1600" b="1" dirty="0">
                <a:solidFill>
                  <a:srgbClr val="1E293B"/>
                </a:solidFill>
                <a:latin typeface="Calibri" pitchFamily="34" charset="0"/>
                <a:ea typeface="Calibri" pitchFamily="34" charset="-122"/>
                <a:cs typeface="Calibri" pitchFamily="34" charset="-120"/>
              </a:rPr>
              <a:t>CDR</a:t>
            </a:r>
            <a:endParaRPr lang="en-US" sz="1600" dirty="0"/>
          </a:p>
        </p:txBody>
      </p:sp>
      <p:sp>
        <p:nvSpPr>
          <p:cNvPr id="26" name="Text 24"/>
          <p:cNvSpPr/>
          <p:nvPr/>
        </p:nvSpPr>
        <p:spPr>
          <a:xfrm>
            <a:off x="9390888" y="2926080"/>
            <a:ext cx="2194560" cy="86868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SUNAT entrega aceptado / rechazado</a:t>
            </a:r>
            <a:endParaRPr lang="en-US" sz="1300" dirty="0"/>
          </a:p>
        </p:txBody>
      </p:sp>
      <p:sp>
        <p:nvSpPr>
          <p:cNvPr id="27" name="Text 25"/>
          <p:cNvSpPr/>
          <p:nvPr/>
        </p:nvSpPr>
        <p:spPr>
          <a:xfrm>
            <a:off x="548640" y="4389120"/>
            <a:ext cx="11064240" cy="1097280"/>
          </a:xfrm>
          <a:prstGeom prst="rect">
            <a:avLst/>
          </a:prstGeom>
          <a:noFill/>
          <a:ln/>
        </p:spPr>
        <p:txBody>
          <a:bodyPr wrap="square" lIns="0" tIns="0" rIns="0" bIns="0" rtlCol="0" anchor="t"/>
          <a:lstStyle/>
          <a:p>
            <a:pPr indent="0" marL="0">
              <a:buNone/>
            </a:pPr>
            <a:r>
              <a:rPr lang="en-US" sz="1500" b="1" dirty="0">
                <a:solidFill>
                  <a:srgbClr val="1E293B"/>
                </a:solidFill>
                <a:latin typeface="Calibri" pitchFamily="34" charset="0"/>
                <a:ea typeface="Calibri" pitchFamily="34" charset="-122"/>
                <a:cs typeface="Calibri" pitchFamily="34" charset="-120"/>
              </a:rPr>
              <a:t>El procesamiento en SUNAT no es instantáneo.  </a:t>
            </a:r>
            <a:pPr indent="0" marL="0">
              <a:buNone/>
            </a:pPr>
            <a:r>
              <a:rPr lang="en-US" sz="1500" dirty="0">
                <a:solidFill>
                  <a:srgbClr val="1E293B"/>
                </a:solidFill>
                <a:latin typeface="Calibri" pitchFamily="34" charset="0"/>
                <a:ea typeface="Calibri" pitchFamily="34" charset="-122"/>
                <a:cs typeface="Calibri" pitchFamily="34" charset="-120"/>
              </a:rPr>
              <a:t>Por eso primero recibimos un ticket y luego, con Venta::consultarEstadoSunat(), preguntamos el resultado final y actualizamos la base.</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indent="0" marL="0">
              <a:buNone/>
            </a:pPr>
            <a:r>
              <a:rPr lang="en-US" sz="1300" b="1" spc="200" kern="0" dirty="0">
                <a:solidFill>
                  <a:srgbClr val="0D9488"/>
                </a:solidFill>
                <a:latin typeface="Calibri" pitchFamily="34" charset="0"/>
                <a:ea typeface="Calibri" pitchFamily="34" charset="-122"/>
                <a:cs typeface="Calibri" pitchFamily="34" charset="-120"/>
              </a:rPr>
              <a:t>RESILIENCIA</a:t>
            </a:r>
            <a:endParaRPr lang="en-US" sz="1300" dirty="0"/>
          </a:p>
        </p:txBody>
      </p:sp>
      <p:sp>
        <p:nvSpPr>
          <p:cNvPr id="3" name="Text 1"/>
          <p:cNvSpPr/>
          <p:nvPr/>
        </p:nvSpPr>
        <p:spPr>
          <a:xfrm>
            <a:off x="548640" y="658368"/>
            <a:ext cx="11064240" cy="777240"/>
          </a:xfrm>
          <a:prstGeom prst="rect">
            <a:avLst/>
          </a:prstGeom>
          <a:noFill/>
          <a:ln/>
        </p:spPr>
        <p:txBody>
          <a:bodyPr wrap="square" lIns="0" tIns="0" rIns="0" bIns="0" rtlCol="0" anchor="t"/>
          <a:lstStyle/>
          <a:p>
            <a:pPr indent="0" marL="0">
              <a:buNone/>
            </a:pPr>
            <a:r>
              <a:rPr lang="en-US" sz="3000" b="1" dirty="0">
                <a:solidFill>
                  <a:srgbClr val="1E293B"/>
                </a:solidFill>
                <a:latin typeface="Cambria" pitchFamily="34" charset="0"/>
                <a:ea typeface="Cambria" pitchFamily="34" charset="-122"/>
                <a:cs typeface="Cambria" pitchFamily="34" charset="-120"/>
              </a:rPr>
              <a:t>¿Por qué guardamos el estado 'pendiente'?</a:t>
            </a:r>
            <a:endParaRPr lang="en-US" sz="3000" dirty="0"/>
          </a:p>
        </p:txBody>
      </p:sp>
      <p:sp>
        <p:nvSpPr>
          <p:cNvPr id="4" name="Shape 2"/>
          <p:cNvSpPr/>
          <p:nvPr/>
        </p:nvSpPr>
        <p:spPr>
          <a:xfrm>
            <a:off x="548640" y="1737360"/>
            <a:ext cx="11064240" cy="1371600"/>
          </a:xfrm>
          <a:prstGeom prst="roundRect">
            <a:avLst>
              <a:gd name="adj" fmla="val 5333"/>
            </a:avLst>
          </a:prstGeom>
          <a:solidFill>
            <a:srgbClr val="F0FDFA"/>
          </a:solidFill>
          <a:ln/>
          <a:effectLst>
            <a:outerShdw sx="100000" sy="100000" kx="0" ky="0" algn="bl" rotWithShape="0" blurRad="101600" dist="38100" dir="5400000">
              <a:srgbClr val="000000">
                <a:alpha val="12000"/>
              </a:srgbClr>
            </a:outerShdw>
          </a:effectLst>
        </p:spPr>
      </p:sp>
      <p:sp>
        <p:nvSpPr>
          <p:cNvPr id="5" name="Text 3"/>
          <p:cNvSpPr/>
          <p:nvPr/>
        </p:nvSpPr>
        <p:spPr>
          <a:xfrm>
            <a:off x="822960" y="2011680"/>
            <a:ext cx="10515600" cy="822960"/>
          </a:xfrm>
          <a:prstGeom prst="rect">
            <a:avLst/>
          </a:prstGeom>
          <a:noFill/>
          <a:ln/>
        </p:spPr>
        <p:txBody>
          <a:bodyPr wrap="square" lIns="0" tIns="0" rIns="0" bIns="0" rtlCol="0" anchor="ctr"/>
          <a:lstStyle/>
          <a:p>
            <a:pPr indent="0" marL="0">
              <a:buNone/>
            </a:pPr>
            <a:r>
              <a:rPr lang="en-US" sz="1650" b="1" dirty="0">
                <a:solidFill>
                  <a:srgbClr val="0D9488"/>
                </a:solidFill>
                <a:latin typeface="Calibri" pitchFamily="34" charset="0"/>
                <a:ea typeface="Calibri" pitchFamily="34" charset="-122"/>
                <a:cs typeface="Calibri" pitchFamily="34" charset="-120"/>
              </a:rPr>
              <a:t>Regla:  </a:t>
            </a:r>
            <a:pPr indent="0" marL="0">
              <a:buNone/>
            </a:pPr>
            <a:r>
              <a:rPr lang="en-US" sz="1650" dirty="0">
                <a:solidFill>
                  <a:srgbClr val="1E293B"/>
                </a:solidFill>
                <a:latin typeface="Calibri" pitchFamily="34" charset="0"/>
                <a:ea typeface="Calibri" pitchFamily="34" charset="-122"/>
                <a:cs typeface="Calibri" pitchFamily="34" charset="-120"/>
              </a:rPr>
              <a:t>el comprobante se guarda SIEMPRE, aunque el envío a SUNAT falle. </a:t>
            </a:r>
            <a:pPr indent="0" marL="0">
              <a:buNone/>
            </a:pPr>
            <a:r>
              <a:rPr lang="en-US" sz="1650" b="1" dirty="0">
                <a:solidFill>
                  <a:srgbClr val="1E293B"/>
                </a:solidFill>
                <a:latin typeface="Calibri" pitchFamily="34" charset="0"/>
                <a:ea typeface="Calibri" pitchFamily="34" charset="-122"/>
                <a:cs typeface="Calibri" pitchFamily="34" charset="-120"/>
              </a:rPr>
              <a:t>Nunca perdemos un documento por un problema de red.</a:t>
            </a:r>
            <a:endParaRPr lang="en-US" sz="1650" dirty="0"/>
          </a:p>
        </p:txBody>
      </p:sp>
      <p:sp>
        <p:nvSpPr>
          <p:cNvPr id="6" name="Shape 4"/>
          <p:cNvSpPr/>
          <p:nvPr/>
        </p:nvSpPr>
        <p:spPr>
          <a:xfrm>
            <a:off x="548640" y="3383280"/>
            <a:ext cx="3657600" cy="2103120"/>
          </a:xfrm>
          <a:prstGeom prst="roundRect">
            <a:avLst>
              <a:gd name="adj" fmla="val 3478"/>
            </a:avLst>
          </a:prstGeom>
          <a:solidFill>
            <a:srgbClr val="FFFFFF"/>
          </a:solidFill>
          <a:ln/>
          <a:effectLst>
            <a:outerShdw sx="100000" sy="100000" kx="0" ky="0" algn="bl" rotWithShape="0" blurRad="101600" dist="38100" dir="5400000">
              <a:srgbClr val="000000">
                <a:alpha val="12000"/>
              </a:srgbClr>
            </a:outerShdw>
          </a:effectLst>
        </p:spPr>
      </p:sp>
      <p:sp>
        <p:nvSpPr>
          <p:cNvPr id="7" name="Shape 5"/>
          <p:cNvSpPr/>
          <p:nvPr/>
        </p:nvSpPr>
        <p:spPr>
          <a:xfrm>
            <a:off x="548640" y="3383280"/>
            <a:ext cx="3657600" cy="2103120"/>
          </a:xfrm>
          <a:prstGeom prst="roundRect">
            <a:avLst>
              <a:gd name="adj" fmla="val 3478"/>
            </a:avLst>
          </a:prstGeom>
          <a:solidFill>
            <a:srgbClr val="FFFFFF"/>
          </a:solidFill>
          <a:ln w="12700">
            <a:solidFill>
              <a:srgbClr val="CBD5E1"/>
            </a:solidFill>
            <a:prstDash val="solid"/>
          </a:ln>
        </p:spPr>
      </p:sp>
      <p:sp>
        <p:nvSpPr>
          <p:cNvPr id="8" name="Shape 6"/>
          <p:cNvSpPr/>
          <p:nvPr/>
        </p:nvSpPr>
        <p:spPr>
          <a:xfrm>
            <a:off x="822960" y="3611880"/>
            <a:ext cx="457200" cy="457200"/>
          </a:xfrm>
          <a:prstGeom prst="ellipse">
            <a:avLst/>
          </a:prstGeom>
          <a:solidFill>
            <a:srgbClr val="0D9488"/>
          </a:solidFill>
          <a:ln/>
        </p:spPr>
      </p:sp>
      <p:sp>
        <p:nvSpPr>
          <p:cNvPr id="9" name="Text 7"/>
          <p:cNvSpPr/>
          <p:nvPr/>
        </p:nvSpPr>
        <p:spPr>
          <a:xfrm>
            <a:off x="822960" y="361188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0" name="Text 8"/>
          <p:cNvSpPr/>
          <p:nvPr/>
        </p:nvSpPr>
        <p:spPr>
          <a:xfrm>
            <a:off x="1417320" y="3611880"/>
            <a:ext cx="2651760" cy="457200"/>
          </a:xfrm>
          <a:prstGeom prst="rect">
            <a:avLst/>
          </a:prstGeom>
          <a:noFill/>
          <a:ln/>
        </p:spPr>
        <p:txBody>
          <a:bodyPr wrap="square" lIns="0" tIns="0" rIns="0" bIns="0" rtlCol="0" anchor="ctr"/>
          <a:lstStyle/>
          <a:p>
            <a:pPr indent="0" marL="0">
              <a:buNone/>
            </a:pPr>
            <a:r>
              <a:rPr lang="en-US" sz="1700" b="1" dirty="0">
                <a:solidFill>
                  <a:srgbClr val="1E293B"/>
                </a:solidFill>
                <a:latin typeface="Calibri" pitchFamily="34" charset="0"/>
                <a:ea typeface="Calibri" pitchFamily="34" charset="-122"/>
                <a:cs typeface="Calibri" pitchFamily="34" charset="-120"/>
              </a:rPr>
              <a:t>Aceptado</a:t>
            </a:r>
            <a:endParaRPr lang="en-US" sz="1700" dirty="0"/>
          </a:p>
        </p:txBody>
      </p:sp>
      <p:sp>
        <p:nvSpPr>
          <p:cNvPr id="11" name="Text 9"/>
          <p:cNvSpPr/>
          <p:nvPr/>
        </p:nvSpPr>
        <p:spPr>
          <a:xfrm>
            <a:off x="822960" y="4251960"/>
            <a:ext cx="3108960" cy="1097280"/>
          </a:xfrm>
          <a:prstGeom prst="rect">
            <a:avLst/>
          </a:prstGeom>
          <a:noFill/>
          <a:ln/>
        </p:spPr>
        <p:txBody>
          <a:bodyPr wrap="square" lIns="0" tIns="0" rIns="0" bIns="0" rtlCol="0" anchor="t"/>
          <a:lstStyle/>
          <a:p>
            <a:pPr indent="0" marL="0">
              <a:buNone/>
            </a:pPr>
            <a:r>
              <a:rPr lang="en-US" sz="1350" dirty="0">
                <a:solidFill>
                  <a:srgbClr val="64748B"/>
                </a:solidFill>
                <a:latin typeface="Calibri" pitchFamily="34" charset="0"/>
                <a:ea typeface="Calibri" pitchFamily="34" charset="-122"/>
                <a:cs typeface="Calibri" pitchFamily="34" charset="-120"/>
              </a:rPr>
              <a:t>SUNAT validó el comprobante.</a:t>
            </a:r>
            <a:endParaRPr lang="en-US" sz="1350" dirty="0"/>
          </a:p>
        </p:txBody>
      </p:sp>
      <p:sp>
        <p:nvSpPr>
          <p:cNvPr id="12" name="Shape 10"/>
          <p:cNvSpPr/>
          <p:nvPr/>
        </p:nvSpPr>
        <p:spPr>
          <a:xfrm>
            <a:off x="4498848" y="3383280"/>
            <a:ext cx="3657600" cy="2103120"/>
          </a:xfrm>
          <a:prstGeom prst="roundRect">
            <a:avLst>
              <a:gd name="adj" fmla="val 3478"/>
            </a:avLst>
          </a:prstGeom>
          <a:solidFill>
            <a:srgbClr val="FFFFFF"/>
          </a:solidFill>
          <a:ln/>
          <a:effectLst>
            <a:outerShdw sx="100000" sy="100000" kx="0" ky="0" algn="bl" rotWithShape="0" blurRad="101600" dist="38100" dir="5400000">
              <a:srgbClr val="000000">
                <a:alpha val="12000"/>
              </a:srgbClr>
            </a:outerShdw>
          </a:effectLst>
        </p:spPr>
      </p:sp>
      <p:sp>
        <p:nvSpPr>
          <p:cNvPr id="13" name="Shape 11"/>
          <p:cNvSpPr/>
          <p:nvPr/>
        </p:nvSpPr>
        <p:spPr>
          <a:xfrm>
            <a:off x="4498848" y="3383280"/>
            <a:ext cx="3657600" cy="2103120"/>
          </a:xfrm>
          <a:prstGeom prst="roundRect">
            <a:avLst>
              <a:gd name="adj" fmla="val 3478"/>
            </a:avLst>
          </a:prstGeom>
          <a:solidFill>
            <a:srgbClr val="FFFFFF"/>
          </a:solidFill>
          <a:ln w="12700">
            <a:solidFill>
              <a:srgbClr val="CBD5E1"/>
            </a:solidFill>
            <a:prstDash val="solid"/>
          </a:ln>
        </p:spPr>
      </p:sp>
      <p:sp>
        <p:nvSpPr>
          <p:cNvPr id="14" name="Shape 12"/>
          <p:cNvSpPr/>
          <p:nvPr/>
        </p:nvSpPr>
        <p:spPr>
          <a:xfrm>
            <a:off x="4773168" y="3611880"/>
            <a:ext cx="457200" cy="457200"/>
          </a:xfrm>
          <a:prstGeom prst="ellipse">
            <a:avLst/>
          </a:prstGeom>
          <a:solidFill>
            <a:srgbClr val="D97706"/>
          </a:solidFill>
          <a:ln/>
        </p:spPr>
      </p:sp>
      <p:sp>
        <p:nvSpPr>
          <p:cNvPr id="15" name="Text 13"/>
          <p:cNvSpPr/>
          <p:nvPr/>
        </p:nvSpPr>
        <p:spPr>
          <a:xfrm>
            <a:off x="4773168" y="361188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6" name="Text 14"/>
          <p:cNvSpPr/>
          <p:nvPr/>
        </p:nvSpPr>
        <p:spPr>
          <a:xfrm>
            <a:off x="5367528" y="3611880"/>
            <a:ext cx="2651760" cy="457200"/>
          </a:xfrm>
          <a:prstGeom prst="rect">
            <a:avLst/>
          </a:prstGeom>
          <a:noFill/>
          <a:ln/>
        </p:spPr>
        <p:txBody>
          <a:bodyPr wrap="square" lIns="0" tIns="0" rIns="0" bIns="0" rtlCol="0" anchor="ctr"/>
          <a:lstStyle/>
          <a:p>
            <a:pPr indent="0" marL="0">
              <a:buNone/>
            </a:pPr>
            <a:r>
              <a:rPr lang="en-US" sz="1700" b="1" dirty="0">
                <a:solidFill>
                  <a:srgbClr val="1E293B"/>
                </a:solidFill>
                <a:latin typeface="Calibri" pitchFamily="34" charset="0"/>
                <a:ea typeface="Calibri" pitchFamily="34" charset="-122"/>
                <a:cs typeface="Calibri" pitchFamily="34" charset="-120"/>
              </a:rPr>
              <a:t>Pendiente</a:t>
            </a:r>
            <a:endParaRPr lang="en-US" sz="1700" dirty="0"/>
          </a:p>
        </p:txBody>
      </p:sp>
      <p:sp>
        <p:nvSpPr>
          <p:cNvPr id="17" name="Text 15"/>
          <p:cNvSpPr/>
          <p:nvPr/>
        </p:nvSpPr>
        <p:spPr>
          <a:xfrm>
            <a:off x="4773168" y="4251960"/>
            <a:ext cx="3108960" cy="1097280"/>
          </a:xfrm>
          <a:prstGeom prst="rect">
            <a:avLst/>
          </a:prstGeom>
          <a:noFill/>
          <a:ln/>
        </p:spPr>
        <p:txBody>
          <a:bodyPr wrap="square" lIns="0" tIns="0" rIns="0" bIns="0" rtlCol="0" anchor="t"/>
          <a:lstStyle/>
          <a:p>
            <a:pPr indent="0" marL="0">
              <a:buNone/>
            </a:pPr>
            <a:r>
              <a:rPr lang="en-US" sz="1350" dirty="0">
                <a:solidFill>
                  <a:srgbClr val="64748B"/>
                </a:solidFill>
                <a:latin typeface="Calibri" pitchFamily="34" charset="0"/>
                <a:ea typeface="Calibri" pitchFamily="34" charset="-122"/>
                <a:cs typeface="Calibri" pitchFamily="34" charset="-120"/>
              </a:rPr>
              <a:t>Guardado, pero el envío aún no se completó. Se reintenta con la consulta.</a:t>
            </a:r>
            <a:endParaRPr lang="en-US" sz="1350" dirty="0"/>
          </a:p>
        </p:txBody>
      </p:sp>
      <p:sp>
        <p:nvSpPr>
          <p:cNvPr id="18" name="Shape 16"/>
          <p:cNvSpPr/>
          <p:nvPr/>
        </p:nvSpPr>
        <p:spPr>
          <a:xfrm>
            <a:off x="8449056" y="3383280"/>
            <a:ext cx="3657600" cy="2103120"/>
          </a:xfrm>
          <a:prstGeom prst="roundRect">
            <a:avLst>
              <a:gd name="adj" fmla="val 3478"/>
            </a:avLst>
          </a:prstGeom>
          <a:solidFill>
            <a:srgbClr val="FFFFFF"/>
          </a:solidFill>
          <a:ln/>
          <a:effectLst>
            <a:outerShdw sx="100000" sy="100000" kx="0" ky="0" algn="bl" rotWithShape="0" blurRad="101600" dist="38100" dir="5400000">
              <a:srgbClr val="000000">
                <a:alpha val="12000"/>
              </a:srgbClr>
            </a:outerShdw>
          </a:effectLst>
        </p:spPr>
      </p:sp>
      <p:sp>
        <p:nvSpPr>
          <p:cNvPr id="19" name="Shape 17"/>
          <p:cNvSpPr/>
          <p:nvPr/>
        </p:nvSpPr>
        <p:spPr>
          <a:xfrm>
            <a:off x="8449056" y="3383280"/>
            <a:ext cx="3657600" cy="2103120"/>
          </a:xfrm>
          <a:prstGeom prst="roundRect">
            <a:avLst>
              <a:gd name="adj" fmla="val 3478"/>
            </a:avLst>
          </a:prstGeom>
          <a:solidFill>
            <a:srgbClr val="FFFFFF"/>
          </a:solidFill>
          <a:ln w="12700">
            <a:solidFill>
              <a:srgbClr val="CBD5E1"/>
            </a:solidFill>
            <a:prstDash val="solid"/>
          </a:ln>
        </p:spPr>
      </p:sp>
      <p:sp>
        <p:nvSpPr>
          <p:cNvPr id="20" name="Shape 18"/>
          <p:cNvSpPr/>
          <p:nvPr/>
        </p:nvSpPr>
        <p:spPr>
          <a:xfrm>
            <a:off x="8723376" y="3611880"/>
            <a:ext cx="457200" cy="457200"/>
          </a:xfrm>
          <a:prstGeom prst="ellipse">
            <a:avLst/>
          </a:prstGeom>
          <a:solidFill>
            <a:srgbClr val="64748B"/>
          </a:solidFill>
          <a:ln/>
        </p:spPr>
      </p:sp>
      <p:sp>
        <p:nvSpPr>
          <p:cNvPr id="21" name="Text 19"/>
          <p:cNvSpPr/>
          <p:nvPr/>
        </p:nvSpPr>
        <p:spPr>
          <a:xfrm>
            <a:off x="8723376" y="361188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2" name="Text 20"/>
          <p:cNvSpPr/>
          <p:nvPr/>
        </p:nvSpPr>
        <p:spPr>
          <a:xfrm>
            <a:off x="9317736" y="3611880"/>
            <a:ext cx="2651760" cy="457200"/>
          </a:xfrm>
          <a:prstGeom prst="rect">
            <a:avLst/>
          </a:prstGeom>
          <a:noFill/>
          <a:ln/>
        </p:spPr>
        <p:txBody>
          <a:bodyPr wrap="square" lIns="0" tIns="0" rIns="0" bIns="0" rtlCol="0" anchor="ctr"/>
          <a:lstStyle/>
          <a:p>
            <a:pPr indent="0" marL="0">
              <a:buNone/>
            </a:pPr>
            <a:r>
              <a:rPr lang="en-US" sz="1700" b="1" dirty="0">
                <a:solidFill>
                  <a:srgbClr val="1E293B"/>
                </a:solidFill>
                <a:latin typeface="Calibri" pitchFamily="34" charset="0"/>
                <a:ea typeface="Calibri" pitchFamily="34" charset="-122"/>
                <a:cs typeface="Calibri" pitchFamily="34" charset="-120"/>
              </a:rPr>
              <a:t>Baja</a:t>
            </a:r>
            <a:endParaRPr lang="en-US" sz="1700" dirty="0"/>
          </a:p>
        </p:txBody>
      </p:sp>
      <p:sp>
        <p:nvSpPr>
          <p:cNvPr id="23" name="Text 21"/>
          <p:cNvSpPr/>
          <p:nvPr/>
        </p:nvSpPr>
        <p:spPr>
          <a:xfrm>
            <a:off x="8723376" y="4251960"/>
            <a:ext cx="3108960" cy="1097280"/>
          </a:xfrm>
          <a:prstGeom prst="rect">
            <a:avLst/>
          </a:prstGeom>
          <a:noFill/>
          <a:ln/>
        </p:spPr>
        <p:txBody>
          <a:bodyPr wrap="square" lIns="0" tIns="0" rIns="0" bIns="0" rtlCol="0" anchor="t"/>
          <a:lstStyle/>
          <a:p>
            <a:pPr indent="0" marL="0">
              <a:buNone/>
            </a:pPr>
            <a:r>
              <a:rPr lang="en-US" sz="1350" dirty="0">
                <a:solidFill>
                  <a:srgbClr val="64748B"/>
                </a:solidFill>
                <a:latin typeface="Calibri" pitchFamily="34" charset="0"/>
                <a:ea typeface="Calibri" pitchFamily="34" charset="-122"/>
                <a:cs typeface="Calibri" pitchFamily="34" charset="-120"/>
              </a:rPr>
              <a:t>Anulado correctamente ante SUNAT.</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indent="0" marL="0">
              <a:buNone/>
            </a:pPr>
            <a:r>
              <a:rPr lang="en-US" sz="1300" b="1" spc="200" kern="0" dirty="0">
                <a:solidFill>
                  <a:srgbClr val="0D9488"/>
                </a:solidFill>
                <a:latin typeface="Calibri" pitchFamily="34" charset="0"/>
                <a:ea typeface="Calibri" pitchFamily="34" charset="-122"/>
                <a:cs typeface="Calibri" pitchFamily="34" charset="-120"/>
              </a:rPr>
              <a:t>CALIDAD DEL CÓDIGO</a:t>
            </a:r>
            <a:endParaRPr lang="en-US" sz="1300" dirty="0"/>
          </a:p>
        </p:txBody>
      </p:sp>
      <p:sp>
        <p:nvSpPr>
          <p:cNvPr id="3" name="Text 1"/>
          <p:cNvSpPr/>
          <p:nvPr/>
        </p:nvSpPr>
        <p:spPr>
          <a:xfrm>
            <a:off x="548640" y="658368"/>
            <a:ext cx="11064240" cy="777240"/>
          </a:xfrm>
          <a:prstGeom prst="rect">
            <a:avLst/>
          </a:prstGeom>
          <a:noFill/>
          <a:ln/>
        </p:spPr>
        <p:txBody>
          <a:bodyPr wrap="square" lIns="0" tIns="0" rIns="0" bIns="0" rtlCol="0" anchor="t"/>
          <a:lstStyle/>
          <a:p>
            <a:pPr indent="0" marL="0">
              <a:buNone/>
            </a:pPr>
            <a:r>
              <a:rPr lang="en-US" sz="3000" b="1" dirty="0">
                <a:solidFill>
                  <a:srgbClr val="1E293B"/>
                </a:solidFill>
                <a:latin typeface="Cambria" pitchFamily="34" charset="0"/>
                <a:ea typeface="Cambria" pitchFamily="34" charset="-122"/>
                <a:cs typeface="Cambria" pitchFamily="34" charset="-120"/>
              </a:rPr>
              <a:t>Buenas prácticas que aplicamos</a:t>
            </a:r>
            <a:endParaRPr lang="en-US" sz="3000" dirty="0"/>
          </a:p>
        </p:txBody>
      </p:sp>
      <p:sp>
        <p:nvSpPr>
          <p:cNvPr id="4" name="Shape 2"/>
          <p:cNvSpPr/>
          <p:nvPr/>
        </p:nvSpPr>
        <p:spPr>
          <a:xfrm>
            <a:off x="548640" y="1645920"/>
            <a:ext cx="3657600" cy="1920240"/>
          </a:xfrm>
          <a:prstGeom prst="roundRect">
            <a:avLst>
              <a:gd name="adj" fmla="val 3810"/>
            </a:avLst>
          </a:prstGeom>
          <a:solidFill>
            <a:srgbClr val="F0FDFA"/>
          </a:solidFill>
          <a:ln/>
          <a:effectLst>
            <a:outerShdw sx="100000" sy="100000" kx="0" ky="0" algn="bl" rotWithShape="0" blurRad="101600" dist="38100" dir="5400000">
              <a:srgbClr val="000000">
                <a:alpha val="12000"/>
              </a:srgbClr>
            </a:outerShdw>
          </a:effectLst>
        </p:spPr>
      </p:sp>
      <p:sp>
        <p:nvSpPr>
          <p:cNvPr id="5" name="Shape 3"/>
          <p:cNvSpPr/>
          <p:nvPr/>
        </p:nvSpPr>
        <p:spPr>
          <a:xfrm>
            <a:off x="804672" y="1901952"/>
            <a:ext cx="502920" cy="502920"/>
          </a:xfrm>
          <a:prstGeom prst="ellipse">
            <a:avLst/>
          </a:prstGeom>
          <a:solidFill>
            <a:srgbClr val="0D9488"/>
          </a:solidFill>
          <a:ln/>
        </p:spPr>
      </p:sp>
      <p:sp>
        <p:nvSpPr>
          <p:cNvPr id="6" name="Text 4"/>
          <p:cNvSpPr/>
          <p:nvPr/>
        </p:nvSpPr>
        <p:spPr>
          <a:xfrm>
            <a:off x="804672" y="1901952"/>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7" name="Text 5"/>
          <p:cNvSpPr/>
          <p:nvPr/>
        </p:nvSpPr>
        <p:spPr>
          <a:xfrm>
            <a:off x="1417320" y="1901952"/>
            <a:ext cx="2651760" cy="502920"/>
          </a:xfrm>
          <a:prstGeom prst="rect">
            <a:avLst/>
          </a:prstGeom>
          <a:noFill/>
          <a:ln/>
        </p:spPr>
        <p:txBody>
          <a:bodyPr wrap="square" lIns="0" tIns="0" rIns="0" bIns="0" rtlCol="0" anchor="ctr"/>
          <a:lstStyle/>
          <a:p>
            <a:pPr indent="0" marL="0">
              <a:buNone/>
            </a:pPr>
            <a:r>
              <a:rPr lang="en-US" sz="1550" b="1" dirty="0">
                <a:solidFill>
                  <a:srgbClr val="1E293B"/>
                </a:solidFill>
                <a:latin typeface="Calibri" pitchFamily="34" charset="0"/>
                <a:ea typeface="Calibri" pitchFamily="34" charset="-122"/>
                <a:cs typeface="Calibri" pitchFamily="34" charset="-120"/>
              </a:rPr>
              <a:t>Consultas preparadas</a:t>
            </a:r>
            <a:endParaRPr lang="en-US" sz="1550" dirty="0"/>
          </a:p>
        </p:txBody>
      </p:sp>
      <p:sp>
        <p:nvSpPr>
          <p:cNvPr id="8" name="Text 6"/>
          <p:cNvSpPr/>
          <p:nvPr/>
        </p:nvSpPr>
        <p:spPr>
          <a:xfrm>
            <a:off x="822960" y="2514600"/>
            <a:ext cx="3200400" cy="914400"/>
          </a:xfrm>
          <a:prstGeom prst="rect">
            <a:avLst/>
          </a:prstGeom>
          <a:noFill/>
          <a:ln/>
        </p:spPr>
        <p:txBody>
          <a:bodyPr wrap="square" lIns="0" tIns="0" rIns="0" bIns="0" rtlCol="0" anchor="t"/>
          <a:lstStyle/>
          <a:p>
            <a:pPr indent="0" marL="0">
              <a:buNone/>
            </a:pPr>
            <a:r>
              <a:rPr lang="en-US" sz="1250" dirty="0">
                <a:solidFill>
                  <a:srgbClr val="64748B"/>
                </a:solidFill>
                <a:latin typeface="Calibri" pitchFamily="34" charset="0"/>
                <a:ea typeface="Calibri" pitchFamily="34" charset="-122"/>
                <a:cs typeface="Calibri" pitchFamily="34" charset="-120"/>
              </a:rPr>
              <a:t>bind_param evita inyección SQL en todas las escrituras.</a:t>
            </a:r>
            <a:endParaRPr lang="en-US" sz="1250" dirty="0"/>
          </a:p>
        </p:txBody>
      </p:sp>
      <p:sp>
        <p:nvSpPr>
          <p:cNvPr id="9" name="Shape 7"/>
          <p:cNvSpPr/>
          <p:nvPr/>
        </p:nvSpPr>
        <p:spPr>
          <a:xfrm>
            <a:off x="4233672" y="1645920"/>
            <a:ext cx="3657600" cy="1920240"/>
          </a:xfrm>
          <a:prstGeom prst="roundRect">
            <a:avLst>
              <a:gd name="adj" fmla="val 3810"/>
            </a:avLst>
          </a:prstGeom>
          <a:solidFill>
            <a:srgbClr val="ECFEFF"/>
          </a:solidFill>
          <a:ln/>
          <a:effectLst>
            <a:outerShdw sx="100000" sy="100000" kx="0" ky="0" algn="bl" rotWithShape="0" blurRad="101600" dist="38100" dir="5400000">
              <a:srgbClr val="000000">
                <a:alpha val="12000"/>
              </a:srgbClr>
            </a:outerShdw>
          </a:effectLst>
        </p:spPr>
      </p:sp>
      <p:sp>
        <p:nvSpPr>
          <p:cNvPr id="10" name="Shape 8"/>
          <p:cNvSpPr/>
          <p:nvPr/>
        </p:nvSpPr>
        <p:spPr>
          <a:xfrm>
            <a:off x="4489704" y="1901952"/>
            <a:ext cx="502920" cy="502920"/>
          </a:xfrm>
          <a:prstGeom prst="ellipse">
            <a:avLst/>
          </a:prstGeom>
          <a:solidFill>
            <a:srgbClr val="0D9488"/>
          </a:solidFill>
          <a:ln/>
        </p:spPr>
      </p:sp>
      <p:sp>
        <p:nvSpPr>
          <p:cNvPr id="11" name="Text 9"/>
          <p:cNvSpPr/>
          <p:nvPr/>
        </p:nvSpPr>
        <p:spPr>
          <a:xfrm>
            <a:off x="4489704" y="1901952"/>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2" name="Text 10"/>
          <p:cNvSpPr/>
          <p:nvPr/>
        </p:nvSpPr>
        <p:spPr>
          <a:xfrm>
            <a:off x="5102352" y="1901952"/>
            <a:ext cx="2651760" cy="502920"/>
          </a:xfrm>
          <a:prstGeom prst="rect">
            <a:avLst/>
          </a:prstGeom>
          <a:noFill/>
          <a:ln/>
        </p:spPr>
        <p:txBody>
          <a:bodyPr wrap="square" lIns="0" tIns="0" rIns="0" bIns="0" rtlCol="0" anchor="ctr"/>
          <a:lstStyle/>
          <a:p>
            <a:pPr indent="0" marL="0">
              <a:buNone/>
            </a:pPr>
            <a:r>
              <a:rPr lang="en-US" sz="1550" b="1" dirty="0">
                <a:solidFill>
                  <a:srgbClr val="1E293B"/>
                </a:solidFill>
                <a:latin typeface="Calibri" pitchFamily="34" charset="0"/>
                <a:ea typeface="Calibri" pitchFamily="34" charset="-122"/>
                <a:cs typeface="Calibri" pitchFamily="34" charset="-120"/>
              </a:rPr>
              <a:t>Una clase, una tarea</a:t>
            </a:r>
            <a:endParaRPr lang="en-US" sz="1550" dirty="0"/>
          </a:p>
        </p:txBody>
      </p:sp>
      <p:sp>
        <p:nvSpPr>
          <p:cNvPr id="13" name="Text 11"/>
          <p:cNvSpPr/>
          <p:nvPr/>
        </p:nvSpPr>
        <p:spPr>
          <a:xfrm>
            <a:off x="4507992" y="2514600"/>
            <a:ext cx="3200400" cy="914400"/>
          </a:xfrm>
          <a:prstGeom prst="rect">
            <a:avLst/>
          </a:prstGeom>
          <a:noFill/>
          <a:ln/>
        </p:spPr>
        <p:txBody>
          <a:bodyPr wrap="square" lIns="0" tIns="0" rIns="0" bIns="0" rtlCol="0" anchor="t"/>
          <a:lstStyle/>
          <a:p>
            <a:pPr indent="0" marL="0">
              <a:buNone/>
            </a:pPr>
            <a:r>
              <a:rPr lang="en-US" sz="1250" dirty="0">
                <a:solidFill>
                  <a:srgbClr val="64748B"/>
                </a:solidFill>
                <a:latin typeface="Calibri" pitchFamily="34" charset="0"/>
                <a:ea typeface="Calibri" pitchFamily="34" charset="-122"/>
                <a:cs typeface="Calibri" pitchFamily="34" charset="-120"/>
              </a:rPr>
              <a:t>Venta, NotaComprobante, ResumenDiario, Facturalaya: responsabilidades claras.</a:t>
            </a:r>
            <a:endParaRPr lang="en-US" sz="1250" dirty="0"/>
          </a:p>
        </p:txBody>
      </p:sp>
      <p:sp>
        <p:nvSpPr>
          <p:cNvPr id="14" name="Shape 12"/>
          <p:cNvSpPr/>
          <p:nvPr/>
        </p:nvSpPr>
        <p:spPr>
          <a:xfrm>
            <a:off x="7918704" y="1645920"/>
            <a:ext cx="3657600" cy="1920240"/>
          </a:xfrm>
          <a:prstGeom prst="roundRect">
            <a:avLst>
              <a:gd name="adj" fmla="val 3810"/>
            </a:avLst>
          </a:prstGeom>
          <a:solidFill>
            <a:srgbClr val="F0FDFA"/>
          </a:solidFill>
          <a:ln/>
          <a:effectLst>
            <a:outerShdw sx="100000" sy="100000" kx="0" ky="0" algn="bl" rotWithShape="0" blurRad="101600" dist="38100" dir="5400000">
              <a:srgbClr val="000000">
                <a:alpha val="12000"/>
              </a:srgbClr>
            </a:outerShdw>
          </a:effectLst>
        </p:spPr>
      </p:sp>
      <p:sp>
        <p:nvSpPr>
          <p:cNvPr id="15" name="Shape 13"/>
          <p:cNvSpPr/>
          <p:nvPr/>
        </p:nvSpPr>
        <p:spPr>
          <a:xfrm>
            <a:off x="8174736" y="1901952"/>
            <a:ext cx="502920" cy="502920"/>
          </a:xfrm>
          <a:prstGeom prst="ellipse">
            <a:avLst/>
          </a:prstGeom>
          <a:solidFill>
            <a:srgbClr val="0D9488"/>
          </a:solidFill>
          <a:ln/>
        </p:spPr>
      </p:sp>
      <p:sp>
        <p:nvSpPr>
          <p:cNvPr id="16" name="Text 14"/>
          <p:cNvSpPr/>
          <p:nvPr/>
        </p:nvSpPr>
        <p:spPr>
          <a:xfrm>
            <a:off x="8174736" y="1901952"/>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7" name="Text 15"/>
          <p:cNvSpPr/>
          <p:nvPr/>
        </p:nvSpPr>
        <p:spPr>
          <a:xfrm>
            <a:off x="8787384" y="1901952"/>
            <a:ext cx="2651760" cy="502920"/>
          </a:xfrm>
          <a:prstGeom prst="rect">
            <a:avLst/>
          </a:prstGeom>
          <a:noFill/>
          <a:ln/>
        </p:spPr>
        <p:txBody>
          <a:bodyPr wrap="square" lIns="0" tIns="0" rIns="0" bIns="0" rtlCol="0" anchor="ctr"/>
          <a:lstStyle/>
          <a:p>
            <a:pPr indent="0" marL="0">
              <a:buNone/>
            </a:pPr>
            <a:r>
              <a:rPr lang="en-US" sz="1550" b="1" dirty="0">
                <a:solidFill>
                  <a:srgbClr val="1E293B"/>
                </a:solidFill>
                <a:latin typeface="Calibri" pitchFamily="34" charset="0"/>
                <a:ea typeface="Calibri" pitchFamily="34" charset="-122"/>
                <a:cs typeface="Calibri" pitchFamily="34" charset="-120"/>
              </a:rPr>
              <a:t>No repetir (DRY)</a:t>
            </a:r>
            <a:endParaRPr lang="en-US" sz="1550" dirty="0"/>
          </a:p>
        </p:txBody>
      </p:sp>
      <p:sp>
        <p:nvSpPr>
          <p:cNvPr id="18" name="Text 16"/>
          <p:cNvSpPr/>
          <p:nvPr/>
        </p:nvSpPr>
        <p:spPr>
          <a:xfrm>
            <a:off x="8193024" y="2514600"/>
            <a:ext cx="3200400" cy="914400"/>
          </a:xfrm>
          <a:prstGeom prst="rect">
            <a:avLst/>
          </a:prstGeom>
          <a:noFill/>
          <a:ln/>
        </p:spPr>
        <p:txBody>
          <a:bodyPr wrap="square" lIns="0" tIns="0" rIns="0" bIns="0" rtlCol="0" anchor="t"/>
          <a:lstStyle/>
          <a:p>
            <a:pPr indent="0" marL="0">
              <a:buNone/>
            </a:pPr>
            <a:r>
              <a:rPr lang="en-US" sz="1250" dirty="0">
                <a:solidFill>
                  <a:srgbClr val="64748B"/>
                </a:solidFill>
                <a:latin typeface="Calibri" pitchFamily="34" charset="0"/>
                <a:ea typeface="Calibri" pitchFamily="34" charset="-122"/>
                <a:cs typeface="Calibri" pitchFamily="34" charset="-120"/>
              </a:rPr>
              <a:t>Un solo post() y un solo buildPayload() para todos los envíos.</a:t>
            </a:r>
            <a:endParaRPr lang="en-US" sz="1250" dirty="0"/>
          </a:p>
        </p:txBody>
      </p:sp>
      <p:sp>
        <p:nvSpPr>
          <p:cNvPr id="19" name="Shape 17"/>
          <p:cNvSpPr/>
          <p:nvPr/>
        </p:nvSpPr>
        <p:spPr>
          <a:xfrm>
            <a:off x="548640" y="3794760"/>
            <a:ext cx="3657600" cy="1920240"/>
          </a:xfrm>
          <a:prstGeom prst="roundRect">
            <a:avLst>
              <a:gd name="adj" fmla="val 3810"/>
            </a:avLst>
          </a:prstGeom>
          <a:solidFill>
            <a:srgbClr val="ECFEFF"/>
          </a:solidFill>
          <a:ln/>
          <a:effectLst>
            <a:outerShdw sx="100000" sy="100000" kx="0" ky="0" algn="bl" rotWithShape="0" blurRad="101600" dist="38100" dir="5400000">
              <a:srgbClr val="000000">
                <a:alpha val="12000"/>
              </a:srgbClr>
            </a:outerShdw>
          </a:effectLst>
        </p:spPr>
      </p:sp>
      <p:sp>
        <p:nvSpPr>
          <p:cNvPr id="20" name="Shape 18"/>
          <p:cNvSpPr/>
          <p:nvPr/>
        </p:nvSpPr>
        <p:spPr>
          <a:xfrm>
            <a:off x="804672" y="4050792"/>
            <a:ext cx="502920" cy="502920"/>
          </a:xfrm>
          <a:prstGeom prst="ellipse">
            <a:avLst/>
          </a:prstGeom>
          <a:solidFill>
            <a:srgbClr val="0D9488"/>
          </a:solidFill>
          <a:ln/>
        </p:spPr>
      </p:sp>
      <p:sp>
        <p:nvSpPr>
          <p:cNvPr id="21" name="Text 19"/>
          <p:cNvSpPr/>
          <p:nvPr/>
        </p:nvSpPr>
        <p:spPr>
          <a:xfrm>
            <a:off x="804672" y="4050792"/>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2" name="Text 20"/>
          <p:cNvSpPr/>
          <p:nvPr/>
        </p:nvSpPr>
        <p:spPr>
          <a:xfrm>
            <a:off x="1417320" y="4050792"/>
            <a:ext cx="2651760" cy="502920"/>
          </a:xfrm>
          <a:prstGeom prst="rect">
            <a:avLst/>
          </a:prstGeom>
          <a:noFill/>
          <a:ln/>
        </p:spPr>
        <p:txBody>
          <a:bodyPr wrap="square" lIns="0" tIns="0" rIns="0" bIns="0" rtlCol="0" anchor="ctr"/>
          <a:lstStyle/>
          <a:p>
            <a:pPr indent="0" marL="0">
              <a:buNone/>
            </a:pPr>
            <a:r>
              <a:rPr lang="en-US" sz="1550" b="1" dirty="0">
                <a:solidFill>
                  <a:srgbClr val="1E293B"/>
                </a:solidFill>
                <a:latin typeface="Calibri" pitchFamily="34" charset="0"/>
                <a:ea typeface="Calibri" pitchFamily="34" charset="-122"/>
                <a:cs typeface="Calibri" pitchFamily="34" charset="-120"/>
              </a:rPr>
              <a:t>Esquema idempotente</a:t>
            </a:r>
            <a:endParaRPr lang="en-US" sz="1550" dirty="0"/>
          </a:p>
        </p:txBody>
      </p:sp>
      <p:sp>
        <p:nvSpPr>
          <p:cNvPr id="23" name="Text 21"/>
          <p:cNvSpPr/>
          <p:nvPr/>
        </p:nvSpPr>
        <p:spPr>
          <a:xfrm>
            <a:off x="822960" y="4663440"/>
            <a:ext cx="3200400" cy="914400"/>
          </a:xfrm>
          <a:prstGeom prst="rect">
            <a:avLst/>
          </a:prstGeom>
          <a:noFill/>
          <a:ln/>
        </p:spPr>
        <p:txBody>
          <a:bodyPr wrap="square" lIns="0" tIns="0" rIns="0" bIns="0" rtlCol="0" anchor="t"/>
          <a:lstStyle/>
          <a:p>
            <a:pPr indent="0" marL="0">
              <a:buNone/>
            </a:pPr>
            <a:r>
              <a:rPr lang="en-US" sz="1250" dirty="0">
                <a:solidFill>
                  <a:srgbClr val="64748B"/>
                </a:solidFill>
                <a:latin typeface="Calibri" pitchFamily="34" charset="0"/>
                <a:ea typeface="Calibri" pitchFamily="34" charset="-122"/>
                <a:cs typeface="Calibri" pitchFamily="34" charset="-120"/>
              </a:rPr>
              <a:t>ALTER TABLE solo si la columna no existe: seguro de re-ejecutar.</a:t>
            </a:r>
            <a:endParaRPr lang="en-US" sz="1250" dirty="0"/>
          </a:p>
        </p:txBody>
      </p:sp>
      <p:sp>
        <p:nvSpPr>
          <p:cNvPr id="24" name="Shape 22"/>
          <p:cNvSpPr/>
          <p:nvPr/>
        </p:nvSpPr>
        <p:spPr>
          <a:xfrm>
            <a:off x="4233672" y="3794760"/>
            <a:ext cx="3657600" cy="1920240"/>
          </a:xfrm>
          <a:prstGeom prst="roundRect">
            <a:avLst>
              <a:gd name="adj" fmla="val 3810"/>
            </a:avLst>
          </a:prstGeom>
          <a:solidFill>
            <a:srgbClr val="F0FDFA"/>
          </a:solidFill>
          <a:ln/>
          <a:effectLst>
            <a:outerShdw sx="100000" sy="100000" kx="0" ky="0" algn="bl" rotWithShape="0" blurRad="101600" dist="38100" dir="5400000">
              <a:srgbClr val="000000">
                <a:alpha val="12000"/>
              </a:srgbClr>
            </a:outerShdw>
          </a:effectLst>
        </p:spPr>
      </p:sp>
      <p:sp>
        <p:nvSpPr>
          <p:cNvPr id="25" name="Shape 23"/>
          <p:cNvSpPr/>
          <p:nvPr/>
        </p:nvSpPr>
        <p:spPr>
          <a:xfrm>
            <a:off x="4489704" y="4050792"/>
            <a:ext cx="502920" cy="502920"/>
          </a:xfrm>
          <a:prstGeom prst="ellipse">
            <a:avLst/>
          </a:prstGeom>
          <a:solidFill>
            <a:srgbClr val="0D9488"/>
          </a:solidFill>
          <a:ln/>
        </p:spPr>
      </p:sp>
      <p:sp>
        <p:nvSpPr>
          <p:cNvPr id="26" name="Text 24"/>
          <p:cNvSpPr/>
          <p:nvPr/>
        </p:nvSpPr>
        <p:spPr>
          <a:xfrm>
            <a:off x="4489704" y="4050792"/>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7" name="Text 25"/>
          <p:cNvSpPr/>
          <p:nvPr/>
        </p:nvSpPr>
        <p:spPr>
          <a:xfrm>
            <a:off x="5102352" y="4050792"/>
            <a:ext cx="2651760" cy="502920"/>
          </a:xfrm>
          <a:prstGeom prst="rect">
            <a:avLst/>
          </a:prstGeom>
          <a:noFill/>
          <a:ln/>
        </p:spPr>
        <p:txBody>
          <a:bodyPr wrap="square" lIns="0" tIns="0" rIns="0" bIns="0" rtlCol="0" anchor="ctr"/>
          <a:lstStyle/>
          <a:p>
            <a:pPr indent="0" marL="0">
              <a:buNone/>
            </a:pPr>
            <a:r>
              <a:rPr lang="en-US" sz="1550" b="1" dirty="0">
                <a:solidFill>
                  <a:srgbClr val="1E293B"/>
                </a:solidFill>
                <a:latin typeface="Calibri" pitchFamily="34" charset="0"/>
                <a:ea typeface="Calibri" pitchFamily="34" charset="-122"/>
                <a:cs typeface="Calibri" pitchFamily="34" charset="-120"/>
              </a:rPr>
              <a:t>UI separada de la lógica</a:t>
            </a:r>
            <a:endParaRPr lang="en-US" sz="1550" dirty="0"/>
          </a:p>
        </p:txBody>
      </p:sp>
      <p:sp>
        <p:nvSpPr>
          <p:cNvPr id="28" name="Text 26"/>
          <p:cNvSpPr/>
          <p:nvPr/>
        </p:nvSpPr>
        <p:spPr>
          <a:xfrm>
            <a:off x="4507992" y="4663440"/>
            <a:ext cx="3200400" cy="914400"/>
          </a:xfrm>
          <a:prstGeom prst="rect">
            <a:avLst/>
          </a:prstGeom>
          <a:noFill/>
          <a:ln/>
        </p:spPr>
        <p:txBody>
          <a:bodyPr wrap="square" lIns="0" tIns="0" rIns="0" bIns="0" rtlCol="0" anchor="t"/>
          <a:lstStyle/>
          <a:p>
            <a:pPr indent="0" marL="0">
              <a:buNone/>
            </a:pPr>
            <a:r>
              <a:rPr lang="en-US" sz="1250" dirty="0">
                <a:solidFill>
                  <a:srgbClr val="64748B"/>
                </a:solidFill>
                <a:latin typeface="Calibri" pitchFamily="34" charset="0"/>
                <a:ea typeface="Calibri" pitchFamily="34" charset="-122"/>
                <a:cs typeface="Calibri" pitchFamily="34" charset="-120"/>
              </a:rPr>
              <a:t>Las páginas llaman por AJAX a las clases; nada de SQL en la vista.</a:t>
            </a:r>
            <a:endParaRPr lang="en-US" sz="1250" dirty="0"/>
          </a:p>
        </p:txBody>
      </p:sp>
      <p:sp>
        <p:nvSpPr>
          <p:cNvPr id="29" name="Shape 27"/>
          <p:cNvSpPr/>
          <p:nvPr/>
        </p:nvSpPr>
        <p:spPr>
          <a:xfrm>
            <a:off x="7918704" y="3794760"/>
            <a:ext cx="3657600" cy="1920240"/>
          </a:xfrm>
          <a:prstGeom prst="roundRect">
            <a:avLst>
              <a:gd name="adj" fmla="val 3810"/>
            </a:avLst>
          </a:prstGeom>
          <a:solidFill>
            <a:srgbClr val="ECFEFF"/>
          </a:solidFill>
          <a:ln/>
          <a:effectLst>
            <a:outerShdw sx="100000" sy="100000" kx="0" ky="0" algn="bl" rotWithShape="0" blurRad="101600" dist="38100" dir="5400000">
              <a:srgbClr val="000000">
                <a:alpha val="12000"/>
              </a:srgbClr>
            </a:outerShdw>
          </a:effectLst>
        </p:spPr>
      </p:sp>
      <p:sp>
        <p:nvSpPr>
          <p:cNvPr id="30" name="Shape 28"/>
          <p:cNvSpPr/>
          <p:nvPr/>
        </p:nvSpPr>
        <p:spPr>
          <a:xfrm>
            <a:off x="8174736" y="4050792"/>
            <a:ext cx="502920" cy="502920"/>
          </a:xfrm>
          <a:prstGeom prst="ellipse">
            <a:avLst/>
          </a:prstGeom>
          <a:solidFill>
            <a:srgbClr val="0D9488"/>
          </a:solidFill>
          <a:ln/>
        </p:spPr>
      </p:sp>
      <p:sp>
        <p:nvSpPr>
          <p:cNvPr id="31" name="Text 29"/>
          <p:cNvSpPr/>
          <p:nvPr/>
        </p:nvSpPr>
        <p:spPr>
          <a:xfrm>
            <a:off x="8174736" y="4050792"/>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32" name="Text 30"/>
          <p:cNvSpPr/>
          <p:nvPr/>
        </p:nvSpPr>
        <p:spPr>
          <a:xfrm>
            <a:off x="8787384" y="4050792"/>
            <a:ext cx="2651760" cy="502920"/>
          </a:xfrm>
          <a:prstGeom prst="rect">
            <a:avLst/>
          </a:prstGeom>
          <a:noFill/>
          <a:ln/>
        </p:spPr>
        <p:txBody>
          <a:bodyPr wrap="square" lIns="0" tIns="0" rIns="0" bIns="0" rtlCol="0" anchor="ctr"/>
          <a:lstStyle/>
          <a:p>
            <a:pPr indent="0" marL="0">
              <a:buNone/>
            </a:pPr>
            <a:r>
              <a:rPr lang="en-US" sz="1550" b="1" dirty="0">
                <a:solidFill>
                  <a:srgbClr val="1E293B"/>
                </a:solidFill>
                <a:latin typeface="Calibri" pitchFamily="34" charset="0"/>
                <a:ea typeface="Calibri" pitchFamily="34" charset="-122"/>
                <a:cs typeface="Calibri" pitchFamily="34" charset="-120"/>
              </a:rPr>
              <a:t>Fallar con elegancia</a:t>
            </a:r>
            <a:endParaRPr lang="en-US" sz="1550" dirty="0"/>
          </a:p>
        </p:txBody>
      </p:sp>
      <p:sp>
        <p:nvSpPr>
          <p:cNvPr id="33" name="Text 31"/>
          <p:cNvSpPr/>
          <p:nvPr/>
        </p:nvSpPr>
        <p:spPr>
          <a:xfrm>
            <a:off x="8193024" y="4663440"/>
            <a:ext cx="3200400" cy="914400"/>
          </a:xfrm>
          <a:prstGeom prst="rect">
            <a:avLst/>
          </a:prstGeom>
          <a:noFill/>
          <a:ln/>
        </p:spPr>
        <p:txBody>
          <a:bodyPr wrap="square" lIns="0" tIns="0" rIns="0" bIns="0" rtlCol="0" anchor="t"/>
          <a:lstStyle/>
          <a:p>
            <a:pPr indent="0" marL="0">
              <a:buNone/>
            </a:pPr>
            <a:r>
              <a:rPr lang="en-US" sz="1250" dirty="0">
                <a:solidFill>
                  <a:srgbClr val="64748B"/>
                </a:solidFill>
                <a:latin typeface="Calibri" pitchFamily="34" charset="0"/>
                <a:ea typeface="Calibri" pitchFamily="34" charset="-122"/>
                <a:cs typeface="Calibri" pitchFamily="34" charset="-120"/>
              </a:rPr>
              <a:t>Errores controlados y mensajes claros al usuario (toastr).</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indent="0" marL="0">
              <a:buNone/>
            </a:pPr>
            <a:r>
              <a:rPr lang="en-US" sz="1300" b="1" spc="200" kern="0" dirty="0">
                <a:solidFill>
                  <a:srgbClr val="0D9488"/>
                </a:solidFill>
                <a:latin typeface="Calibri" pitchFamily="34" charset="0"/>
                <a:ea typeface="Calibri" pitchFamily="34" charset="-122"/>
                <a:cs typeface="Calibri" pitchFamily="34" charset="-120"/>
              </a:rPr>
              <a:t>MANOS A LA OBRA</a:t>
            </a:r>
            <a:endParaRPr lang="en-US" sz="1300" dirty="0"/>
          </a:p>
        </p:txBody>
      </p:sp>
      <p:sp>
        <p:nvSpPr>
          <p:cNvPr id="3" name="Text 1"/>
          <p:cNvSpPr/>
          <p:nvPr/>
        </p:nvSpPr>
        <p:spPr>
          <a:xfrm>
            <a:off x="548640" y="658368"/>
            <a:ext cx="11064240" cy="777240"/>
          </a:xfrm>
          <a:prstGeom prst="rect">
            <a:avLst/>
          </a:prstGeom>
          <a:noFill/>
          <a:ln/>
        </p:spPr>
        <p:txBody>
          <a:bodyPr wrap="square" lIns="0" tIns="0" rIns="0" bIns="0" rtlCol="0" anchor="t"/>
          <a:lstStyle/>
          <a:p>
            <a:pPr indent="0" marL="0">
              <a:buNone/>
            </a:pPr>
            <a:r>
              <a:rPr lang="en-US" sz="3000" b="1" dirty="0">
                <a:solidFill>
                  <a:srgbClr val="1E293B"/>
                </a:solidFill>
                <a:latin typeface="Cambria" pitchFamily="34" charset="0"/>
                <a:ea typeface="Cambria" pitchFamily="34" charset="-122"/>
                <a:cs typeface="Cambria" pitchFamily="34" charset="-120"/>
              </a:rPr>
              <a:t>Guion de la demostración en vivo</a:t>
            </a:r>
            <a:endParaRPr lang="en-US" sz="3000" dirty="0"/>
          </a:p>
        </p:txBody>
      </p:sp>
      <p:sp>
        <p:nvSpPr>
          <p:cNvPr id="4" name="Shape 2"/>
          <p:cNvSpPr/>
          <p:nvPr/>
        </p:nvSpPr>
        <p:spPr>
          <a:xfrm>
            <a:off x="548640" y="1691640"/>
            <a:ext cx="11064240" cy="4526280"/>
          </a:xfrm>
          <a:prstGeom prst="roundRect">
            <a:avLst>
              <a:gd name="adj" fmla="val 1616"/>
            </a:avLst>
          </a:prstGeom>
          <a:solidFill>
            <a:srgbClr val="F0FDFA"/>
          </a:solidFill>
          <a:ln/>
          <a:effectLst>
            <a:outerShdw sx="100000" sy="100000" kx="0" ky="0" algn="bl" rotWithShape="0" blurRad="101600" dist="38100" dir="5400000">
              <a:srgbClr val="000000">
                <a:alpha val="12000"/>
              </a:srgbClr>
            </a:outerShdw>
          </a:effectLst>
        </p:spPr>
      </p:sp>
      <p:sp>
        <p:nvSpPr>
          <p:cNvPr id="5" name="Shape 3"/>
          <p:cNvSpPr/>
          <p:nvPr/>
        </p:nvSpPr>
        <p:spPr>
          <a:xfrm>
            <a:off x="868680" y="2011680"/>
            <a:ext cx="457200" cy="457200"/>
          </a:xfrm>
          <a:prstGeom prst="ellipse">
            <a:avLst/>
          </a:prstGeom>
          <a:solidFill>
            <a:srgbClr val="0D9488"/>
          </a:solidFill>
          <a:ln/>
        </p:spPr>
      </p:sp>
      <p:sp>
        <p:nvSpPr>
          <p:cNvPr id="6" name="Text 4"/>
          <p:cNvSpPr/>
          <p:nvPr/>
        </p:nvSpPr>
        <p:spPr>
          <a:xfrm>
            <a:off x="868680" y="20116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1508760" y="2011680"/>
            <a:ext cx="9692640" cy="457200"/>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Ingresar con admin / admin123 y abrir el Dashboard</a:t>
            </a:r>
            <a:endParaRPr lang="en-US" sz="1600" dirty="0"/>
          </a:p>
        </p:txBody>
      </p:sp>
      <p:sp>
        <p:nvSpPr>
          <p:cNvPr id="8" name="Shape 6"/>
          <p:cNvSpPr/>
          <p:nvPr/>
        </p:nvSpPr>
        <p:spPr>
          <a:xfrm>
            <a:off x="868680" y="2596896"/>
            <a:ext cx="457200" cy="457200"/>
          </a:xfrm>
          <a:prstGeom prst="ellipse">
            <a:avLst/>
          </a:prstGeom>
          <a:solidFill>
            <a:srgbClr val="0D9488"/>
          </a:solidFill>
          <a:ln/>
        </p:spPr>
      </p:sp>
      <p:sp>
        <p:nvSpPr>
          <p:cNvPr id="9" name="Text 7"/>
          <p:cNvSpPr/>
          <p:nvPr/>
        </p:nvSpPr>
        <p:spPr>
          <a:xfrm>
            <a:off x="868680" y="259689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0" name="Text 8"/>
          <p:cNvSpPr/>
          <p:nvPr/>
        </p:nvSpPr>
        <p:spPr>
          <a:xfrm>
            <a:off x="1508760" y="2596896"/>
            <a:ext cx="9692640" cy="457200"/>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Emitir una boleta o factura en 'Nueva Venta'</a:t>
            </a:r>
            <a:endParaRPr lang="en-US" sz="1600" dirty="0"/>
          </a:p>
        </p:txBody>
      </p:sp>
      <p:sp>
        <p:nvSpPr>
          <p:cNvPr id="11" name="Shape 9"/>
          <p:cNvSpPr/>
          <p:nvPr/>
        </p:nvSpPr>
        <p:spPr>
          <a:xfrm>
            <a:off x="868680" y="3182112"/>
            <a:ext cx="457200" cy="457200"/>
          </a:xfrm>
          <a:prstGeom prst="ellipse">
            <a:avLst/>
          </a:prstGeom>
          <a:solidFill>
            <a:srgbClr val="0D9488"/>
          </a:solidFill>
          <a:ln/>
        </p:spPr>
      </p:sp>
      <p:sp>
        <p:nvSpPr>
          <p:cNvPr id="12" name="Text 10"/>
          <p:cNvSpPr/>
          <p:nvPr/>
        </p:nvSpPr>
        <p:spPr>
          <a:xfrm>
            <a:off x="868680" y="318211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3" name="Text 11"/>
          <p:cNvSpPr/>
          <p:nvPr/>
        </p:nvSpPr>
        <p:spPr>
          <a:xfrm>
            <a:off x="1508760" y="3182112"/>
            <a:ext cx="9692640" cy="457200"/>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En el listado, botón 'Nota C/D' → elegir motivo → generar la nota</a:t>
            </a:r>
            <a:endParaRPr lang="en-US" sz="1600" dirty="0"/>
          </a:p>
        </p:txBody>
      </p:sp>
      <p:sp>
        <p:nvSpPr>
          <p:cNvPr id="14" name="Shape 12"/>
          <p:cNvSpPr/>
          <p:nvPr/>
        </p:nvSpPr>
        <p:spPr>
          <a:xfrm>
            <a:off x="868680" y="3767328"/>
            <a:ext cx="457200" cy="457200"/>
          </a:xfrm>
          <a:prstGeom prst="ellipse">
            <a:avLst/>
          </a:prstGeom>
          <a:solidFill>
            <a:srgbClr val="0D9488"/>
          </a:solidFill>
          <a:ln/>
        </p:spPr>
      </p:sp>
      <p:sp>
        <p:nvSpPr>
          <p:cNvPr id="15" name="Text 13"/>
          <p:cNvSpPr/>
          <p:nvPr/>
        </p:nvSpPr>
        <p:spPr>
          <a:xfrm>
            <a:off x="868680" y="376732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6" name="Text 14"/>
          <p:cNvSpPr/>
          <p:nvPr/>
        </p:nvSpPr>
        <p:spPr>
          <a:xfrm>
            <a:off x="1508760" y="3767328"/>
            <a:ext cx="9692640" cy="457200"/>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Imprimir la nota: ver el QR y el documento afectado</a:t>
            </a:r>
            <a:endParaRPr lang="en-US" sz="1600" dirty="0"/>
          </a:p>
        </p:txBody>
      </p:sp>
      <p:sp>
        <p:nvSpPr>
          <p:cNvPr id="17" name="Shape 15"/>
          <p:cNvSpPr/>
          <p:nvPr/>
        </p:nvSpPr>
        <p:spPr>
          <a:xfrm>
            <a:off x="868680" y="4352544"/>
            <a:ext cx="457200" cy="457200"/>
          </a:xfrm>
          <a:prstGeom prst="ellipse">
            <a:avLst/>
          </a:prstGeom>
          <a:solidFill>
            <a:srgbClr val="0D9488"/>
          </a:solidFill>
          <a:ln/>
        </p:spPr>
      </p:sp>
      <p:sp>
        <p:nvSpPr>
          <p:cNvPr id="18" name="Text 16"/>
          <p:cNvSpPr/>
          <p:nvPr/>
        </p:nvSpPr>
        <p:spPr>
          <a:xfrm>
            <a:off x="868680" y="435254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19" name="Text 17"/>
          <p:cNvSpPr/>
          <p:nvPr/>
        </p:nvSpPr>
        <p:spPr>
          <a:xfrm>
            <a:off x="1508760" y="4352544"/>
            <a:ext cx="9692640" cy="457200"/>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Modal 'Ver' → 'Actualizar estado SUNAT' (consulta por ticket)</a:t>
            </a:r>
            <a:endParaRPr lang="en-US" sz="1600" dirty="0"/>
          </a:p>
        </p:txBody>
      </p:sp>
      <p:sp>
        <p:nvSpPr>
          <p:cNvPr id="20" name="Shape 18"/>
          <p:cNvSpPr/>
          <p:nvPr/>
        </p:nvSpPr>
        <p:spPr>
          <a:xfrm>
            <a:off x="868680" y="4937760"/>
            <a:ext cx="457200" cy="457200"/>
          </a:xfrm>
          <a:prstGeom prst="ellipse">
            <a:avLst/>
          </a:prstGeom>
          <a:solidFill>
            <a:srgbClr val="0D9488"/>
          </a:solidFill>
          <a:ln/>
        </p:spPr>
      </p:sp>
      <p:sp>
        <p:nvSpPr>
          <p:cNvPr id="21" name="Text 19"/>
          <p:cNvSpPr/>
          <p:nvPr/>
        </p:nvSpPr>
        <p:spPr>
          <a:xfrm>
            <a:off x="868680" y="49377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22" name="Text 20"/>
          <p:cNvSpPr/>
          <p:nvPr/>
        </p:nvSpPr>
        <p:spPr>
          <a:xfrm>
            <a:off x="1508760" y="4937760"/>
            <a:ext cx="9692640" cy="457200"/>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Resúmenes → cargar boletas del día y enviar el resumen</a:t>
            </a:r>
            <a:endParaRPr lang="en-US" sz="1600" dirty="0"/>
          </a:p>
        </p:txBody>
      </p:sp>
      <p:sp>
        <p:nvSpPr>
          <p:cNvPr id="23" name="Shape 21"/>
          <p:cNvSpPr/>
          <p:nvPr/>
        </p:nvSpPr>
        <p:spPr>
          <a:xfrm>
            <a:off x="868680" y="5522976"/>
            <a:ext cx="457200" cy="457200"/>
          </a:xfrm>
          <a:prstGeom prst="ellipse">
            <a:avLst/>
          </a:prstGeom>
          <a:solidFill>
            <a:srgbClr val="0D9488"/>
          </a:solidFill>
          <a:ln/>
        </p:spPr>
      </p:sp>
      <p:sp>
        <p:nvSpPr>
          <p:cNvPr id="24" name="Text 22"/>
          <p:cNvSpPr/>
          <p:nvPr/>
        </p:nvSpPr>
        <p:spPr>
          <a:xfrm>
            <a:off x="868680" y="552297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7</a:t>
            </a:r>
            <a:endParaRPr lang="en-US" sz="1600" dirty="0"/>
          </a:p>
        </p:txBody>
      </p:sp>
      <p:sp>
        <p:nvSpPr>
          <p:cNvPr id="25" name="Text 23"/>
          <p:cNvSpPr/>
          <p:nvPr/>
        </p:nvSpPr>
        <p:spPr>
          <a:xfrm>
            <a:off x="1508760" y="5522976"/>
            <a:ext cx="9692640" cy="457200"/>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Anular una factura/nota → comunicación de baja</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E2A2E"/>
        </a:solidFill>
      </p:bgPr>
    </p:bg>
    <p:spTree>
      <p:nvGrpSpPr>
        <p:cNvPr id="1" name=""/>
        <p:cNvGrpSpPr/>
        <p:nvPr/>
      </p:nvGrpSpPr>
      <p:grpSpPr>
        <a:xfrm>
          <a:off x="0" y="0"/>
          <a:ext cx="0" cy="0"/>
          <a:chOff x="0" y="0"/>
          <a:chExt cx="0" cy="0"/>
        </a:xfrm>
      </p:grpSpPr>
      <p:sp>
        <p:nvSpPr>
          <p:cNvPr id="2" name="Shape 0"/>
          <p:cNvSpPr/>
          <p:nvPr/>
        </p:nvSpPr>
        <p:spPr>
          <a:xfrm>
            <a:off x="-1463040" y="4297680"/>
            <a:ext cx="4023360" cy="4023360"/>
          </a:xfrm>
          <a:prstGeom prst="ellipse">
            <a:avLst/>
          </a:prstGeom>
          <a:solidFill>
            <a:srgbClr val="0D9488">
              <a:alpha val="25000"/>
            </a:srgbClr>
          </a:solidFill>
          <a:ln/>
        </p:spPr>
      </p:sp>
      <p:sp>
        <p:nvSpPr>
          <p:cNvPr id="3" name="Shape 1"/>
          <p:cNvSpPr/>
          <p:nvPr/>
        </p:nvSpPr>
        <p:spPr>
          <a:xfrm>
            <a:off x="10424160" y="-1280160"/>
            <a:ext cx="3291840" cy="3291840"/>
          </a:xfrm>
          <a:prstGeom prst="ellipse">
            <a:avLst/>
          </a:prstGeom>
          <a:solidFill>
            <a:srgbClr val="14B8A6">
              <a:alpha val="20000"/>
            </a:srgbClr>
          </a:solidFill>
          <a:ln/>
        </p:spPr>
      </p:sp>
      <p:sp>
        <p:nvSpPr>
          <p:cNvPr id="4" name="Text 2"/>
          <p:cNvSpPr/>
          <p:nvPr/>
        </p:nvSpPr>
        <p:spPr>
          <a:xfrm>
            <a:off x="548640" y="1554480"/>
            <a:ext cx="10058400" cy="365760"/>
          </a:xfrm>
          <a:prstGeom prst="rect">
            <a:avLst/>
          </a:prstGeom>
          <a:noFill/>
          <a:ln/>
        </p:spPr>
        <p:txBody>
          <a:bodyPr wrap="square" lIns="0" tIns="0" rIns="0" bIns="0" rtlCol="0" anchor="ctr"/>
          <a:lstStyle/>
          <a:p>
            <a:pPr indent="0" marL="0">
              <a:buNone/>
            </a:pPr>
            <a:r>
              <a:rPr lang="en-US" sz="1500" b="1" spc="300" kern="0" dirty="0">
                <a:solidFill>
                  <a:srgbClr val="5EEAD4"/>
                </a:solidFill>
                <a:latin typeface="Calibri" pitchFamily="34" charset="0"/>
                <a:ea typeface="Calibri" pitchFamily="34" charset="-122"/>
                <a:cs typeface="Calibri" pitchFamily="34" charset="-120"/>
              </a:rPr>
              <a:t>Para cerrar</a:t>
            </a:r>
            <a:endParaRPr lang="en-US" sz="1500" dirty="0"/>
          </a:p>
        </p:txBody>
      </p:sp>
      <p:sp>
        <p:nvSpPr>
          <p:cNvPr id="5" name="Text 3"/>
          <p:cNvSpPr/>
          <p:nvPr/>
        </p:nvSpPr>
        <p:spPr>
          <a:xfrm>
            <a:off x="548640" y="1965960"/>
            <a:ext cx="10789920" cy="11887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Ya saben emitir TODO el ciclo de comprobantes</a:t>
            </a:r>
            <a:endParaRPr lang="en-US" sz="3600" dirty="0"/>
          </a:p>
        </p:txBody>
      </p:sp>
      <p:sp>
        <p:nvSpPr>
          <p:cNvPr id="6" name="Text 4"/>
          <p:cNvSpPr/>
          <p:nvPr/>
        </p:nvSpPr>
        <p:spPr>
          <a:xfrm>
            <a:off x="548640" y="3291840"/>
            <a:ext cx="10789920" cy="731520"/>
          </a:xfrm>
          <a:prstGeom prst="rect">
            <a:avLst/>
          </a:prstGeom>
          <a:noFill/>
          <a:ln/>
        </p:spPr>
        <p:txBody>
          <a:bodyPr wrap="square" lIns="0" tIns="0" rIns="0" bIns="0" rtlCol="0" anchor="t"/>
          <a:lstStyle/>
          <a:p>
            <a:pPr indent="0" marL="0">
              <a:buNone/>
            </a:pPr>
            <a:r>
              <a:rPr lang="en-US" sz="1700" dirty="0">
                <a:solidFill>
                  <a:srgbClr val="5EEAD4"/>
                </a:solidFill>
                <a:latin typeface="Calibri" pitchFamily="34" charset="0"/>
                <a:ea typeface="Calibri" pitchFamily="34" charset="-122"/>
                <a:cs typeface="Calibri" pitchFamily="34" charset="-120"/>
              </a:rPr>
              <a:t>Boleta y factura · Notas de crédito y débito · Baja · Resumen diario · Consulta de estado · QR</a:t>
            </a:r>
            <a:endParaRPr lang="en-US" sz="1700" dirty="0"/>
          </a:p>
        </p:txBody>
      </p:sp>
      <p:sp>
        <p:nvSpPr>
          <p:cNvPr id="7" name="Text 5"/>
          <p:cNvSpPr/>
          <p:nvPr/>
        </p:nvSpPr>
        <p:spPr>
          <a:xfrm>
            <a:off x="548640" y="4297680"/>
            <a:ext cx="10789920" cy="82296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Lo único pendiente para envío real: </a:t>
            </a:r>
            <a:pPr indent="0" marL="0">
              <a:buNone/>
            </a:pPr>
            <a:r>
              <a:rPr lang="en-US" sz="1500" dirty="0">
                <a:solidFill>
                  <a:srgbClr val="B8C7C9"/>
                </a:solidFill>
                <a:latin typeface="Calibri" pitchFamily="34" charset="0"/>
                <a:ea typeface="Calibri" pitchFamily="34" charset="-122"/>
                <a:cs typeface="Calibri" pitchFamily="34" charset="-120"/>
              </a:rPr>
              <a:t>confirmar los endpoints de notas/baja/resumen en facturalahoy (marcados // AJUSTAR).</a:t>
            </a:r>
            <a:endParaRPr lang="en-US" sz="1500" dirty="0"/>
          </a:p>
        </p:txBody>
      </p:sp>
      <p:sp>
        <p:nvSpPr>
          <p:cNvPr id="8" name="Text 6"/>
          <p:cNvSpPr/>
          <p:nvPr/>
        </p:nvSpPr>
        <p:spPr>
          <a:xfrm>
            <a:off x="548640" y="5394960"/>
            <a:ext cx="10058400" cy="640080"/>
          </a:xfrm>
          <a:prstGeom prst="rect">
            <a:avLst/>
          </a:prstGeom>
          <a:noFill/>
          <a:ln/>
        </p:spPr>
        <p:txBody>
          <a:bodyPr wrap="square" lIns="0" tIns="0" rIns="0" bIns="0" rtlCol="0" anchor="ctr"/>
          <a:lstStyle/>
          <a:p>
            <a:pPr indent="0" marL="0">
              <a:buNone/>
            </a:pPr>
            <a:r>
              <a:rPr lang="en-US" sz="2800" b="1" dirty="0">
                <a:solidFill>
                  <a:srgbClr val="5EEAD4"/>
                </a:solidFill>
                <a:latin typeface="Cambria" pitchFamily="34" charset="0"/>
                <a:ea typeface="Cambria" pitchFamily="34" charset="-122"/>
                <a:cs typeface="Cambria" pitchFamily="34" charset="-120"/>
              </a:rPr>
              <a:t>¿Preguntas?</a:t>
            </a:r>
            <a:endParaRPr lang="en-US" sz="2800" dirty="0"/>
          </a:p>
        </p:txBody>
      </p:sp>
      <p:sp>
        <p:nvSpPr>
          <p:cNvPr id="9" name="Text 7"/>
          <p:cNvSpPr/>
          <p:nvPr/>
        </p:nvSpPr>
        <p:spPr>
          <a:xfrm>
            <a:off x="548640" y="6263640"/>
            <a:ext cx="10058400" cy="365760"/>
          </a:xfrm>
          <a:prstGeom prst="rect">
            <a:avLst/>
          </a:prstGeom>
          <a:noFill/>
          <a:ln/>
        </p:spPr>
        <p:txBody>
          <a:bodyPr wrap="square" lIns="0" tIns="0" rIns="0" bIns="0" rtlCol="0" anchor="ctr"/>
          <a:lstStyle/>
          <a:p>
            <a:pPr indent="0" marL="0">
              <a:buNone/>
            </a:pPr>
            <a:r>
              <a:rPr lang="en-US" sz="1300" i="1" dirty="0">
                <a:solidFill>
                  <a:srgbClr val="9AE6D6"/>
                </a:solidFill>
                <a:latin typeface="Calibri" pitchFamily="34" charset="0"/>
                <a:ea typeface="Calibri" pitchFamily="34" charset="-122"/>
                <a:cs typeface="Calibri" pitchFamily="34" charset="-120"/>
              </a:rPr>
              <a:t>CETI · Facturación Electrónica con PHP</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Facturación Electrónica con PHP — Clase Final</dc:title>
  <dc:subject>PptxGenJS Presentation</dc:subject>
  <dc:creator>CETI</dc:creator>
  <cp:lastModifiedBy>CETI</cp:lastModifiedBy>
  <cp:revision>1</cp:revision>
  <dcterms:created xsi:type="dcterms:W3CDTF">2026-06-24T16:10:07Z</dcterms:created>
  <dcterms:modified xsi:type="dcterms:W3CDTF">2026-06-24T16:10:07Z</dcterms:modified>
</cp:coreProperties>
</file>